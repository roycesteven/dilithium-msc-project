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5"/>
  </p:notesMasterIdLst>
  <p:handoutMasterIdLst>
    <p:handoutMasterId r:id="rId6"/>
  </p:handoutMasterIdLst>
  <p:sldIdLst>
    <p:sldId id="256" r:id="rId4"/>
    <p:sldId id="257" r:id="rId3"/>
    <p:sldId id="258" r:id="rId11"/>
    <p:sldId id="259" r:id="rId12"/>
    <p:sldId id="260" r:id="rId13"/>
    <p:sldId id="261" r:id="rId14"/>
    <p:sldId id="262" r:id="rId15"/>
    <p:sldId id="263" r:id="rId16"/>
    <p:sldId id="264" r:id="rId17"/>
    <p:sldId id="265"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800A2"/>
    <a:srgbClr val="FDEADA"/>
    <a:srgbClr val="C00000"/>
    <a:srgbClr val="E6B9B8"/>
    <a:srgbClr val="4F81B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3326" autoAdjust="0"/>
  </p:normalViewPr>
  <p:slideViewPr>
    <p:cSldViewPr>
      <p:cViewPr varScale="1">
        <p:scale>
          <a:sx n="103" d="100"/>
          <a:sy n="103" d="100"/>
        </p:scale>
        <p:origin x="312" y="60"/>
      </p:cViewPr>
      <p:guideLst>
        <p:guide orient="horz" pos="2160"/>
        <p:guide pos="3840"/>
      </p:guideLst>
    </p:cSldViewPr>
  </p:slideViewPr>
  <p:notesTextViewPr>
    <p:cViewPr>
      <p:scale>
        <a:sx n="100" d="100"/>
        <a:sy n="100" d="100"/>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2.xml"/><Relationship Id="rId4" Type="http://schemas.openxmlformats.org/officeDocument/2006/relationships/slide" Target="slides/slide1.xml"/><Relationship Id="rId5" Type="http://schemas.openxmlformats.org/officeDocument/2006/relationships/notesMaster" Target="notesMasters/notesMaster1.xml"/><Relationship Id="rId6" Type="http://schemas.openxmlformats.org/officeDocument/2006/relationships/handoutMaster" Target="handoutMasters/handout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0A39D220-9986-1645-993A-1DADAE0CC8D4}" type="datetimeFigureOut">
              <a:rPr lang="en-US" smtClean="0"/>
              <a:t>8/19/2026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45B78E09-E4CC-E646-A8E2-42364C70E50F}" type="slidenum">
              <a:rPr lang="en-US" smtClean="0"/>
              <a:t>‹#›</a:t>
            </a:fld>
            <a:endParaRPr lang="en-US"/>
          </a:p>
        </p:txBody>
      </p:sp>
    </p:spTree>
    <p:extLst>
      <p:ext uri="{BB962C8B-B14F-4D97-AF65-F5344CB8AC3E}">
        <p14:creationId xmlns:p14="http://schemas.microsoft.com/office/powerpoint/2010/main" val="3065875630"/>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1299CDA-54DB-42F8-BC0E-B5BB74442020}" type="datetimeFigureOut">
              <a:rPr lang="en-US" smtClean="0"/>
              <a:pPr/>
              <a:t>8/19/2026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3218C0E-EBC0-4363-B866-4FBE8A16C4C0}" type="slidenum">
              <a:rPr lang="en-US" smtClean="0"/>
              <a:pPr/>
              <a:t>‹#›</a:t>
            </a:fld>
            <a:endParaRPr lang="en-US"/>
          </a:p>
        </p:txBody>
      </p:sp>
    </p:spTree>
    <p:extLst>
      <p:ext uri="{BB962C8B-B14F-4D97-AF65-F5344CB8AC3E}">
        <p14:creationId xmlns:p14="http://schemas.microsoft.com/office/powerpoint/2010/main" val="3712796199"/>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[planned 0:12]  Title</a:t>
            </a:r>
          </a:p>
          <a:p>
            <a:r>
              <a:t>Post-quantum secure exotic signature schemes in blockchains. I implemented LAS, a lattice-based adaptor signature, on top of the CRYSTALS-Dilithium reference implementation, and measured what it actually costs — as a standalone signature, and inside a working cross-chain atomic swap.</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[planned 0:42]  Why this matters</a:t>
            </a:r>
          </a:p>
          <a:p>
            <a:r>
              <a:t>Start with what this is for. Two people want to trade assets across two blockchains, with no centralised exchange or trusted intermediary. An ATOMIC SWAP makes that safe: either both transfers happen or neither does. The same primitive also underpins payment channels, one way blockchain payments can scale. What makes it work is an ADAPTOR SIGNATURE: only the party holding a secret can complete the first payment, and publishing it necessarily reveals that secret — which is what releases the other leg. The adaptor signatures in use on chains today are elliptic-curve, and Shor's algorithm breaks the assumption they rest on. NIST has standardised post-quantum replacements, but only BASIC signatures — ones that authenticate a message and nothing more. Coverage of the exotic schemes is uneven: multi-signatures are actively being built, and that unevenness is the gap this project addresses for the adaptor case. So the questions this talk answers are: can we build one, what does it cost, and will a real chain take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[planned 0:40]  What an adaptor signature does</a:t>
            </a:r>
          </a:p>
          <a:p>
            <a:r>
              <a:t>Here is the whole mechanism in four steps. One: PreSign produces a pre-signature that verifies against a statement Y, but is NOT a valid signature — you cannot spend with it. Two: anyone who knows the secret witness for Y can Adapt it into an ordinary signature. Three: that signature gets published on chain, and it looks exactly like a normal payment — no script, nothing unusual. Four — and this is the trick — the counterparty subtracts the pre-signature it already holds from the published signature, and out falls the witness. Publishing to claim one leg is what unlocks the other. Either both legs settle, or neither does.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[planned 0:40]  The method</a:t>
            </a:r>
          </a:p>
          <a:p>
            <a:r>
              <a:t>So how do you turn a basic signature into an adaptor signature? This is the whole method in one picture. At the bottom, the CRYSTALS-Dilithium reference primitives — the number-theoretic transform, polynomial arithmetic, SHAKE, sampling — reused with ZERO upstream functions modified, and a two-branch diff makes that auditable rather than something I assert. On top of that sits the simplified base signature. On top of THAT sit the four functions LAS adds. And on the right is the one change that makes the difference: the base signature hashes the commitment w to get its challenge, while PreSign hashes w PLUS the statement Y. That single substitution is what binds the signature to a secret, and everything else — the tripwire that stops a pre-signature being spent, the adaptation, the witness falling out on publication — follows from it. Then I built the whole thing a second time, independently, in Rust, and the two agree byte for byte on a pinned known-answer digest.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[planned 0:45]  DEMO A — walking the swap</a:t>
            </a:r>
          </a:p>
          <a:p>
            <a:r>
              <a:t>Rather than describe the protocol, let me walk it. The exchange has already happened here: Alice sent the statement, the proof and its pre-signature, Bob checked both and sent its own back. Watch four things. One, the abort gate — Bob committed nothing until both the proof and Alice's pre-signature verified, and at this instant neither pre-signature is spendable by anyone; nobody has risked a coin. Two, the tripwire: Bob holds Alice's pre-signature and tries to spend it — ordinary verification refuses it, because a pre-signature is not a signature. That is the property the whole construction rests on. Three, Alice knows the witness, so it completes Bob's pre-signature and publishes; on chain that is an ordinary payment, with no script and no hash lock. And four, the leak — and note that Bob needs nothing further from Alice here. It reads the published signature off chain two, combines it with the statement and the pre-signature it made itself, and the witness falls out; it then uses that extracted value to complete Alice's pre-signature and publishes, taking the other coin. Publishing to claim one leg is what unlocks the other: either both settle or neither does.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[planned 0:48]  Cost in time</a:t>
            </a:r>
          </a:p>
          <a:p>
            <a:r>
              <a:t>First question answered: what does the adaptor layer cost? The comparison is LAS against its own base signature at identical algorithm, parameters and primitives, so the only thing varying is the adaptor layer, and every adaptor operation is paired with the basic one it mirrors. The answer is single digits — PreSign 6.6 percent over Sign, PreVerify 4.0, Adapt 6.9, and Extract, which has no basic analogue, is cheapest. One methodological point: the rejection rate is COUNTED, never inferred from a timing ratio — inferring it gave a materially wrong number early on, so every run now aborts unless the count matches theory within five standard errors. But then I measured a whole swap on a UTXO ledger, and the signature turns out not to be the bottleneck at all. The zero-knowledge proof consumes 98.6 percent of it. In the controlled comparison — same signature, same relation, only the prover changes — the post-quantum prover is actually 53.1 percent FASTER end to end while being 61.9 percent larger.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[planned 0:38]  Cost in bytes</a:t>
            </a:r>
          </a:p>
          <a:p>
            <a:r>
              <a:t>Second result, and it is the sharp one. The price of post-quantum here is not computation, it is communication. Against a classical ECDSA adaptor signature at comparable dimensions, the LAS signature is about 72 times larger and the public key about 89 times larger — while every operation still runs in well under a millisecond. And the signature is almost entirely one object: the response vector z is 99.3 percent of it, because the challenge travels only as a short digest. On top of that, an adaptor swap transmits one extra public object a basic signature does not — the statement Y, which is public-key sized. So any optimisation of LAS is an optimisation of z and 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[planned 0:45]  DEMO B — a real Bitcoin client</a:t>
            </a:r>
          </a:p>
          <a:p>
            <a:r>
              <a:t>Second demonstration, and this is the part the report can only describe. One LAS settlement transaction weighs 11,537 weight units — about 2.9 percent of the 400,000 weight-unit standardness ceiling — so it fits that size limit with room to spare. Fitting a size ceiling is not the same as being relayed, and neither is the same as being verified, so I put it to a real client in two stages. First, carriage: on a stock Bitcoin Core v31.1 node the spend is refused by default relay policy — its witness chunks are nonstandard — yet it is consensus-valid and gets mined. Second, verification: I defined one of the reserved OP_SUCCESS opcodes as a lattice verification opcode, and a spend carrying NO elliptic-curve signature at all was accepted and mined. On that patched client I then settled a whole two-leg swap across two separate chains — pre-sign both legs, adapt and mine the first, read the adapted signature back out of the mined transaction, recover the secret from it with Extract, and use that to adapt and settle the second leg on the other chain. Now the control, which is what makes that meaningful. A stock node of the same release still treats that opcode as OP_SUCCESS, so it accepts every one of these variants regardless of the signature — it cannot be reacting to the signature at all: 9 negative controls — a changed amount, a changed recipient, a foreign signature — are refused by the patched node and accepted by the stock one. The difference between those two columns is the new rule and nothing else. And the honest caveat: a patched node is not Bitcoin, and I have not analysed the security of the rule I added.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[planned 0:45]  What I got wrong</a:t>
            </a:r>
          </a:p>
          <a:p>
            <a:r>
              <a:t>Third question: will a real chain take it? Here I want to be straight about the things I got wrong, because each was corrected by measurement rather than argument. I believed local optimisation could not bring on-chain verification under the per-transaction gas limit — that was asserted, not measured, and re-expressing the same predicate closed it: a real client mined a whole claim — full verification plus the escrow release — at 97.8 percent of the cap at Dilithium-3, and one set down, verification on its own is charged at 65 percent. I believed the base signature had to be simplified for the adaptor to work — building it a third time on the full FIPS 204 ML-DSA path showed PreSign and PreVerify are genuinely new algorithms, but Verify is not: the stock verifier accepts the adapted signature. And three optimisations I could have left as future-work suggestions were implemented and closed instead — compressing the statement is invisible to the adaptor and fatal at Extract, batching amortises the wrong cost, and an optimistic verifier leaves a fraud proof that cannot be mined. An untested suggestion costs nothing to write and tells a reader nothing.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[planned 0:40]  Answering the questions</a:t>
            </a:r>
          </a:p>
          <a:p>
            <a:r>
              <a:t>Back to the three questions I opened with. Can we build one? Yes — a working, tested, end-to-end lattice adaptor signature, built by reuse of standardised primitives with zero upstream functions modified, and reproduced independently in a second language down to a pinned byte-for-byte digest. What does it cost? Almost nothing in adaptor computation — at most 8.3 percent at the core boundary. The bill arrives in bytes, and at the application level it is the proof, not the signature, that dominates. Will a real chain take it? On Ethereum, yes: a real client mined full verification inside one transaction. On Bitcoin, not as it stands — carriage works on a stock node, but verification needs a new consensus rule; I patched one, and settled a whole two-leg swap on it. What stays open is specific: a hard relation whose statement is small by construction, a proof system succinct at THIS scale rather than asymptotically, and the security analysis of both the ML-DSA variant and the consensus rule.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23392" y="2132857"/>
            <a:ext cx="10363200" cy="1470025"/>
          </a:xfrm>
        </p:spPr>
        <p:txBody>
          <a:bodyPr>
            <a:normAutofit/>
          </a:bodyPr>
          <a:lstStyle>
            <a:lvl1pPr>
              <a:defRPr sz="2800" b="1">
                <a:solidFill>
                  <a:schemeClr val="tx1">
                    <a:lumMod val="65000"/>
                    <a:lumOff val="3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623392" y="3933056"/>
            <a:ext cx="8534400" cy="1752600"/>
          </a:xfrm>
        </p:spPr>
        <p:txBody>
          <a:bodyPr>
            <a:normAutofit/>
          </a:bodyPr>
          <a:lstStyle>
            <a:lvl1pPr marL="0" indent="0" algn="l">
              <a:buNone/>
              <a:defRPr sz="2400" b="1">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cxnSp>
        <p:nvCxnSpPr>
          <p:cNvPr id="9" name="Straight Connector 8">
            <a:extLst>
              <a:ext uri="{FF2B5EF4-FFF2-40B4-BE49-F238E27FC236}">
                <a16:creationId xmlns:a16="http://schemas.microsoft.com/office/drawing/2014/main" id="{8A0F80E9-55FA-4FA4-BF32-94E90AA83E10}"/>
              </a:ext>
            </a:extLst>
          </p:cNvPr>
          <p:cNvCxnSpPr>
            <a:cxnSpLocks noChangeShapeType="1"/>
          </p:cNvCxnSpPr>
          <p:nvPr userDrawn="1"/>
        </p:nvCxnSpPr>
        <p:spPr bwMode="auto">
          <a:xfrm>
            <a:off x="623392" y="3789040"/>
            <a:ext cx="9505056" cy="0"/>
          </a:xfrm>
          <a:prstGeom prst="line">
            <a:avLst/>
          </a:prstGeom>
          <a:noFill/>
          <a:ln w="25400">
            <a:solidFill>
              <a:srgbClr val="660066"/>
            </a:solidFill>
            <a:prstDash val="dot"/>
            <a:round/>
            <a:headEnd/>
            <a:tailEnd/>
          </a:ln>
          <a:effectLst>
            <a:outerShdw blurRad="63500" dist="20000" dir="5400000" rotWithShape="0">
              <a:srgbClr val="000000">
                <a:alpha val="37999"/>
              </a:srgbClr>
            </a:outerShdw>
          </a:effectLst>
          <a:extLst>
            <a:ext uri="{909E8E84-426E-40dd-AFC4-6F175D3DCCD1}">
              <a14:hiddenFill xmlns="" xmlns:a14="http://schemas.microsoft.com/office/drawing/2010/main">
                <a:noFill/>
              </a14:hiddenFill>
            </a:ext>
          </a:extLst>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lgn="l">
              <a:defRPr sz="3600"/>
            </a:lvl1pPr>
          </a:lstStyle>
          <a:p>
            <a:r>
              <a:rPr lang="en-US" dirty="0"/>
              <a:t>		Click to edit title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0370EF0-FDF0-4D03-AC50-8BC10C2D8C4A}" type="datetime1">
              <a:rPr lang="en-GB" smtClean="0"/>
              <a:t>19/08/2026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C51FE3-7623-4EAD-B2F3-330393A65E73}"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31B5FAE-E6BD-4BFD-865C-B9623812F52F}" type="datetime1">
              <a:rPr lang="en-GB" smtClean="0"/>
              <a:t>19/08/2026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C51FE3-7623-4EAD-B2F3-330393A65E73}"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8C0DB76-7E42-44B4-8EB4-449560A284C5}" type="datetime1">
              <a:rPr lang="en-GB" smtClean="0"/>
              <a:t>19/08/2026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7C51FE3-7623-4EAD-B2F3-330393A65E73}"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BDC2FB0-8BD2-4BBA-8178-4F4A4FB9BF89}" type="datetime1">
              <a:rPr lang="en-GB" smtClean="0"/>
              <a:t>19/08/2026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7C51FE3-7623-4EAD-B2F3-330393A65E73}"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55B59D0-C056-4946-829F-E8F2B2E5697E}" type="datetime1">
              <a:rPr lang="en-GB" smtClean="0"/>
              <a:t>19/08/2026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7C51FE3-7623-4EAD-B2F3-330393A65E73}"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320E726-2538-47C2-9779-0D56E55D6D89}" type="datetime1">
              <a:rPr lang="en-GB" smtClean="0"/>
              <a:t>19/08/2026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7C51FE3-7623-4EAD-B2F3-330393A65E73}"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4B7D396-5C50-45B6-85CC-579255B8BB3C}" type="datetime1">
              <a:rPr lang="en-GB" smtClean="0"/>
              <a:t>19/08/2026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7C51FE3-7623-4EAD-B2F3-330393A65E73}"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64E6F0F7-FF06-4AB5-AD78-4E3F86AA7864}" type="datetime1">
              <a:rPr lang="en-GB" smtClean="0"/>
              <a:t>19/08/2026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7C51FE3-7623-4EAD-B2F3-330393A65E73}"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6A4640B-83F0-4950-B5B2-251FABC93E11}" type="datetime1">
              <a:rPr lang="en-GB" smtClean="0"/>
              <a:t>19/08/2026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C51FE3-7623-4EAD-B2F3-330393A65E73}"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18BA85-62EA-453D-9121-87A4ACE19859}" type="datetime1">
              <a:rPr lang="en-GB" smtClean="0"/>
              <a:t>19/08/2026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C51FE3-7623-4EAD-B2F3-330393A65E73}"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and subtitle">
    <p:spTree>
      <p:nvGrpSpPr>
        <p:cNvPr id="1" name=""/>
        <p:cNvGrpSpPr/>
        <p:nvPr/>
      </p:nvGrpSpPr>
      <p:grpSpPr>
        <a:xfrm>
          <a:off x="0" y="0"/>
          <a:ext cx="0" cy="0"/>
          <a:chOff x="0" y="0"/>
          <a:chExt cx="0" cy="0"/>
        </a:xfrm>
      </p:grpSpPr>
      <p:sp>
        <p:nvSpPr>
          <p:cNvPr id="2" name="Title 1"/>
          <p:cNvSpPr>
            <a:spLocks noGrp="1"/>
          </p:cNvSpPr>
          <p:nvPr>
            <p:ph type="ctrTitle"/>
          </p:nvPr>
        </p:nvSpPr>
        <p:spPr>
          <a:xfrm>
            <a:off x="335360" y="1844826"/>
            <a:ext cx="11521280" cy="1470025"/>
          </a:xfrm>
        </p:spPr>
        <p:txBody>
          <a:bodyPr anchor="b">
            <a:normAutofit/>
          </a:bodyPr>
          <a:lstStyle>
            <a:lvl1pPr algn="l">
              <a:defRPr sz="3600">
                <a:solidFill>
                  <a:srgbClr val="9A1D2B"/>
                </a:solidFill>
                <a:latin typeface="+mj-lt"/>
                <a:cs typeface="Arial" pitchFamily="34" charset="0"/>
              </a:defRPr>
            </a:lvl1pPr>
          </a:lstStyle>
          <a:p>
            <a:r>
              <a:rPr lang="en-US" dirty="0"/>
              <a:t>Click to edit Master title style</a:t>
            </a:r>
            <a:endParaRPr lang="en-GB" dirty="0"/>
          </a:p>
        </p:txBody>
      </p:sp>
      <p:sp>
        <p:nvSpPr>
          <p:cNvPr id="3" name="Subtitle 2"/>
          <p:cNvSpPr>
            <a:spLocks noGrp="1"/>
          </p:cNvSpPr>
          <p:nvPr>
            <p:ph type="subTitle" idx="1"/>
          </p:nvPr>
        </p:nvSpPr>
        <p:spPr>
          <a:xfrm>
            <a:off x="335360" y="3356992"/>
            <a:ext cx="11521280" cy="1752600"/>
          </a:xfrm>
        </p:spPr>
        <p:txBody>
          <a:bodyPr/>
          <a:lstStyle>
            <a:lvl1pPr marL="0" indent="0" algn="l">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endParaRPr lang="en-GB" dirty="0"/>
          </a:p>
        </p:txBody>
      </p:sp>
      <p:sp>
        <p:nvSpPr>
          <p:cNvPr id="6" name="Footer Placeholder 4"/>
          <p:cNvSpPr>
            <a:spLocks noGrp="1"/>
          </p:cNvSpPr>
          <p:nvPr>
            <p:ph type="ftr" sz="quarter" idx="3"/>
          </p:nvPr>
        </p:nvSpPr>
        <p:spPr>
          <a:xfrm>
            <a:off x="335361" y="6165304"/>
            <a:ext cx="2851911" cy="451156"/>
          </a:xfrm>
          <a:prstGeom prst="rect">
            <a:avLst/>
          </a:prstGeom>
        </p:spPr>
        <p:txBody>
          <a:bodyPr vert="horz" lIns="91440" tIns="45720" rIns="91440" bIns="45720" rtlCol="0" anchor="ctr"/>
          <a:lstStyle>
            <a:lvl1pPr algn="l" fontAlgn="auto">
              <a:spcBef>
                <a:spcPts val="0"/>
              </a:spcBef>
              <a:spcAft>
                <a:spcPts val="0"/>
              </a:spcAft>
              <a:defRPr sz="2000">
                <a:solidFill>
                  <a:schemeClr val="tx1"/>
                </a:solidFill>
                <a:latin typeface="Segoe UI Light" panose="020B0502040204020203" pitchFamily="34" charset="0"/>
                <a:cs typeface="CordiaUPC" panose="020B0304020202020204" pitchFamily="34" charset="-34"/>
              </a:defRPr>
            </a:lvl1pPr>
          </a:lstStyle>
          <a:p>
            <a:pPr>
              <a:defRPr/>
            </a:pPr>
            <a:endParaRPr lang="en-GB" dirty="0"/>
          </a:p>
        </p:txBody>
      </p:sp>
    </p:spTree>
    <p:extLst>
      <p:ext uri="{BB962C8B-B14F-4D97-AF65-F5344CB8AC3E}">
        <p14:creationId xmlns:p14="http://schemas.microsoft.com/office/powerpoint/2010/main" val="326883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35360" y="1196752"/>
            <a:ext cx="11521280" cy="576064"/>
          </a:xfrm>
        </p:spPr>
        <p:txBody>
          <a:bodyPr anchor="b">
            <a:normAutofit/>
          </a:bodyPr>
          <a:lstStyle>
            <a:lvl1pPr algn="l">
              <a:defRPr sz="3200">
                <a:solidFill>
                  <a:srgbClr val="9A1D2B"/>
                </a:solidFill>
                <a:latin typeface="+mj-lt"/>
                <a:cs typeface="Arial" pitchFamily="34" charset="0"/>
              </a:defRPr>
            </a:lvl1pPr>
          </a:lstStyle>
          <a:p>
            <a:r>
              <a:rPr lang="en-US" dirty="0"/>
              <a:t>Click to edit Master title style</a:t>
            </a:r>
            <a:endParaRPr lang="en-GB" dirty="0"/>
          </a:p>
        </p:txBody>
      </p:sp>
      <p:sp>
        <p:nvSpPr>
          <p:cNvPr id="3" name="Content Placeholder 2"/>
          <p:cNvSpPr>
            <a:spLocks noGrp="1"/>
          </p:cNvSpPr>
          <p:nvPr>
            <p:ph idx="1"/>
          </p:nvPr>
        </p:nvSpPr>
        <p:spPr>
          <a:xfrm>
            <a:off x="335360" y="1916833"/>
            <a:ext cx="11521280" cy="4209332"/>
          </a:xfrm>
        </p:spPr>
        <p:txBody>
          <a:bodyPr/>
          <a:lstStyle>
            <a:lvl5pPr>
              <a:buFont typeface="Arial" pitchFamily="34" charset="0"/>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Footer Placeholder 4"/>
          <p:cNvSpPr>
            <a:spLocks noGrp="1"/>
          </p:cNvSpPr>
          <p:nvPr>
            <p:ph type="ftr" sz="quarter" idx="3"/>
          </p:nvPr>
        </p:nvSpPr>
        <p:spPr>
          <a:xfrm>
            <a:off x="335361" y="6165304"/>
            <a:ext cx="2851911" cy="451156"/>
          </a:xfrm>
          <a:prstGeom prst="rect">
            <a:avLst/>
          </a:prstGeom>
        </p:spPr>
        <p:txBody>
          <a:bodyPr vert="horz" lIns="91440" tIns="45720" rIns="91440" bIns="45720" rtlCol="0" anchor="ctr"/>
          <a:lstStyle>
            <a:lvl1pPr algn="l" fontAlgn="auto">
              <a:spcBef>
                <a:spcPts val="0"/>
              </a:spcBef>
              <a:spcAft>
                <a:spcPts val="0"/>
              </a:spcAft>
              <a:defRPr sz="2000">
                <a:solidFill>
                  <a:schemeClr val="tx1"/>
                </a:solidFill>
                <a:latin typeface="Segoe UI Light" panose="020B0502040204020203" pitchFamily="34" charset="0"/>
                <a:cs typeface="CordiaUPC" panose="020B0304020202020204" pitchFamily="34" charset="-34"/>
              </a:defRPr>
            </a:lvl1pPr>
          </a:lstStyle>
          <a:p>
            <a:pPr>
              <a:defRPr/>
            </a:pPr>
            <a:endParaRPr lang="en-GB" dirty="0"/>
          </a:p>
        </p:txBody>
      </p:sp>
    </p:spTree>
    <p:extLst>
      <p:ext uri="{BB962C8B-B14F-4D97-AF65-F5344CB8AC3E}">
        <p14:creationId xmlns:p14="http://schemas.microsoft.com/office/powerpoint/2010/main" val="36002192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only">
    <p:spTree>
      <p:nvGrpSpPr>
        <p:cNvPr id="1" name=""/>
        <p:cNvGrpSpPr/>
        <p:nvPr/>
      </p:nvGrpSpPr>
      <p:grpSpPr>
        <a:xfrm>
          <a:off x="0" y="0"/>
          <a:ext cx="0" cy="0"/>
          <a:chOff x="0" y="0"/>
          <a:chExt cx="0" cy="0"/>
        </a:xfrm>
      </p:grpSpPr>
      <p:sp>
        <p:nvSpPr>
          <p:cNvPr id="3" name="Content Placeholder 2"/>
          <p:cNvSpPr>
            <a:spLocks noGrp="1"/>
          </p:cNvSpPr>
          <p:nvPr>
            <p:ph idx="1"/>
          </p:nvPr>
        </p:nvSpPr>
        <p:spPr>
          <a:xfrm>
            <a:off x="335360" y="1196753"/>
            <a:ext cx="11521280" cy="4929411"/>
          </a:xfrm>
        </p:spPr>
        <p:txBody>
          <a:bodyPr/>
          <a:lstStyle>
            <a:lvl5pPr>
              <a:buFont typeface="Arial" pitchFamily="34" charset="0"/>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Footer Placeholder 4"/>
          <p:cNvSpPr>
            <a:spLocks noGrp="1"/>
          </p:cNvSpPr>
          <p:nvPr>
            <p:ph type="ftr" sz="quarter" idx="3"/>
          </p:nvPr>
        </p:nvSpPr>
        <p:spPr>
          <a:xfrm>
            <a:off x="335361" y="6165304"/>
            <a:ext cx="2851911" cy="451156"/>
          </a:xfrm>
          <a:prstGeom prst="rect">
            <a:avLst/>
          </a:prstGeom>
        </p:spPr>
        <p:txBody>
          <a:bodyPr vert="horz" lIns="91440" tIns="45720" rIns="91440" bIns="45720" rtlCol="0" anchor="ctr"/>
          <a:lstStyle>
            <a:lvl1pPr algn="l" fontAlgn="auto">
              <a:spcBef>
                <a:spcPts val="0"/>
              </a:spcBef>
              <a:spcAft>
                <a:spcPts val="0"/>
              </a:spcAft>
              <a:defRPr sz="2000">
                <a:solidFill>
                  <a:schemeClr val="tx1"/>
                </a:solidFill>
                <a:latin typeface="Segoe UI Light" panose="020B0502040204020203" pitchFamily="34" charset="0"/>
                <a:cs typeface="CordiaUPC" panose="020B0304020202020204" pitchFamily="34" charset="-34"/>
              </a:defRPr>
            </a:lvl1pPr>
          </a:lstStyle>
          <a:p>
            <a:pPr>
              <a:defRPr/>
            </a:pPr>
            <a:endParaRPr lang="en-GB" dirty="0"/>
          </a:p>
        </p:txBody>
      </p:sp>
    </p:spTree>
    <p:extLst>
      <p:ext uri="{BB962C8B-B14F-4D97-AF65-F5344CB8AC3E}">
        <p14:creationId xmlns:p14="http://schemas.microsoft.com/office/powerpoint/2010/main" val="320454948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09600" y="1412778"/>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Content Placeholder 3"/>
          <p:cNvSpPr>
            <a:spLocks noGrp="1"/>
          </p:cNvSpPr>
          <p:nvPr>
            <p:ph sz="half" idx="2"/>
          </p:nvPr>
        </p:nvSpPr>
        <p:spPr>
          <a:xfrm>
            <a:off x="6197600" y="1412778"/>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7" name="Footer Placeholder 4"/>
          <p:cNvSpPr>
            <a:spLocks noGrp="1"/>
          </p:cNvSpPr>
          <p:nvPr>
            <p:ph type="ftr" sz="quarter" idx="3"/>
          </p:nvPr>
        </p:nvSpPr>
        <p:spPr>
          <a:xfrm>
            <a:off x="335361" y="6165304"/>
            <a:ext cx="2851911" cy="451156"/>
          </a:xfrm>
          <a:prstGeom prst="rect">
            <a:avLst/>
          </a:prstGeom>
        </p:spPr>
        <p:txBody>
          <a:bodyPr vert="horz" lIns="91440" tIns="45720" rIns="91440" bIns="45720" rtlCol="0" anchor="ctr"/>
          <a:lstStyle>
            <a:lvl1pPr algn="l" fontAlgn="auto">
              <a:spcBef>
                <a:spcPts val="0"/>
              </a:spcBef>
              <a:spcAft>
                <a:spcPts val="0"/>
              </a:spcAft>
              <a:defRPr sz="2000">
                <a:solidFill>
                  <a:schemeClr val="tx1"/>
                </a:solidFill>
                <a:latin typeface="Segoe UI Light" panose="020B0502040204020203" pitchFamily="34" charset="0"/>
                <a:cs typeface="CordiaUPC" panose="020B0304020202020204" pitchFamily="34" charset="-34"/>
              </a:defRPr>
            </a:lvl1pPr>
          </a:lstStyle>
          <a:p>
            <a:pPr>
              <a:defRPr/>
            </a:pPr>
            <a:endParaRPr lang="en-GB" dirty="0"/>
          </a:p>
        </p:txBody>
      </p:sp>
    </p:spTree>
    <p:extLst>
      <p:ext uri="{BB962C8B-B14F-4D97-AF65-F5344CB8AC3E}">
        <p14:creationId xmlns:p14="http://schemas.microsoft.com/office/powerpoint/2010/main" val="377373847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2389717" y="1268760"/>
            <a:ext cx="7315200" cy="4176464"/>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a:t>Click icon to add picture</a:t>
            </a:r>
            <a:endParaRPr lang="en-GB" noProof="0" dirty="0"/>
          </a:p>
        </p:txBody>
      </p:sp>
      <p:sp>
        <p:nvSpPr>
          <p:cNvPr id="4" name="Text Placeholder 3"/>
          <p:cNvSpPr>
            <a:spLocks noGrp="1"/>
          </p:cNvSpPr>
          <p:nvPr>
            <p:ph type="body" sz="half" idx="2"/>
          </p:nvPr>
        </p:nvSpPr>
        <p:spPr>
          <a:xfrm>
            <a:off x="2389717" y="5445225"/>
            <a:ext cx="7315200" cy="65496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7" name="Footer Placeholder 4"/>
          <p:cNvSpPr>
            <a:spLocks noGrp="1"/>
          </p:cNvSpPr>
          <p:nvPr>
            <p:ph type="ftr" sz="quarter" idx="3"/>
          </p:nvPr>
        </p:nvSpPr>
        <p:spPr>
          <a:xfrm>
            <a:off x="335361" y="6165304"/>
            <a:ext cx="2851911" cy="451156"/>
          </a:xfrm>
          <a:prstGeom prst="rect">
            <a:avLst/>
          </a:prstGeom>
        </p:spPr>
        <p:txBody>
          <a:bodyPr vert="horz" lIns="91440" tIns="45720" rIns="91440" bIns="45720" rtlCol="0" anchor="ctr"/>
          <a:lstStyle>
            <a:lvl1pPr algn="l" fontAlgn="auto">
              <a:spcBef>
                <a:spcPts val="0"/>
              </a:spcBef>
              <a:spcAft>
                <a:spcPts val="0"/>
              </a:spcAft>
              <a:defRPr sz="2000">
                <a:solidFill>
                  <a:schemeClr val="tx1"/>
                </a:solidFill>
                <a:latin typeface="Segoe UI Light" panose="020B0502040204020203" pitchFamily="34" charset="0"/>
                <a:cs typeface="CordiaUPC" panose="020B0304020202020204" pitchFamily="34" charset="-34"/>
              </a:defRPr>
            </a:lvl1pPr>
          </a:lstStyle>
          <a:p>
            <a:pPr>
              <a:defRPr/>
            </a:pPr>
            <a:endParaRPr lang="en-GB" dirty="0"/>
          </a:p>
        </p:txBody>
      </p:sp>
    </p:spTree>
    <p:extLst>
      <p:ext uri="{BB962C8B-B14F-4D97-AF65-F5344CB8AC3E}">
        <p14:creationId xmlns:p14="http://schemas.microsoft.com/office/powerpoint/2010/main" val="105115176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a:xfrm>
            <a:off x="335361" y="6165304"/>
            <a:ext cx="2851911" cy="451156"/>
          </a:xfrm>
          <a:prstGeom prst="rect">
            <a:avLst/>
          </a:prstGeom>
        </p:spPr>
        <p:txBody>
          <a:bodyPr vert="horz" lIns="91440" tIns="45720" rIns="91440" bIns="45720" rtlCol="0" anchor="ctr"/>
          <a:lstStyle>
            <a:lvl1pPr algn="l" fontAlgn="auto">
              <a:spcBef>
                <a:spcPts val="0"/>
              </a:spcBef>
              <a:spcAft>
                <a:spcPts val="0"/>
              </a:spcAft>
              <a:defRPr sz="2000">
                <a:solidFill>
                  <a:schemeClr val="tx1"/>
                </a:solidFill>
                <a:latin typeface="Segoe UI Light" panose="020B0502040204020203" pitchFamily="34" charset="0"/>
                <a:cs typeface="CordiaUPC" panose="020B0304020202020204" pitchFamily="34" charset="-34"/>
              </a:defRPr>
            </a:lvl1pPr>
          </a:lstStyle>
          <a:p>
            <a:pPr>
              <a:defRPr/>
            </a:pPr>
            <a:endParaRPr lang="en-GB" dirty="0"/>
          </a:p>
        </p:txBody>
      </p:sp>
    </p:spTree>
    <p:extLst>
      <p:ext uri="{BB962C8B-B14F-4D97-AF65-F5344CB8AC3E}">
        <p14:creationId xmlns:p14="http://schemas.microsoft.com/office/powerpoint/2010/main" val="354742264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theme" Target="../theme/theme2.xml"/><Relationship Id="rId8" Type="http://schemas.openxmlformats.org/officeDocument/2006/relationships/image" Target="../media/image2.png"/><Relationship Id="rId9" Type="http://schemas.openxmlformats.org/officeDocument/2006/relationships/image" Target="../media/image3.png"/><Relationship Id="rId10" Type="http://schemas.openxmlformats.org/officeDocument/2006/relationships/image" Target="../media/image4.png"/><Relationship Id="rId11" Type="http://schemas.openxmlformats.org/officeDocument/2006/relationships/image" Target="../media/image5.jpeg"/><Relationship Id="rId12" Type="http://schemas.openxmlformats.org/officeDocument/2006/relationships/image" Target="../media/image6.png"/><Relationship Id="rId13" Type="http://schemas.openxmlformats.org/officeDocument/2006/relationships/image" Target="../media/image7.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279576" y="258212"/>
            <a:ext cx="9302824" cy="1143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CFF0673-C28F-4BF7-AE33-0EB1E579660E}" type="datetime1">
              <a:rPr lang="en-GB" smtClean="0"/>
              <a:t>19/08/2026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9348785" y="6472972"/>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7C51FE3-7623-4EAD-B2F3-330393A65E73}" type="slidenum">
              <a:rPr lang="en-US" smtClean="0"/>
              <a:pPr/>
              <a:t>‹#›</a:t>
            </a:fld>
            <a:endParaRPr lang="en-US"/>
          </a:p>
        </p:txBody>
      </p:sp>
      <p:pic>
        <p:nvPicPr>
          <p:cNvPr id="8" name="Picture 2" descr="TAB_col_white_background.eps">
            <a:extLst>
              <a:ext uri="{FF2B5EF4-FFF2-40B4-BE49-F238E27FC236}">
                <a16:creationId xmlns:a16="http://schemas.microsoft.com/office/drawing/2014/main" id="{BEBFE5C7-1111-4735-BD40-7689CB15DD1C}"/>
              </a:ext>
            </a:extLst>
          </p:cNvPr>
          <p:cNvPicPr>
            <a:picLocks noChangeAspect="1"/>
          </p:cNvPicPr>
          <p:nvPr userDrawn="1"/>
        </p:nvPicPr>
        <p:blipFill>
          <a:blip r:embed="rId13" cstate="print"/>
          <a:srcRect/>
          <a:stretch>
            <a:fillRect/>
          </a:stretch>
        </p:blipFill>
        <p:spPr bwMode="auto">
          <a:xfrm>
            <a:off x="523875" y="509588"/>
            <a:ext cx="1663700" cy="711200"/>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spcBef>
          <a:spcPct val="0"/>
        </a:spcBef>
        <a:buNone/>
        <a:defRPr sz="3600" kern="1200">
          <a:solidFill>
            <a:srgbClr val="7800A2"/>
          </a:solidFill>
          <a:latin typeface="Arial"/>
          <a:ea typeface="+mj-ea"/>
          <a:cs typeface="Arial"/>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4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3023659" y="253032"/>
            <a:ext cx="7200800" cy="826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endParaRPr lang="en-GB" dirty="0"/>
          </a:p>
        </p:txBody>
      </p:sp>
      <p:sp>
        <p:nvSpPr>
          <p:cNvPr id="1027" name="Text Placeholder 2"/>
          <p:cNvSpPr>
            <a:spLocks noGrp="1"/>
          </p:cNvSpPr>
          <p:nvPr>
            <p:ph type="body" idx="1"/>
          </p:nvPr>
        </p:nvSpPr>
        <p:spPr bwMode="auto">
          <a:xfrm>
            <a:off x="609600" y="1196753"/>
            <a:ext cx="10972800" cy="4929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1028" name="Picture 7" descr="logo-ltr.tif"/>
          <p:cNvPicPr>
            <a:picLocks noChangeAspect="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334434" y="312080"/>
            <a:ext cx="2592917"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9" name="Straight Connector 8"/>
          <p:cNvCxnSpPr/>
          <p:nvPr/>
        </p:nvCxnSpPr>
        <p:spPr>
          <a:xfrm>
            <a:off x="334434" y="1079500"/>
            <a:ext cx="11523133" cy="0"/>
          </a:xfrm>
          <a:prstGeom prst="line">
            <a:avLst/>
          </a:prstGeom>
          <a:ln w="19050">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334434" y="6165850"/>
            <a:ext cx="11523133" cy="0"/>
          </a:xfrm>
          <a:prstGeom prst="line">
            <a:avLst/>
          </a:prstGeom>
          <a:ln w="19050">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pic>
        <p:nvPicPr>
          <p:cNvPr id="1031" name="Picture 11" descr="address.gif"/>
          <p:cNvPicPr>
            <a:picLocks noChangeAspect="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9867900" y="6237288"/>
            <a:ext cx="1989667"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2"/>
          <p:cNvPicPr>
            <a:picLocks noChangeAspect="1" noChangeArrowheads="1"/>
          </p:cNvPicPr>
          <p:nvPr userDrawn="1"/>
        </p:nvPicPr>
        <p:blipFill>
          <a:blip r:embed="rId10" cstate="print">
            <a:extLst>
              <a:ext uri="{28A0092B-C50C-407E-A947-70E740481C1C}">
                <a14:useLocalDpi xmlns:a14="http://schemas.microsoft.com/office/drawing/2010/main" val="0"/>
              </a:ext>
            </a:extLst>
          </a:blip>
          <a:srcRect/>
          <a:stretch>
            <a:fillRect/>
          </a:stretch>
        </p:blipFill>
        <p:spPr bwMode="auto">
          <a:xfrm>
            <a:off x="10315479" y="233836"/>
            <a:ext cx="1339180" cy="74535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4" name="Footer Placeholder 4"/>
          <p:cNvSpPr>
            <a:spLocks noGrp="1"/>
          </p:cNvSpPr>
          <p:nvPr>
            <p:ph type="ftr" sz="quarter" idx="3"/>
          </p:nvPr>
        </p:nvSpPr>
        <p:spPr>
          <a:xfrm>
            <a:off x="527382" y="6165304"/>
            <a:ext cx="2851911" cy="451156"/>
          </a:xfrm>
          <a:prstGeom prst="rect">
            <a:avLst/>
          </a:prstGeom>
        </p:spPr>
        <p:txBody>
          <a:bodyPr vert="horz" lIns="91440" tIns="45720" rIns="91440" bIns="45720" rtlCol="0" anchor="ctr"/>
          <a:lstStyle>
            <a:lvl1pPr algn="l" fontAlgn="auto">
              <a:spcBef>
                <a:spcPts val="0"/>
              </a:spcBef>
              <a:spcAft>
                <a:spcPts val="0"/>
              </a:spcAft>
              <a:defRPr sz="2000">
                <a:solidFill>
                  <a:schemeClr val="tx1"/>
                </a:solidFill>
                <a:latin typeface="Segoe UI Light" panose="020B0502040204020203" pitchFamily="34" charset="0"/>
                <a:cs typeface="CordiaUPC" panose="020B0304020202020204" pitchFamily="34" charset="-34"/>
              </a:defRPr>
            </a:lvl1pPr>
          </a:lstStyle>
          <a:p>
            <a:pPr>
              <a:defRPr/>
            </a:pPr>
            <a:endParaRPr lang="en-GB" dirty="0"/>
          </a:p>
        </p:txBody>
      </p:sp>
      <p:pic>
        <p:nvPicPr>
          <p:cNvPr id="3" name="Picture 2"/>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3652848" y="476677"/>
            <a:ext cx="2784000" cy="453535"/>
          </a:xfrm>
          <a:prstGeom prst="rect">
            <a:avLst/>
          </a:prstGeom>
        </p:spPr>
      </p:pic>
      <p:pic>
        <p:nvPicPr>
          <p:cNvPr id="4" name="Picture 3"/>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7152117" y="253844"/>
            <a:ext cx="2400000" cy="654876"/>
          </a:xfrm>
          <a:prstGeom prst="rect">
            <a:avLst/>
          </a:prstGeom>
        </p:spPr>
      </p:pic>
      <p:pic>
        <p:nvPicPr>
          <p:cNvPr id="15" name="Picture 7" descr="logo-ltr.tif"/>
          <p:cNvPicPr>
            <a:picLocks noChangeAspect="1"/>
          </p:cNvPicPr>
          <p:nvPr userDrawn="1"/>
        </p:nvPicPr>
        <p:blipFill>
          <a:blip r:embed="rId8" cstate="print">
            <a:extLst>
              <a:ext uri="{28A0092B-C50C-407E-A947-70E740481C1C}">
                <a14:useLocalDpi xmlns:a14="http://schemas.microsoft.com/office/drawing/2010/main" val="0"/>
              </a:ext>
            </a:extLst>
          </a:blip>
          <a:srcRect/>
          <a:stretch>
            <a:fillRect/>
          </a:stretch>
        </p:blipFill>
        <p:spPr bwMode="auto">
          <a:xfrm>
            <a:off x="344662" y="324732"/>
            <a:ext cx="2592917"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userDrawn="1"/>
        </p:nvSpPr>
        <p:spPr>
          <a:xfrm>
            <a:off x="9867900" y="6237288"/>
            <a:ext cx="1989667" cy="3429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pic>
        <p:nvPicPr>
          <p:cNvPr id="2" name="Picture 1"/>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10128597" y="6207517"/>
            <a:ext cx="1344000" cy="402442"/>
          </a:xfrm>
          <a:prstGeom prst="rect">
            <a:avLst/>
          </a:prstGeom>
        </p:spPr>
      </p:pic>
    </p:spTree>
    <p:extLst>
      <p:ext uri="{BB962C8B-B14F-4D97-AF65-F5344CB8AC3E}">
        <p14:creationId xmlns:p14="http://schemas.microsoft.com/office/powerpoint/2010/main" val="187339102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hf sldNum="0" hdr="0" ftr="0" dt="0"/>
  <p:txStyles>
    <p:titleStyle>
      <a:lvl1pPr algn="l" rtl="0" eaLnBrk="1" fontAlgn="base" hangingPunct="1">
        <a:spcBef>
          <a:spcPct val="0"/>
        </a:spcBef>
        <a:spcAft>
          <a:spcPct val="0"/>
        </a:spcAft>
        <a:defRPr sz="3200" kern="1200">
          <a:solidFill>
            <a:srgbClr val="9A1D2B"/>
          </a:solidFill>
          <a:latin typeface="+mj-lt"/>
          <a:ea typeface="+mj-ea"/>
          <a:cs typeface="Arial" pitchFamily="34" charset="0"/>
        </a:defRPr>
      </a:lvl1pPr>
      <a:lvl2pPr algn="l" rtl="0" eaLnBrk="1" fontAlgn="base" hangingPunct="1">
        <a:spcBef>
          <a:spcPct val="0"/>
        </a:spcBef>
        <a:spcAft>
          <a:spcPct val="0"/>
        </a:spcAft>
        <a:defRPr sz="3200">
          <a:solidFill>
            <a:srgbClr val="9A1D2B"/>
          </a:solidFill>
          <a:latin typeface="Arial" charset="0"/>
          <a:cs typeface="Arial" charset="0"/>
        </a:defRPr>
      </a:lvl2pPr>
      <a:lvl3pPr algn="l" rtl="0" eaLnBrk="1" fontAlgn="base" hangingPunct="1">
        <a:spcBef>
          <a:spcPct val="0"/>
        </a:spcBef>
        <a:spcAft>
          <a:spcPct val="0"/>
        </a:spcAft>
        <a:defRPr sz="3200">
          <a:solidFill>
            <a:srgbClr val="9A1D2B"/>
          </a:solidFill>
          <a:latin typeface="Arial" charset="0"/>
          <a:cs typeface="Arial" charset="0"/>
        </a:defRPr>
      </a:lvl3pPr>
      <a:lvl4pPr algn="l" rtl="0" eaLnBrk="1" fontAlgn="base" hangingPunct="1">
        <a:spcBef>
          <a:spcPct val="0"/>
        </a:spcBef>
        <a:spcAft>
          <a:spcPct val="0"/>
        </a:spcAft>
        <a:defRPr sz="3200">
          <a:solidFill>
            <a:srgbClr val="9A1D2B"/>
          </a:solidFill>
          <a:latin typeface="Arial" charset="0"/>
          <a:cs typeface="Arial" charset="0"/>
        </a:defRPr>
      </a:lvl4pPr>
      <a:lvl5pPr algn="l" rtl="0" eaLnBrk="1" fontAlgn="base" hangingPunct="1">
        <a:spcBef>
          <a:spcPct val="0"/>
        </a:spcBef>
        <a:spcAft>
          <a:spcPct val="0"/>
        </a:spcAft>
        <a:defRPr sz="3200">
          <a:solidFill>
            <a:srgbClr val="9A1D2B"/>
          </a:solidFill>
          <a:latin typeface="Arial" charset="0"/>
          <a:cs typeface="Arial" charset="0"/>
        </a:defRPr>
      </a:lvl5pPr>
      <a:lvl6pPr marL="457200" algn="l" rtl="0" eaLnBrk="1" fontAlgn="base" hangingPunct="1">
        <a:spcBef>
          <a:spcPct val="0"/>
        </a:spcBef>
        <a:spcAft>
          <a:spcPct val="0"/>
        </a:spcAft>
        <a:defRPr sz="3200">
          <a:solidFill>
            <a:srgbClr val="9A1D2B"/>
          </a:solidFill>
          <a:latin typeface="Arial" charset="0"/>
          <a:cs typeface="Arial" charset="0"/>
        </a:defRPr>
      </a:lvl6pPr>
      <a:lvl7pPr marL="914400" algn="l" rtl="0" eaLnBrk="1" fontAlgn="base" hangingPunct="1">
        <a:spcBef>
          <a:spcPct val="0"/>
        </a:spcBef>
        <a:spcAft>
          <a:spcPct val="0"/>
        </a:spcAft>
        <a:defRPr sz="3200">
          <a:solidFill>
            <a:srgbClr val="9A1D2B"/>
          </a:solidFill>
          <a:latin typeface="Arial" charset="0"/>
          <a:cs typeface="Arial" charset="0"/>
        </a:defRPr>
      </a:lvl7pPr>
      <a:lvl8pPr marL="1371600" algn="l" rtl="0" eaLnBrk="1" fontAlgn="base" hangingPunct="1">
        <a:spcBef>
          <a:spcPct val="0"/>
        </a:spcBef>
        <a:spcAft>
          <a:spcPct val="0"/>
        </a:spcAft>
        <a:defRPr sz="3200">
          <a:solidFill>
            <a:srgbClr val="9A1D2B"/>
          </a:solidFill>
          <a:latin typeface="Arial" charset="0"/>
          <a:cs typeface="Arial" charset="0"/>
        </a:defRPr>
      </a:lvl8pPr>
      <a:lvl9pPr marL="1828800" algn="l" rtl="0" eaLnBrk="1" fontAlgn="base" hangingPunct="1">
        <a:spcBef>
          <a:spcPct val="0"/>
        </a:spcBef>
        <a:spcAft>
          <a:spcPct val="0"/>
        </a:spcAft>
        <a:defRPr sz="3200">
          <a:solidFill>
            <a:srgbClr val="9A1D2B"/>
          </a:solidFill>
          <a:latin typeface="Arial" charset="0"/>
          <a:cs typeface="Arial" charset="0"/>
        </a:defRPr>
      </a:lvl9pPr>
    </p:titleStyle>
    <p:body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kern="1200">
          <a:solidFill>
            <a:srgbClr val="BF2F37"/>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23875" y="1560000"/>
            <a:ext cx="11144250" cy="240000"/>
          </a:xfrm>
          <a:prstGeom prst="rect">
            <a:avLst/>
          </a:prstGeom>
          <a:noFill/>
          <a:effectLst/>
        </p:spPr>
        <p:txBody>
          <a:bodyPr wrap="square" lIns="0" rIns="0" tIns="0" bIns="0" anchor="t">
            <a:spAutoFit/>
          </a:bodyPr>
          <a:lstStyle/>
          <a:p>
            <a:pPr algn="l">
              <a:lnSpc>
                <a:spcPct val="125000"/>
              </a:lnSpc>
            </a:pPr>
            <a:r>
              <a:rPr sz="1050" b="0" i="0" spc="170">
                <a:solidFill>
                  <a:srgbClr val="5A6B86"/>
                </a:solidFill>
                <a:latin typeface="Consolas"/>
              </a:rPr>
              <a:t>MSC CYBERSECURITY · UNIVERSITY OF MANCHESTER · COMP66060</a:t>
            </a:r>
          </a:p>
        </p:txBody>
      </p:sp>
      <p:sp>
        <p:nvSpPr>
          <p:cNvPr id="3" name="TextBox 2"/>
          <p:cNvSpPr txBox="1"/>
          <p:nvPr/>
        </p:nvSpPr>
        <p:spPr>
          <a:xfrm>
            <a:off x="523875" y="1850000"/>
            <a:ext cx="11144250" cy="1500000"/>
          </a:xfrm>
          <a:prstGeom prst="rect">
            <a:avLst/>
          </a:prstGeom>
          <a:noFill/>
          <a:effectLst/>
        </p:spPr>
        <p:txBody>
          <a:bodyPr wrap="square" lIns="0" rIns="0" tIns="0" bIns="0" anchor="t">
            <a:spAutoFit/>
          </a:bodyPr>
          <a:lstStyle/>
          <a:p>
            <a:pPr algn="l">
              <a:lnSpc>
                <a:spcPct val="116000"/>
              </a:lnSpc>
            </a:pPr>
            <a:r>
              <a:rPr sz="3000" b="1" i="0">
                <a:solidFill>
                  <a:srgbClr val="595959"/>
                </a:solidFill>
                <a:latin typeface="Arial"/>
              </a:rPr>
              <a:t>Implementing Post-Quantum Secure
Exotic Signature Schemes in Blockchains</a:t>
            </a:r>
          </a:p>
        </p:txBody>
      </p:sp>
      <p:cxnSp>
        <p:nvCxnSpPr>
          <p:cNvPr id="4" name="Connector 3"/>
          <p:cNvCxnSpPr/>
          <p:nvPr/>
        </p:nvCxnSpPr>
        <p:spPr>
          <a:xfrm>
            <a:off x="523875" y="3789040"/>
            <a:ext cx="9505056" cy="0"/>
          </a:xfrm>
          <a:prstGeom prst="line">
            <a:avLst/>
          </a:prstGeom>
          <a:ln w="25400">
            <a:solidFill>
              <a:srgbClr val="660066"/>
            </a:solidFill>
            <a:prstDash val="sysDot"/>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23875" y="4180000"/>
            <a:ext cx="9200000" cy="900000"/>
          </a:xfrm>
          <a:prstGeom prst="rect">
            <a:avLst/>
          </a:prstGeom>
          <a:noFill/>
          <a:effectLst/>
        </p:spPr>
        <p:txBody>
          <a:bodyPr wrap="square" lIns="0" rIns="0" tIns="0" bIns="0" anchor="t">
            <a:spAutoFit/>
          </a:bodyPr>
          <a:lstStyle/>
          <a:p>
            <a:pPr algn="l">
              <a:lnSpc>
                <a:spcPct val="130000"/>
              </a:lnSpc>
            </a:pPr>
            <a:r>
              <a:rPr sz="1500" b="0" i="0">
                <a:solidFill>
                  <a:srgbClr val="595959"/>
                </a:solidFill>
                <a:latin typeface="Arial"/>
              </a:rPr>
              <a:t>LAS — a lattice adaptor signature built on CRYSTALS-Dilithium primitives: implemented twice, benchmarked against two baselines, and demonstrated end-to-end in a post-quantum atomic swap.</a:t>
            </a:r>
          </a:p>
        </p:txBody>
      </p:sp>
      <p:sp>
        <p:nvSpPr>
          <p:cNvPr id="6" name="TextBox 5"/>
          <p:cNvSpPr txBox="1"/>
          <p:nvPr/>
        </p:nvSpPr>
        <p:spPr>
          <a:xfrm>
            <a:off x="523875" y="5300000"/>
            <a:ext cx="11144250" cy="300000"/>
          </a:xfrm>
          <a:prstGeom prst="rect">
            <a:avLst/>
          </a:prstGeom>
          <a:noFill/>
          <a:effectLst/>
        </p:spPr>
        <p:txBody>
          <a:bodyPr wrap="square" lIns="0" rIns="0" tIns="0" bIns="0" anchor="t">
            <a:spAutoFit/>
          </a:bodyPr>
          <a:lstStyle/>
          <a:p>
            <a:pPr algn="l">
              <a:lnSpc>
                <a:spcPct val="125000"/>
              </a:lnSpc>
            </a:pPr>
            <a:r>
              <a:rPr sz="1150" b="0" i="0">
                <a:solidFill>
                  <a:srgbClr val="5A6B86"/>
                </a:solidFill>
                <a:latin typeface="Arial"/>
              </a:rPr>
              <a:t>Royce Steven     ·     Supervisor: Dr Zhipeng Wang     ·     </a:t>
            </a:r>
            <a:r>
              <a:rPr sz="1150" b="0" i="0">
                <a:solidFill>
                  <a:srgbClr val="5A6B86"/>
                </a:solidFill>
                <a:latin typeface="Consolas"/>
              </a:rPr>
              <a:t>evidence run 20260804_101750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11003145" y="640000"/>
            <a:ext cx="664980" cy="230000"/>
          </a:xfrm>
          <a:prstGeom prst="roundRect">
            <a:avLst>
              <a:gd name="adj" fmla="val 50000"/>
            </a:avLst>
          </a:prstGeom>
          <a:noFill/>
          <a:ln w="9525">
            <a:solidFill>
              <a:srgbClr val="D8E0EC"/>
            </a:solidFill>
          </a:ln>
          <a:effectLst/>
        </p:spPr>
        <p:style>
          <a:lnRef idx="1">
            <a:schemeClr val="accent1"/>
          </a:lnRef>
          <a:fillRef idx="3">
            <a:schemeClr val="accent1"/>
          </a:fillRef>
          <a:effectRef idx="2">
            <a:schemeClr val="accent1"/>
          </a:effectRef>
          <a:fontRef idx="minor">
            <a:schemeClr val="lt1"/>
          </a:fontRef>
        </p:style>
        <p:txBody>
          <a:bodyPr rtlCol="0" anchor="ctr" wrap="none" lIns="95000" rIns="95000" tIns="0" bIns="0"/>
          <a:lstStyle/>
          <a:p>
            <a:pPr algn="ctr">
              <a:lnSpc>
                <a:spcPct val="100000"/>
              </a:lnSpc>
            </a:pPr>
            <a:r>
              <a:rPr sz="850" b="0" i="0">
                <a:solidFill>
                  <a:srgbClr val="5A6B86"/>
                </a:solidFill>
                <a:latin typeface="Consolas"/>
              </a:rPr>
              <a:t>Takeaway</a:t>
            </a:r>
          </a:p>
        </p:txBody>
      </p:sp>
      <p:sp>
        <p:nvSpPr>
          <p:cNvPr id="3" name="Rounded Rectangle 2"/>
          <p:cNvSpPr/>
          <p:nvPr/>
        </p:nvSpPr>
        <p:spPr>
          <a:xfrm>
            <a:off x="10357538" y="640000"/>
            <a:ext cx="605608" cy="230000"/>
          </a:xfrm>
          <a:prstGeom prst="roundRect">
            <a:avLst>
              <a:gd name="adj" fmla="val 50000"/>
            </a:avLst>
          </a:prstGeom>
          <a:noFill/>
          <a:ln w="9525">
            <a:solidFill>
              <a:srgbClr val="D8E0EC"/>
            </a:solidFill>
          </a:ln>
          <a:effectLst/>
        </p:spPr>
        <p:style>
          <a:lnRef idx="1">
            <a:schemeClr val="accent1"/>
          </a:lnRef>
          <a:fillRef idx="3">
            <a:schemeClr val="accent1"/>
          </a:fillRef>
          <a:effectRef idx="2">
            <a:schemeClr val="accent1"/>
          </a:effectRef>
          <a:fontRef idx="minor">
            <a:schemeClr val="lt1"/>
          </a:fontRef>
        </p:style>
        <p:txBody>
          <a:bodyPr rtlCol="0" anchor="ctr" wrap="none" lIns="95000" rIns="95000" tIns="0" bIns="0"/>
          <a:lstStyle/>
          <a:p>
            <a:pPr algn="ctr">
              <a:lnSpc>
                <a:spcPct val="100000"/>
              </a:lnSpc>
            </a:pPr>
            <a:r>
              <a:rPr sz="850" b="0" i="0">
                <a:solidFill>
                  <a:srgbClr val="5A6B86"/>
                </a:solidFill>
                <a:latin typeface="Consolas"/>
              </a:rPr>
              <a:t>Results</a:t>
            </a:r>
          </a:p>
        </p:txBody>
      </p:sp>
      <p:sp>
        <p:nvSpPr>
          <p:cNvPr id="4" name="Rounded Rectangle 3"/>
          <p:cNvSpPr/>
          <p:nvPr/>
        </p:nvSpPr>
        <p:spPr>
          <a:xfrm>
            <a:off x="9771302" y="640000"/>
            <a:ext cx="546235" cy="230000"/>
          </a:xfrm>
          <a:prstGeom prst="roundRect">
            <a:avLst>
              <a:gd name="adj" fmla="val 50000"/>
            </a:avLst>
          </a:prstGeom>
          <a:noFill/>
          <a:ln w="9525">
            <a:solidFill>
              <a:srgbClr val="D8E0EC"/>
            </a:solidFill>
          </a:ln>
          <a:effectLst/>
        </p:spPr>
        <p:style>
          <a:lnRef idx="1">
            <a:schemeClr val="accent1"/>
          </a:lnRef>
          <a:fillRef idx="3">
            <a:schemeClr val="accent1"/>
          </a:fillRef>
          <a:effectRef idx="2">
            <a:schemeClr val="accent1"/>
          </a:effectRef>
          <a:fontRef idx="minor">
            <a:schemeClr val="lt1"/>
          </a:fontRef>
        </p:style>
        <p:txBody>
          <a:bodyPr rtlCol="0" anchor="ctr" wrap="none" lIns="95000" rIns="95000" tIns="0" bIns="0"/>
          <a:lstStyle/>
          <a:p>
            <a:pPr algn="ctr">
              <a:lnSpc>
                <a:spcPct val="100000"/>
              </a:lnSpc>
            </a:pPr>
            <a:r>
              <a:rPr sz="850" b="0" i="0">
                <a:solidFill>
                  <a:srgbClr val="5A6B86"/>
                </a:solidFill>
                <a:latin typeface="Consolas"/>
              </a:rPr>
              <a:t>Method</a:t>
            </a:r>
          </a:p>
        </p:txBody>
      </p:sp>
      <p:sp>
        <p:nvSpPr>
          <p:cNvPr id="5" name="Rounded Rectangle 4"/>
          <p:cNvSpPr/>
          <p:nvPr/>
        </p:nvSpPr>
        <p:spPr>
          <a:xfrm>
            <a:off x="9363185" y="640000"/>
            <a:ext cx="368118" cy="230000"/>
          </a:xfrm>
          <a:prstGeom prst="roundRect">
            <a:avLst>
              <a:gd name="adj" fmla="val 50000"/>
            </a:avLst>
          </a:prstGeom>
          <a:solidFill>
            <a:srgbClr val="FDECE1"/>
          </a:solidFill>
          <a:ln w="9525">
            <a:solidFill>
              <a:srgbClr val="E8590C"/>
            </a:solidFill>
          </a:ln>
          <a:effectLst/>
        </p:spPr>
        <p:style>
          <a:lnRef idx="1">
            <a:schemeClr val="accent1"/>
          </a:lnRef>
          <a:fillRef idx="3">
            <a:schemeClr val="accent1"/>
          </a:fillRef>
          <a:effectRef idx="2">
            <a:schemeClr val="accent1"/>
          </a:effectRef>
          <a:fontRef idx="minor">
            <a:schemeClr val="lt1"/>
          </a:fontRef>
        </p:style>
        <p:txBody>
          <a:bodyPr rtlCol="0" anchor="ctr" wrap="none" lIns="95000" rIns="95000" tIns="0" bIns="0"/>
          <a:lstStyle/>
          <a:p>
            <a:pPr algn="ctr">
              <a:lnSpc>
                <a:spcPct val="100000"/>
              </a:lnSpc>
            </a:pPr>
            <a:r>
              <a:rPr sz="850" b="0" i="0">
                <a:solidFill>
                  <a:srgbClr val="C2410C"/>
                </a:solidFill>
                <a:latin typeface="Consolas"/>
              </a:rPr>
              <a:t>Why</a:t>
            </a:r>
          </a:p>
        </p:txBody>
      </p:sp>
      <p:sp>
        <p:nvSpPr>
          <p:cNvPr id="6" name="TextBox 5"/>
          <p:cNvSpPr txBox="1"/>
          <p:nvPr/>
        </p:nvSpPr>
        <p:spPr>
          <a:xfrm>
            <a:off x="10768125" y="6550000"/>
            <a:ext cx="900000" cy="220000"/>
          </a:xfrm>
          <a:prstGeom prst="rect">
            <a:avLst/>
          </a:prstGeom>
          <a:noFill/>
          <a:effectLst/>
        </p:spPr>
        <p:txBody>
          <a:bodyPr wrap="square" lIns="0" rIns="0" tIns="0" bIns="0" anchor="t">
            <a:spAutoFit/>
          </a:bodyPr>
          <a:lstStyle/>
          <a:p>
            <a:pPr algn="r">
              <a:lnSpc>
                <a:spcPct val="125000"/>
              </a:lnSpc>
            </a:pPr>
            <a:r>
              <a:rPr sz="850" b="0" i="0">
                <a:solidFill>
                  <a:srgbClr val="5A6B86"/>
                </a:solidFill>
                <a:latin typeface="Consolas"/>
              </a:rPr>
              <a:t>2 / 10</a:t>
            </a:r>
          </a:p>
        </p:txBody>
      </p:sp>
      <p:sp>
        <p:nvSpPr>
          <p:cNvPr id="7" name="TextBox 6"/>
          <p:cNvSpPr txBox="1"/>
          <p:nvPr/>
        </p:nvSpPr>
        <p:spPr>
          <a:xfrm>
            <a:off x="523875" y="1295000"/>
            <a:ext cx="11144250" cy="210000"/>
          </a:xfrm>
          <a:prstGeom prst="rect">
            <a:avLst/>
          </a:prstGeom>
          <a:noFill/>
          <a:effectLst/>
        </p:spPr>
        <p:txBody>
          <a:bodyPr wrap="square" lIns="0" rIns="0" tIns="0" bIns="0" anchor="t">
            <a:spAutoFit/>
          </a:bodyPr>
          <a:lstStyle/>
          <a:p>
            <a:pPr algn="l">
              <a:lnSpc>
                <a:spcPct val="125000"/>
              </a:lnSpc>
            </a:pPr>
            <a:r>
              <a:rPr sz="950" b="0" i="0" spc="170">
                <a:solidFill>
                  <a:srgbClr val="5A6B86"/>
                </a:solidFill>
                <a:latin typeface="Consolas"/>
              </a:rPr>
              <a:t>THE APPLICATION FIRST</a:t>
            </a:r>
          </a:p>
        </p:txBody>
      </p:sp>
      <p:sp>
        <p:nvSpPr>
          <p:cNvPr id="8" name="TextBox 7"/>
          <p:cNvSpPr txBox="1"/>
          <p:nvPr/>
        </p:nvSpPr>
        <p:spPr>
          <a:xfrm>
            <a:off x="523875" y="1495000"/>
            <a:ext cx="11144250" cy="610000"/>
          </a:xfrm>
          <a:prstGeom prst="rect">
            <a:avLst/>
          </a:prstGeom>
          <a:noFill/>
          <a:effectLst/>
        </p:spPr>
        <p:txBody>
          <a:bodyPr wrap="square" lIns="0" rIns="0" tIns="0" bIns="0" anchor="b">
            <a:spAutoFit/>
          </a:bodyPr>
          <a:lstStyle/>
          <a:p>
            <a:pPr algn="l">
              <a:lnSpc>
                <a:spcPct val="108000"/>
              </a:lnSpc>
            </a:pPr>
            <a:r>
              <a:rPr sz="2500" b="1" i="0">
                <a:solidFill>
                  <a:srgbClr val="7800A2"/>
                </a:solidFill>
                <a:latin typeface="Arial"/>
              </a:rPr>
              <a:t>Two strangers, two chains, </a:t>
            </a:r>
            <a:r>
              <a:rPr sz="2500" b="1" i="0">
                <a:solidFill>
                  <a:srgbClr val="1F6FEB"/>
                </a:solidFill>
                <a:latin typeface="Arial"/>
              </a:rPr>
              <a:t>no trusted middleman</a:t>
            </a:r>
          </a:p>
        </p:txBody>
      </p:sp>
      <p:cxnSp>
        <p:nvCxnSpPr>
          <p:cNvPr id="9" name="Connector 8"/>
          <p:cNvCxnSpPr/>
          <p:nvPr/>
        </p:nvCxnSpPr>
        <p:spPr>
          <a:xfrm>
            <a:off x="523875" y="2165000"/>
            <a:ext cx="11144250" cy="0"/>
          </a:xfrm>
          <a:prstGeom prst="line">
            <a:avLst/>
          </a:prstGeom>
          <a:ln w="25400">
            <a:solidFill>
              <a:srgbClr val="660066"/>
            </a:solidFill>
            <a:prstDash val="sysDot"/>
          </a:ln>
          <a:effectLst/>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533482" y="2265000"/>
            <a:ext cx="2555492" cy="2420992"/>
          </a:xfrm>
          <a:prstGeom prst="roundRect">
            <a:avLst>
              <a:gd name="adj" fmla="val 5555"/>
            </a:avLst>
          </a:prstGeom>
          <a:solidFill>
            <a:srgbClr val="FFFFFF"/>
          </a:solidFill>
          <a:ln w="14411">
            <a:solidFill>
              <a:srgbClr val="D8E0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773660" y="2478470"/>
            <a:ext cx="1921422" cy="320397"/>
          </a:xfrm>
          <a:prstGeom prst="rect">
            <a:avLst/>
          </a:prstGeom>
          <a:noFill/>
          <a:effectLst/>
        </p:spPr>
        <p:txBody>
          <a:bodyPr wrap="none" lIns="0" rIns="0" tIns="0" bIns="0" anchor="t">
            <a:spAutoFit/>
          </a:bodyPr>
          <a:lstStyle/>
          <a:p>
            <a:pPr algn="l">
              <a:lnSpc>
                <a:spcPct val="100000"/>
              </a:lnSpc>
            </a:pPr>
            <a:r>
              <a:rPr sz="1739" b="1" i="0">
                <a:solidFill>
                  <a:srgbClr val="14213A"/>
                </a:solidFill>
                <a:latin typeface="Arial"/>
              </a:rPr>
              <a:t>Alice</a:t>
            </a:r>
          </a:p>
        </p:txBody>
      </p:sp>
      <p:sp>
        <p:nvSpPr>
          <p:cNvPr id="12" name="TextBox 11"/>
          <p:cNvSpPr txBox="1"/>
          <p:nvPr/>
        </p:nvSpPr>
        <p:spPr>
          <a:xfrm>
            <a:off x="773660" y="2775138"/>
            <a:ext cx="2401778" cy="208955"/>
          </a:xfrm>
          <a:prstGeom prst="rect">
            <a:avLst/>
          </a:prstGeom>
          <a:noFill/>
          <a:effectLst/>
        </p:spPr>
        <p:txBody>
          <a:bodyPr wrap="none" lIns="0" rIns="0" tIns="0" bIns="0" anchor="t">
            <a:spAutoFit/>
          </a:bodyPr>
          <a:lstStyle/>
          <a:p>
            <a:pPr algn="l">
              <a:lnSpc>
                <a:spcPct val="100000"/>
              </a:lnSpc>
            </a:pPr>
            <a:r>
              <a:rPr sz="1134" b="0" i="0">
                <a:solidFill>
                  <a:srgbClr val="5A6B86"/>
                </a:solidFill>
                <a:latin typeface="Arial"/>
              </a:rPr>
              <a:t>has bitcoin, wants ether</a:t>
            </a:r>
          </a:p>
        </p:txBody>
      </p:sp>
      <p:sp>
        <p:nvSpPr>
          <p:cNvPr id="13" name="Rounded Rectangle 12"/>
          <p:cNvSpPr/>
          <p:nvPr/>
        </p:nvSpPr>
        <p:spPr>
          <a:xfrm>
            <a:off x="812088" y="3340997"/>
            <a:ext cx="691712" cy="691712"/>
          </a:xfrm>
          <a:prstGeom prst="roundRect">
            <a:avLst>
              <a:gd name="adj" fmla="val 50000"/>
            </a:avLst>
          </a:prstGeom>
          <a:noFill/>
          <a:ln w="21136">
            <a:solidFill>
              <a:srgbClr val="F7931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197233" y="3620564"/>
            <a:ext cx="1921422" cy="208955"/>
          </a:xfrm>
          <a:prstGeom prst="rect">
            <a:avLst/>
          </a:prstGeom>
          <a:noFill/>
          <a:effectLst/>
        </p:spPr>
        <p:txBody>
          <a:bodyPr wrap="none" lIns="0" rIns="0" tIns="0" bIns="0" anchor="t">
            <a:spAutoFit/>
          </a:bodyPr>
          <a:lstStyle/>
          <a:p>
            <a:pPr algn="ctr">
              <a:lnSpc>
                <a:spcPct val="100000"/>
              </a:lnSpc>
            </a:pPr>
            <a:r>
              <a:rPr sz="1134" b="1" i="0">
                <a:solidFill>
                  <a:srgbClr val="14213A"/>
                </a:solidFill>
                <a:latin typeface="Arial"/>
              </a:rPr>
              <a:t>1 BTC</a:t>
            </a:r>
          </a:p>
        </p:txBody>
      </p:sp>
      <p:sp>
        <p:nvSpPr>
          <p:cNvPr id="15" name="Rounded Rectangle 14"/>
          <p:cNvSpPr/>
          <p:nvPr/>
        </p:nvSpPr>
        <p:spPr>
          <a:xfrm>
            <a:off x="1657514" y="3437068"/>
            <a:ext cx="1210496" cy="499570"/>
          </a:xfrm>
          <a:prstGeom prst="roundRect">
            <a:avLst>
              <a:gd name="adj" fmla="val 21153"/>
            </a:avLst>
          </a:prstGeom>
          <a:solidFill>
            <a:srgbClr val="EEF3FA"/>
          </a:solidFill>
          <a:ln w="11529">
            <a:solidFill>
              <a:srgbClr val="D8E0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1811228" y="3532755"/>
            <a:ext cx="1441067" cy="195024"/>
          </a:xfrm>
          <a:prstGeom prst="rect">
            <a:avLst/>
          </a:prstGeom>
          <a:noFill/>
          <a:effectLst/>
        </p:spPr>
        <p:txBody>
          <a:bodyPr wrap="none" lIns="0" rIns="0" tIns="0" bIns="0" anchor="t">
            <a:spAutoFit/>
          </a:bodyPr>
          <a:lstStyle/>
          <a:p>
            <a:pPr algn="l">
              <a:lnSpc>
                <a:spcPct val="100000"/>
              </a:lnSpc>
            </a:pPr>
            <a:r>
              <a:rPr sz="1059" b="1" i="0">
                <a:solidFill>
                  <a:srgbClr val="14213A"/>
                </a:solidFill>
                <a:latin typeface="Arial"/>
              </a:rPr>
              <a:t>Bitcoin</a:t>
            </a:r>
          </a:p>
        </p:txBody>
      </p:sp>
      <p:sp>
        <p:nvSpPr>
          <p:cNvPr id="17" name="TextBox 16"/>
          <p:cNvSpPr txBox="1"/>
          <p:nvPr/>
        </p:nvSpPr>
        <p:spPr>
          <a:xfrm>
            <a:off x="1811228" y="3727683"/>
            <a:ext cx="1441067" cy="174129"/>
          </a:xfrm>
          <a:prstGeom prst="rect">
            <a:avLst/>
          </a:prstGeom>
          <a:noFill/>
          <a:effectLst/>
        </p:spPr>
        <p:txBody>
          <a:bodyPr wrap="none" lIns="0" rIns="0" tIns="0" bIns="0" anchor="t">
            <a:spAutoFit/>
          </a:bodyPr>
          <a:lstStyle/>
          <a:p>
            <a:pPr algn="l">
              <a:lnSpc>
                <a:spcPct val="100000"/>
              </a:lnSpc>
            </a:pPr>
            <a:r>
              <a:rPr sz="945" b="0" i="0">
                <a:solidFill>
                  <a:srgbClr val="5A6B86"/>
                </a:solidFill>
                <a:latin typeface="Arial"/>
              </a:rPr>
              <a:t>chain 1</a:t>
            </a:r>
          </a:p>
        </p:txBody>
      </p:sp>
      <p:sp>
        <p:nvSpPr>
          <p:cNvPr id="18" name="TextBox 17"/>
          <p:cNvSpPr txBox="1"/>
          <p:nvPr/>
        </p:nvSpPr>
        <p:spPr>
          <a:xfrm>
            <a:off x="773660" y="4290371"/>
            <a:ext cx="2497849" cy="181094"/>
          </a:xfrm>
          <a:prstGeom prst="rect">
            <a:avLst/>
          </a:prstGeom>
          <a:noFill/>
          <a:effectLst/>
        </p:spPr>
        <p:txBody>
          <a:bodyPr wrap="none" lIns="0" rIns="0" tIns="0" bIns="0" anchor="t">
            <a:spAutoFit/>
          </a:bodyPr>
          <a:lstStyle/>
          <a:p>
            <a:pPr algn="l">
              <a:lnSpc>
                <a:spcPct val="100000"/>
              </a:lnSpc>
            </a:pPr>
            <a:r>
              <a:rPr sz="983" b="0" i="0">
                <a:solidFill>
                  <a:srgbClr val="5A6B86"/>
                </a:solidFill>
                <a:latin typeface="Arial"/>
              </a:rPr>
              <a:t>spendable only by her own key</a:t>
            </a:r>
          </a:p>
        </p:txBody>
      </p:sp>
      <p:sp>
        <p:nvSpPr>
          <p:cNvPr id="19" name="Rounded Rectangle 18"/>
          <p:cNvSpPr/>
          <p:nvPr/>
        </p:nvSpPr>
        <p:spPr>
          <a:xfrm>
            <a:off x="9103026" y="2265000"/>
            <a:ext cx="2555492" cy="2420992"/>
          </a:xfrm>
          <a:prstGeom prst="roundRect">
            <a:avLst>
              <a:gd name="adj" fmla="val 5555"/>
            </a:avLst>
          </a:prstGeom>
          <a:solidFill>
            <a:srgbClr val="FFFFFF"/>
          </a:solidFill>
          <a:ln w="14411">
            <a:solidFill>
              <a:srgbClr val="D8E0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9343204" y="2478470"/>
            <a:ext cx="1921422" cy="320397"/>
          </a:xfrm>
          <a:prstGeom prst="rect">
            <a:avLst/>
          </a:prstGeom>
          <a:noFill/>
          <a:effectLst/>
        </p:spPr>
        <p:txBody>
          <a:bodyPr wrap="none" lIns="0" rIns="0" tIns="0" bIns="0" anchor="t">
            <a:spAutoFit/>
          </a:bodyPr>
          <a:lstStyle/>
          <a:p>
            <a:pPr algn="l">
              <a:lnSpc>
                <a:spcPct val="100000"/>
              </a:lnSpc>
            </a:pPr>
            <a:r>
              <a:rPr sz="1739" b="1" i="0">
                <a:solidFill>
                  <a:srgbClr val="14213A"/>
                </a:solidFill>
                <a:latin typeface="Arial"/>
              </a:rPr>
              <a:t>Bob</a:t>
            </a:r>
          </a:p>
        </p:txBody>
      </p:sp>
      <p:sp>
        <p:nvSpPr>
          <p:cNvPr id="21" name="TextBox 20"/>
          <p:cNvSpPr txBox="1"/>
          <p:nvPr/>
        </p:nvSpPr>
        <p:spPr>
          <a:xfrm>
            <a:off x="9343204" y="2775138"/>
            <a:ext cx="2401778" cy="208955"/>
          </a:xfrm>
          <a:prstGeom prst="rect">
            <a:avLst/>
          </a:prstGeom>
          <a:noFill/>
          <a:effectLst/>
        </p:spPr>
        <p:txBody>
          <a:bodyPr wrap="none" lIns="0" rIns="0" tIns="0" bIns="0" anchor="t">
            <a:spAutoFit/>
          </a:bodyPr>
          <a:lstStyle/>
          <a:p>
            <a:pPr algn="l">
              <a:lnSpc>
                <a:spcPct val="100000"/>
              </a:lnSpc>
            </a:pPr>
            <a:r>
              <a:rPr sz="1134" b="0" i="0">
                <a:solidFill>
                  <a:srgbClr val="5A6B86"/>
                </a:solidFill>
                <a:latin typeface="Arial"/>
              </a:rPr>
              <a:t>has ether, wants bitcoin</a:t>
            </a:r>
          </a:p>
        </p:txBody>
      </p:sp>
      <p:sp>
        <p:nvSpPr>
          <p:cNvPr id="22" name="Rounded Rectangle 21"/>
          <p:cNvSpPr/>
          <p:nvPr/>
        </p:nvSpPr>
        <p:spPr>
          <a:xfrm>
            <a:off x="9381632" y="3340997"/>
            <a:ext cx="691712" cy="691712"/>
          </a:xfrm>
          <a:prstGeom prst="roundRect">
            <a:avLst>
              <a:gd name="adj" fmla="val 50000"/>
            </a:avLst>
          </a:prstGeom>
          <a:noFill/>
          <a:ln w="21136">
            <a:solidFill>
              <a:srgbClr val="627E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8766777" y="3620564"/>
            <a:ext cx="1921422" cy="208955"/>
          </a:xfrm>
          <a:prstGeom prst="rect">
            <a:avLst/>
          </a:prstGeom>
          <a:noFill/>
          <a:effectLst/>
        </p:spPr>
        <p:txBody>
          <a:bodyPr wrap="none" lIns="0" rIns="0" tIns="0" bIns="0" anchor="t">
            <a:spAutoFit/>
          </a:bodyPr>
          <a:lstStyle/>
          <a:p>
            <a:pPr algn="ctr">
              <a:lnSpc>
                <a:spcPct val="100000"/>
              </a:lnSpc>
            </a:pPr>
            <a:r>
              <a:rPr sz="1134" b="1" i="0">
                <a:solidFill>
                  <a:srgbClr val="14213A"/>
                </a:solidFill>
                <a:latin typeface="Arial"/>
              </a:rPr>
              <a:t>10 ETH</a:t>
            </a:r>
          </a:p>
        </p:txBody>
      </p:sp>
      <p:sp>
        <p:nvSpPr>
          <p:cNvPr id="24" name="Rounded Rectangle 23"/>
          <p:cNvSpPr/>
          <p:nvPr/>
        </p:nvSpPr>
        <p:spPr>
          <a:xfrm>
            <a:off x="10227058" y="3437068"/>
            <a:ext cx="1210496" cy="499570"/>
          </a:xfrm>
          <a:prstGeom prst="roundRect">
            <a:avLst>
              <a:gd name="adj" fmla="val 21153"/>
            </a:avLst>
          </a:prstGeom>
          <a:solidFill>
            <a:srgbClr val="EEF3FA"/>
          </a:solidFill>
          <a:ln w="11529">
            <a:solidFill>
              <a:srgbClr val="D8E0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10380772" y="3532755"/>
            <a:ext cx="1441067" cy="195024"/>
          </a:xfrm>
          <a:prstGeom prst="rect">
            <a:avLst/>
          </a:prstGeom>
          <a:noFill/>
          <a:effectLst/>
        </p:spPr>
        <p:txBody>
          <a:bodyPr wrap="none" lIns="0" rIns="0" tIns="0" bIns="0" anchor="t">
            <a:spAutoFit/>
          </a:bodyPr>
          <a:lstStyle/>
          <a:p>
            <a:pPr algn="l">
              <a:lnSpc>
                <a:spcPct val="100000"/>
              </a:lnSpc>
            </a:pPr>
            <a:r>
              <a:rPr sz="1059" b="1" i="0">
                <a:solidFill>
                  <a:srgbClr val="14213A"/>
                </a:solidFill>
                <a:latin typeface="Arial"/>
              </a:rPr>
              <a:t>Ethereum</a:t>
            </a:r>
          </a:p>
        </p:txBody>
      </p:sp>
      <p:sp>
        <p:nvSpPr>
          <p:cNvPr id="26" name="TextBox 25"/>
          <p:cNvSpPr txBox="1"/>
          <p:nvPr/>
        </p:nvSpPr>
        <p:spPr>
          <a:xfrm>
            <a:off x="10380772" y="3727683"/>
            <a:ext cx="1441067" cy="174129"/>
          </a:xfrm>
          <a:prstGeom prst="rect">
            <a:avLst/>
          </a:prstGeom>
          <a:noFill/>
          <a:effectLst/>
        </p:spPr>
        <p:txBody>
          <a:bodyPr wrap="none" lIns="0" rIns="0" tIns="0" bIns="0" anchor="t">
            <a:spAutoFit/>
          </a:bodyPr>
          <a:lstStyle/>
          <a:p>
            <a:pPr algn="l">
              <a:lnSpc>
                <a:spcPct val="100000"/>
              </a:lnSpc>
            </a:pPr>
            <a:r>
              <a:rPr sz="945" b="0" i="0">
                <a:solidFill>
                  <a:srgbClr val="5A6B86"/>
                </a:solidFill>
                <a:latin typeface="Arial"/>
              </a:rPr>
              <a:t>chain 2</a:t>
            </a:r>
          </a:p>
        </p:txBody>
      </p:sp>
      <p:sp>
        <p:nvSpPr>
          <p:cNvPr id="27" name="TextBox 26"/>
          <p:cNvSpPr txBox="1"/>
          <p:nvPr/>
        </p:nvSpPr>
        <p:spPr>
          <a:xfrm>
            <a:off x="9343204" y="4290371"/>
            <a:ext cx="2497849" cy="181094"/>
          </a:xfrm>
          <a:prstGeom prst="rect">
            <a:avLst/>
          </a:prstGeom>
          <a:noFill/>
          <a:effectLst/>
        </p:spPr>
        <p:txBody>
          <a:bodyPr wrap="none" lIns="0" rIns="0" tIns="0" bIns="0" anchor="t">
            <a:spAutoFit/>
          </a:bodyPr>
          <a:lstStyle/>
          <a:p>
            <a:pPr algn="l">
              <a:lnSpc>
                <a:spcPct val="100000"/>
              </a:lnSpc>
            </a:pPr>
            <a:r>
              <a:rPr sz="983" b="0" i="0">
                <a:solidFill>
                  <a:srgbClr val="5A6B86"/>
                </a:solidFill>
                <a:latin typeface="Arial"/>
              </a:rPr>
              <a:t>spendable only by his own key</a:t>
            </a:r>
          </a:p>
        </p:txBody>
      </p:sp>
      <p:sp>
        <p:nvSpPr>
          <p:cNvPr id="28" name="TextBox 27"/>
          <p:cNvSpPr txBox="1"/>
          <p:nvPr/>
        </p:nvSpPr>
        <p:spPr>
          <a:xfrm>
            <a:off x="3694222" y="2700971"/>
            <a:ext cx="4803556" cy="236815"/>
          </a:xfrm>
          <a:prstGeom prst="rect">
            <a:avLst/>
          </a:prstGeom>
          <a:noFill/>
          <a:effectLst/>
        </p:spPr>
        <p:txBody>
          <a:bodyPr wrap="none" lIns="0" rIns="0" tIns="0" bIns="0" anchor="t">
            <a:spAutoFit/>
          </a:bodyPr>
          <a:lstStyle/>
          <a:p>
            <a:pPr algn="ctr">
              <a:lnSpc>
                <a:spcPct val="100000"/>
              </a:lnSpc>
            </a:pPr>
            <a:r>
              <a:rPr sz="1285" b="1" i="0">
                <a:solidFill>
                  <a:srgbClr val="14213A"/>
                </a:solidFill>
                <a:latin typeface="Arial"/>
              </a:rPr>
              <a:t>Alice’s bitcoin pays Bob</a:t>
            </a:r>
          </a:p>
        </p:txBody>
      </p:sp>
      <p:cxnSp>
        <p:nvCxnSpPr>
          <p:cNvPr id="29" name="Connector 28"/>
          <p:cNvCxnSpPr/>
          <p:nvPr/>
        </p:nvCxnSpPr>
        <p:spPr>
          <a:xfrm>
            <a:off x="3367580" y="3052783"/>
            <a:ext cx="5476054" cy="0"/>
          </a:xfrm>
          <a:prstGeom prst="line">
            <a:avLst/>
          </a:prstGeom>
          <a:ln w="67250">
            <a:solidFill>
              <a:srgbClr val="F7931A"/>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a:off x="3348366" y="4244065"/>
            <a:ext cx="5476054" cy="0"/>
          </a:xfrm>
          <a:prstGeom prst="line">
            <a:avLst/>
          </a:prstGeom>
          <a:ln w="67250">
            <a:solidFill>
              <a:srgbClr val="627EEA"/>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3694222" y="4468679"/>
            <a:ext cx="4803556" cy="236815"/>
          </a:xfrm>
          <a:prstGeom prst="rect">
            <a:avLst/>
          </a:prstGeom>
          <a:noFill/>
          <a:effectLst/>
        </p:spPr>
        <p:txBody>
          <a:bodyPr wrap="none" lIns="0" rIns="0" tIns="0" bIns="0" anchor="t">
            <a:spAutoFit/>
          </a:bodyPr>
          <a:lstStyle/>
          <a:p>
            <a:pPr algn="ctr">
              <a:lnSpc>
                <a:spcPct val="100000"/>
              </a:lnSpc>
            </a:pPr>
            <a:r>
              <a:rPr sz="1285" b="1" i="0">
                <a:solidFill>
                  <a:srgbClr val="14213A"/>
                </a:solidFill>
                <a:latin typeface="Arial"/>
              </a:rPr>
              <a:t>Bob’s ether pays Alice</a:t>
            </a:r>
          </a:p>
        </p:txBody>
      </p:sp>
      <p:cxnSp>
        <p:nvCxnSpPr>
          <p:cNvPr id="32" name="Connector 31"/>
          <p:cNvCxnSpPr/>
          <p:nvPr/>
        </p:nvCxnSpPr>
        <p:spPr>
          <a:xfrm>
            <a:off x="6096000" y="3110426"/>
            <a:ext cx="0" cy="192142"/>
          </a:xfrm>
          <a:prstGeom prst="line">
            <a:avLst/>
          </a:prstGeom>
          <a:ln w="17293">
            <a:solidFill>
              <a:srgbClr val="E8590C"/>
            </a:solidFill>
            <a:prstDash val="dash"/>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6096000" y="3994280"/>
            <a:ext cx="0" cy="192142"/>
          </a:xfrm>
          <a:prstGeom prst="line">
            <a:avLst/>
          </a:prstGeom>
          <a:ln w="17293">
            <a:solidFill>
              <a:srgbClr val="E8590C"/>
            </a:solidFill>
            <a:prstDash val="dash"/>
          </a:ln>
          <a:effectLst/>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5000789" y="3302568"/>
            <a:ext cx="2190422" cy="691712"/>
          </a:xfrm>
          <a:prstGeom prst="roundRect">
            <a:avLst>
              <a:gd name="adj" fmla="val 19444"/>
            </a:avLst>
          </a:prstGeom>
          <a:solidFill>
            <a:srgbClr val="FDECE1"/>
          </a:solidFill>
          <a:ln w="17293">
            <a:solidFill>
              <a:srgbClr val="E859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5039218" y="3501147"/>
            <a:ext cx="2113565" cy="215920"/>
          </a:xfrm>
          <a:prstGeom prst="rect">
            <a:avLst/>
          </a:prstGeom>
          <a:noFill/>
          <a:effectLst/>
        </p:spPr>
        <p:txBody>
          <a:bodyPr wrap="none" lIns="0" rIns="0" tIns="0" bIns="0" anchor="t">
            <a:spAutoFit/>
          </a:bodyPr>
          <a:lstStyle/>
          <a:p>
            <a:pPr algn="ctr">
              <a:lnSpc>
                <a:spcPct val="100000"/>
              </a:lnSpc>
            </a:pPr>
            <a:r>
              <a:rPr sz="1172" b="1" i="0">
                <a:solidFill>
                  <a:srgbClr val="C2410C"/>
                </a:solidFill>
                <a:latin typeface="Arial"/>
              </a:rPr>
              <a:t>one shared secret</a:t>
            </a:r>
          </a:p>
        </p:txBody>
      </p:sp>
      <p:sp>
        <p:nvSpPr>
          <p:cNvPr id="36" name="TextBox 35"/>
          <p:cNvSpPr txBox="1"/>
          <p:nvPr/>
        </p:nvSpPr>
        <p:spPr>
          <a:xfrm>
            <a:off x="5039218" y="3709814"/>
            <a:ext cx="2113565" cy="188059"/>
          </a:xfrm>
          <a:prstGeom prst="rect">
            <a:avLst/>
          </a:prstGeom>
          <a:noFill/>
          <a:effectLst/>
        </p:spPr>
        <p:txBody>
          <a:bodyPr wrap="none" lIns="0" rIns="0" tIns="0" bIns="0" anchor="t">
            <a:spAutoFit/>
          </a:bodyPr>
          <a:lstStyle/>
          <a:p>
            <a:pPr algn="ctr">
              <a:lnSpc>
                <a:spcPct val="100000"/>
              </a:lnSpc>
            </a:pPr>
            <a:r>
              <a:rPr sz="1021" b="0" i="0">
                <a:solidFill>
                  <a:srgbClr val="C2410C"/>
                </a:solidFill>
                <a:latin typeface="Arial"/>
              </a:rPr>
              <a:t>gates both payments</a:t>
            </a:r>
          </a:p>
        </p:txBody>
      </p:sp>
      <p:sp>
        <p:nvSpPr>
          <p:cNvPr id="37" name="TextBox 36"/>
          <p:cNvSpPr txBox="1"/>
          <p:nvPr/>
        </p:nvSpPr>
        <p:spPr>
          <a:xfrm>
            <a:off x="523875" y="4815992"/>
            <a:ext cx="11144250" cy="320000"/>
          </a:xfrm>
          <a:prstGeom prst="rect">
            <a:avLst/>
          </a:prstGeom>
          <a:noFill/>
          <a:effectLst/>
        </p:spPr>
        <p:txBody>
          <a:bodyPr wrap="square" lIns="0" rIns="0" tIns="0" bIns="0" anchor="t">
            <a:spAutoFit/>
          </a:bodyPr>
          <a:lstStyle/>
          <a:p>
            <a:pPr algn="ctr">
              <a:lnSpc>
                <a:spcPct val="125000"/>
              </a:lnSpc>
            </a:pPr>
            <a:r>
              <a:rPr sz="1350" b="1" i="0">
                <a:solidFill>
                  <a:srgbClr val="14213A"/>
                </a:solidFill>
                <a:latin typeface="Arial"/>
              </a:rPr>
              <a:t>Only the holder of the secret can complete the first payment — and publishing it reveals the secret.</a:t>
            </a:r>
          </a:p>
        </p:txBody>
      </p:sp>
      <p:sp>
        <p:nvSpPr>
          <p:cNvPr id="38" name="TextBox 37"/>
          <p:cNvSpPr txBox="1"/>
          <p:nvPr/>
        </p:nvSpPr>
        <p:spPr>
          <a:xfrm>
            <a:off x="523875" y="5115992"/>
            <a:ext cx="11144250" cy="300000"/>
          </a:xfrm>
          <a:prstGeom prst="rect">
            <a:avLst/>
          </a:prstGeom>
          <a:noFill/>
          <a:effectLst/>
        </p:spPr>
        <p:txBody>
          <a:bodyPr wrap="square" lIns="0" rIns="0" tIns="0" bIns="0" anchor="t">
            <a:spAutoFit/>
          </a:bodyPr>
          <a:lstStyle/>
          <a:p>
            <a:pPr algn="ctr">
              <a:lnSpc>
                <a:spcPct val="125000"/>
              </a:lnSpc>
            </a:pPr>
            <a:r>
              <a:rPr sz="1150" b="0" i="0">
                <a:solidFill>
                  <a:srgbClr val="5A6B86"/>
                </a:solidFill>
                <a:latin typeface="Arial"/>
              </a:rPr>
              <a:t>That reveal releases the other leg — no trusted intermediary, and either both transfers happen or neither does.</a:t>
            </a:r>
          </a:p>
        </p:txBody>
      </p:sp>
      <p:sp>
        <p:nvSpPr>
          <p:cNvPr id="39" name="Rectangle 38"/>
          <p:cNvSpPr/>
          <p:nvPr/>
        </p:nvSpPr>
        <p:spPr>
          <a:xfrm>
            <a:off x="523875" y="5420000"/>
            <a:ext cx="38000" cy="620000"/>
          </a:xfrm>
          <a:prstGeom prst="rect">
            <a:avLst/>
          </a:prstGeom>
          <a:solidFill>
            <a:srgbClr val="B02A3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673875" y="5420000"/>
            <a:ext cx="10994250" cy="620000"/>
          </a:xfrm>
          <a:prstGeom prst="rect">
            <a:avLst/>
          </a:prstGeom>
          <a:noFill/>
          <a:effectLst/>
        </p:spPr>
        <p:txBody>
          <a:bodyPr wrap="square" lIns="0" rIns="0" tIns="0" bIns="0" anchor="t">
            <a:spAutoFit/>
          </a:bodyPr>
          <a:lstStyle/>
          <a:p>
            <a:pPr algn="l">
              <a:lnSpc>
                <a:spcPct val="130000"/>
              </a:lnSpc>
            </a:pPr>
            <a:r>
              <a:rPr sz="1100" b="1" i="0">
                <a:solidFill>
                  <a:srgbClr val="B02A37"/>
                </a:solidFill>
                <a:latin typeface="Arial"/>
              </a:rPr>
              <a:t>The adaptor signatures in use on blockchains today are elliptic-curve</a:t>
            </a:r>
            <a:r>
              <a:rPr sz="1100" b="0" i="0">
                <a:solidFill>
                  <a:srgbClr val="5A6B86"/>
                </a:solidFill>
                <a:latin typeface="Arial"/>
              </a:rPr>
              <a:t> — which Shor’s algorithm breaks. NIST has standardised </a:t>
            </a:r>
            <a:r>
              <a:rPr sz="1100" b="1" i="0">
                <a:solidFill>
                  <a:srgbClr val="B02A37"/>
                </a:solidFill>
                <a:latin typeface="Arial"/>
              </a:rPr>
              <a:t>basic</a:t>
            </a:r>
            <a:r>
              <a:rPr sz="1100" b="0" i="0">
                <a:solidFill>
                  <a:srgbClr val="5A6B86"/>
                </a:solidFill>
                <a:latin typeface="Arial"/>
              </a:rPr>
              <a:t> post-quantum signatures; the exotic ones </a:t>
            </a:r>
            <a:r>
              <a:rPr sz="1100" b="1" i="0">
                <a:solidFill>
                  <a:srgbClr val="B02A37"/>
                </a:solidFill>
                <a:latin typeface="Arial"/>
              </a:rPr>
              <a:t>remain unevenly implemented</a:t>
            </a:r>
            <a:r>
              <a:rPr sz="1100" b="0" i="0">
                <a:solidFill>
                  <a:srgbClr val="5A6B86"/>
                </a:solidFill>
                <a:latin typeface="Arial"/>
              </a:rPr>
              <a:t> — multi-signatures are actively being built, and that is the gap this project addresses for the adaptor case.</a:t>
            </a:r>
          </a:p>
        </p:txBody>
      </p:sp>
      <p:sp>
        <p:nvSpPr>
          <p:cNvPr id="41" name="TextBox 40"/>
          <p:cNvSpPr txBox="1"/>
          <p:nvPr/>
        </p:nvSpPr>
        <p:spPr>
          <a:xfrm>
            <a:off x="523875" y="6110000"/>
            <a:ext cx="11144250" cy="330000"/>
          </a:xfrm>
          <a:prstGeom prst="rect">
            <a:avLst/>
          </a:prstGeom>
          <a:noFill/>
          <a:effectLst/>
        </p:spPr>
        <p:txBody>
          <a:bodyPr wrap="square" lIns="0" rIns="0" tIns="0" bIns="0" anchor="t">
            <a:spAutoFit/>
          </a:bodyPr>
          <a:lstStyle/>
          <a:p>
            <a:pPr algn="l">
              <a:lnSpc>
                <a:spcPct val="125000"/>
              </a:lnSpc>
            </a:pPr>
            <a:r>
              <a:rPr sz="1500" b="1" i="0">
                <a:solidFill>
                  <a:srgbClr val="14213A"/>
                </a:solidFill>
                <a:latin typeface="Arial"/>
              </a:rPr>
              <a:t>So: </a:t>
            </a:r>
            <a:r>
              <a:rPr sz="1500" b="1" i="0">
                <a:solidFill>
                  <a:srgbClr val="C2410C"/>
                </a:solidFill>
                <a:latin typeface="Arial"/>
              </a:rPr>
              <a:t>can we build one</a:t>
            </a:r>
            <a:r>
              <a:rPr sz="1500" b="1" i="0">
                <a:solidFill>
                  <a:srgbClr val="14213A"/>
                </a:solidFill>
                <a:latin typeface="Arial"/>
              </a:rPr>
              <a:t> — </a:t>
            </a:r>
            <a:r>
              <a:rPr sz="1500" b="1" i="0">
                <a:solidFill>
                  <a:srgbClr val="C2410C"/>
                </a:solidFill>
                <a:latin typeface="Arial"/>
              </a:rPr>
              <a:t>what does it cost</a:t>
            </a:r>
            <a:r>
              <a:rPr sz="1500" b="1" i="0">
                <a:solidFill>
                  <a:srgbClr val="14213A"/>
                </a:solidFill>
                <a:latin typeface="Arial"/>
              </a:rPr>
              <a:t> — and </a:t>
            </a:r>
            <a:r>
              <a:rPr sz="1500" b="1" i="0">
                <a:solidFill>
                  <a:srgbClr val="C2410C"/>
                </a:solidFill>
                <a:latin typeface="Arial"/>
              </a:rPr>
              <a:t>will a real chain take 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11003145" y="640000"/>
            <a:ext cx="664980" cy="230000"/>
          </a:xfrm>
          <a:prstGeom prst="roundRect">
            <a:avLst>
              <a:gd name="adj" fmla="val 50000"/>
            </a:avLst>
          </a:prstGeom>
          <a:noFill/>
          <a:ln w="9525">
            <a:solidFill>
              <a:srgbClr val="D8E0EC"/>
            </a:solidFill>
          </a:ln>
          <a:effectLst/>
        </p:spPr>
        <p:style>
          <a:lnRef idx="1">
            <a:schemeClr val="accent1"/>
          </a:lnRef>
          <a:fillRef idx="3">
            <a:schemeClr val="accent1"/>
          </a:fillRef>
          <a:effectRef idx="2">
            <a:schemeClr val="accent1"/>
          </a:effectRef>
          <a:fontRef idx="minor">
            <a:schemeClr val="lt1"/>
          </a:fontRef>
        </p:style>
        <p:txBody>
          <a:bodyPr rtlCol="0" anchor="ctr" wrap="none" lIns="95000" rIns="95000" tIns="0" bIns="0"/>
          <a:lstStyle/>
          <a:p>
            <a:pPr algn="ctr">
              <a:lnSpc>
                <a:spcPct val="100000"/>
              </a:lnSpc>
            </a:pPr>
            <a:r>
              <a:rPr sz="850" b="0" i="0">
                <a:solidFill>
                  <a:srgbClr val="5A6B86"/>
                </a:solidFill>
                <a:latin typeface="Consolas"/>
              </a:rPr>
              <a:t>Takeaway</a:t>
            </a:r>
          </a:p>
        </p:txBody>
      </p:sp>
      <p:sp>
        <p:nvSpPr>
          <p:cNvPr id="3" name="Rounded Rectangle 2"/>
          <p:cNvSpPr/>
          <p:nvPr/>
        </p:nvSpPr>
        <p:spPr>
          <a:xfrm>
            <a:off x="10357538" y="640000"/>
            <a:ext cx="605608" cy="230000"/>
          </a:xfrm>
          <a:prstGeom prst="roundRect">
            <a:avLst>
              <a:gd name="adj" fmla="val 50000"/>
            </a:avLst>
          </a:prstGeom>
          <a:noFill/>
          <a:ln w="9525">
            <a:solidFill>
              <a:srgbClr val="D8E0EC"/>
            </a:solidFill>
          </a:ln>
          <a:effectLst/>
        </p:spPr>
        <p:style>
          <a:lnRef idx="1">
            <a:schemeClr val="accent1"/>
          </a:lnRef>
          <a:fillRef idx="3">
            <a:schemeClr val="accent1"/>
          </a:fillRef>
          <a:effectRef idx="2">
            <a:schemeClr val="accent1"/>
          </a:effectRef>
          <a:fontRef idx="minor">
            <a:schemeClr val="lt1"/>
          </a:fontRef>
        </p:style>
        <p:txBody>
          <a:bodyPr rtlCol="0" anchor="ctr" wrap="none" lIns="95000" rIns="95000" tIns="0" bIns="0"/>
          <a:lstStyle/>
          <a:p>
            <a:pPr algn="ctr">
              <a:lnSpc>
                <a:spcPct val="100000"/>
              </a:lnSpc>
            </a:pPr>
            <a:r>
              <a:rPr sz="850" b="0" i="0">
                <a:solidFill>
                  <a:srgbClr val="5A6B86"/>
                </a:solidFill>
                <a:latin typeface="Consolas"/>
              </a:rPr>
              <a:t>Results</a:t>
            </a:r>
          </a:p>
        </p:txBody>
      </p:sp>
      <p:sp>
        <p:nvSpPr>
          <p:cNvPr id="4" name="Rounded Rectangle 3"/>
          <p:cNvSpPr/>
          <p:nvPr/>
        </p:nvSpPr>
        <p:spPr>
          <a:xfrm>
            <a:off x="9771302" y="640000"/>
            <a:ext cx="546235" cy="230000"/>
          </a:xfrm>
          <a:prstGeom prst="roundRect">
            <a:avLst>
              <a:gd name="adj" fmla="val 50000"/>
            </a:avLst>
          </a:prstGeom>
          <a:solidFill>
            <a:srgbClr val="FDECE1"/>
          </a:solidFill>
          <a:ln w="9525">
            <a:solidFill>
              <a:srgbClr val="E8590C"/>
            </a:solidFill>
          </a:ln>
          <a:effectLst/>
        </p:spPr>
        <p:style>
          <a:lnRef idx="1">
            <a:schemeClr val="accent1"/>
          </a:lnRef>
          <a:fillRef idx="3">
            <a:schemeClr val="accent1"/>
          </a:fillRef>
          <a:effectRef idx="2">
            <a:schemeClr val="accent1"/>
          </a:effectRef>
          <a:fontRef idx="minor">
            <a:schemeClr val="lt1"/>
          </a:fontRef>
        </p:style>
        <p:txBody>
          <a:bodyPr rtlCol="0" anchor="ctr" wrap="none" lIns="95000" rIns="95000" tIns="0" bIns="0"/>
          <a:lstStyle/>
          <a:p>
            <a:pPr algn="ctr">
              <a:lnSpc>
                <a:spcPct val="100000"/>
              </a:lnSpc>
            </a:pPr>
            <a:r>
              <a:rPr sz="850" b="0" i="0">
                <a:solidFill>
                  <a:srgbClr val="C2410C"/>
                </a:solidFill>
                <a:latin typeface="Consolas"/>
              </a:rPr>
              <a:t>Method</a:t>
            </a:r>
          </a:p>
        </p:txBody>
      </p:sp>
      <p:sp>
        <p:nvSpPr>
          <p:cNvPr id="5" name="Rounded Rectangle 4"/>
          <p:cNvSpPr/>
          <p:nvPr/>
        </p:nvSpPr>
        <p:spPr>
          <a:xfrm>
            <a:off x="9363185" y="640000"/>
            <a:ext cx="368118" cy="230000"/>
          </a:xfrm>
          <a:prstGeom prst="roundRect">
            <a:avLst>
              <a:gd name="adj" fmla="val 50000"/>
            </a:avLst>
          </a:prstGeom>
          <a:noFill/>
          <a:ln w="9525">
            <a:solidFill>
              <a:srgbClr val="D8E0EC"/>
            </a:solidFill>
          </a:ln>
          <a:effectLst/>
        </p:spPr>
        <p:style>
          <a:lnRef idx="1">
            <a:schemeClr val="accent1"/>
          </a:lnRef>
          <a:fillRef idx="3">
            <a:schemeClr val="accent1"/>
          </a:fillRef>
          <a:effectRef idx="2">
            <a:schemeClr val="accent1"/>
          </a:effectRef>
          <a:fontRef idx="minor">
            <a:schemeClr val="lt1"/>
          </a:fontRef>
        </p:style>
        <p:txBody>
          <a:bodyPr rtlCol="0" anchor="ctr" wrap="none" lIns="95000" rIns="95000" tIns="0" bIns="0"/>
          <a:lstStyle/>
          <a:p>
            <a:pPr algn="ctr">
              <a:lnSpc>
                <a:spcPct val="100000"/>
              </a:lnSpc>
            </a:pPr>
            <a:r>
              <a:rPr sz="850" b="0" i="0">
                <a:solidFill>
                  <a:srgbClr val="5A6B86"/>
                </a:solidFill>
                <a:latin typeface="Consolas"/>
              </a:rPr>
              <a:t>Why</a:t>
            </a:r>
          </a:p>
        </p:txBody>
      </p:sp>
      <p:sp>
        <p:nvSpPr>
          <p:cNvPr id="6" name="TextBox 5"/>
          <p:cNvSpPr txBox="1"/>
          <p:nvPr/>
        </p:nvSpPr>
        <p:spPr>
          <a:xfrm>
            <a:off x="10768125" y="6550000"/>
            <a:ext cx="900000" cy="220000"/>
          </a:xfrm>
          <a:prstGeom prst="rect">
            <a:avLst/>
          </a:prstGeom>
          <a:noFill/>
          <a:effectLst/>
        </p:spPr>
        <p:txBody>
          <a:bodyPr wrap="square" lIns="0" rIns="0" tIns="0" bIns="0" anchor="t">
            <a:spAutoFit/>
          </a:bodyPr>
          <a:lstStyle/>
          <a:p>
            <a:pPr algn="r">
              <a:lnSpc>
                <a:spcPct val="125000"/>
              </a:lnSpc>
            </a:pPr>
            <a:r>
              <a:rPr sz="850" b="0" i="0">
                <a:solidFill>
                  <a:srgbClr val="5A6B86"/>
                </a:solidFill>
                <a:latin typeface="Consolas"/>
              </a:rPr>
              <a:t>3 / 10</a:t>
            </a:r>
          </a:p>
        </p:txBody>
      </p:sp>
      <p:sp>
        <p:nvSpPr>
          <p:cNvPr id="7" name="TextBox 6"/>
          <p:cNvSpPr txBox="1"/>
          <p:nvPr/>
        </p:nvSpPr>
        <p:spPr>
          <a:xfrm>
            <a:off x="523875" y="1295000"/>
            <a:ext cx="11144250" cy="210000"/>
          </a:xfrm>
          <a:prstGeom prst="rect">
            <a:avLst/>
          </a:prstGeom>
          <a:noFill/>
          <a:effectLst/>
        </p:spPr>
        <p:txBody>
          <a:bodyPr wrap="square" lIns="0" rIns="0" tIns="0" bIns="0" anchor="t">
            <a:spAutoFit/>
          </a:bodyPr>
          <a:lstStyle/>
          <a:p>
            <a:pPr algn="l">
              <a:lnSpc>
                <a:spcPct val="125000"/>
              </a:lnSpc>
            </a:pPr>
            <a:r>
              <a:rPr sz="950" b="0" i="0" spc="170">
                <a:solidFill>
                  <a:srgbClr val="5A6B86"/>
                </a:solidFill>
                <a:latin typeface="Consolas"/>
              </a:rPr>
              <a:t>THE MECHANISM · FOUR FUNCTIONS ADDED TO A PLAIN SIGNATURE</a:t>
            </a:r>
          </a:p>
        </p:txBody>
      </p:sp>
      <p:sp>
        <p:nvSpPr>
          <p:cNvPr id="8" name="TextBox 7"/>
          <p:cNvSpPr txBox="1"/>
          <p:nvPr/>
        </p:nvSpPr>
        <p:spPr>
          <a:xfrm>
            <a:off x="523875" y="1495000"/>
            <a:ext cx="11144250" cy="610000"/>
          </a:xfrm>
          <a:prstGeom prst="rect">
            <a:avLst/>
          </a:prstGeom>
          <a:noFill/>
          <a:effectLst/>
        </p:spPr>
        <p:txBody>
          <a:bodyPr wrap="square" lIns="0" rIns="0" tIns="0" bIns="0" anchor="b">
            <a:spAutoFit/>
          </a:bodyPr>
          <a:lstStyle/>
          <a:p>
            <a:pPr algn="l">
              <a:lnSpc>
                <a:spcPct val="108000"/>
              </a:lnSpc>
            </a:pPr>
            <a:r>
              <a:rPr sz="2200" b="1" i="0">
                <a:solidFill>
                  <a:srgbClr val="7800A2"/>
                </a:solidFill>
                <a:latin typeface="Arial"/>
              </a:rPr>
              <a:t>Publishing a signature </a:t>
            </a:r>
            <a:r>
              <a:rPr sz="2200" b="1" i="0">
                <a:solidFill>
                  <a:srgbClr val="C2410C"/>
                </a:solidFill>
                <a:latin typeface="Arial"/>
              </a:rPr>
              <a:t>leaks a secret</a:t>
            </a:r>
            <a:r>
              <a:rPr sz="2200" b="1" i="0">
                <a:solidFill>
                  <a:srgbClr val="7800A2"/>
                </a:solidFill>
                <a:latin typeface="Arial"/>
              </a:rPr>
              <a:t> — that is what makes a swap atomic</a:t>
            </a:r>
          </a:p>
        </p:txBody>
      </p:sp>
      <p:cxnSp>
        <p:nvCxnSpPr>
          <p:cNvPr id="9" name="Connector 8"/>
          <p:cNvCxnSpPr/>
          <p:nvPr/>
        </p:nvCxnSpPr>
        <p:spPr>
          <a:xfrm>
            <a:off x="523875" y="2165000"/>
            <a:ext cx="11144250" cy="0"/>
          </a:xfrm>
          <a:prstGeom prst="line">
            <a:avLst/>
          </a:prstGeom>
          <a:ln w="25400">
            <a:solidFill>
              <a:srgbClr val="660066"/>
            </a:solidFill>
            <a:prstDash val="sysDot"/>
          </a:ln>
          <a:effectLst/>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533482" y="2361071"/>
            <a:ext cx="3055062" cy="1460281"/>
          </a:xfrm>
          <a:prstGeom prst="roundRect">
            <a:avLst>
              <a:gd name="adj" fmla="val 8552"/>
            </a:avLst>
          </a:prstGeom>
          <a:solidFill>
            <a:srgbClr val="FFFFFF"/>
          </a:solidFill>
          <a:ln w="15371">
            <a:solidFill>
              <a:srgbClr val="E8590C"/>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725624" y="2550139"/>
            <a:ext cx="2401778" cy="167164"/>
          </a:xfrm>
          <a:prstGeom prst="rect">
            <a:avLst/>
          </a:prstGeom>
          <a:noFill/>
          <a:effectLst/>
        </p:spPr>
        <p:txBody>
          <a:bodyPr wrap="none" lIns="0" rIns="0" tIns="0" bIns="0" anchor="t">
            <a:spAutoFit/>
          </a:bodyPr>
          <a:lstStyle/>
          <a:p>
            <a:pPr algn="l">
              <a:lnSpc>
                <a:spcPct val="100000"/>
              </a:lnSpc>
            </a:pPr>
            <a:r>
              <a:rPr sz="907" b="1" i="0" spc="110">
                <a:solidFill>
                  <a:srgbClr val="E8590C"/>
                </a:solidFill>
                <a:latin typeface="Arial"/>
              </a:rPr>
              <a:t>1 · PRESIGN</a:t>
            </a:r>
          </a:p>
        </p:txBody>
      </p:sp>
      <p:sp>
        <p:nvSpPr>
          <p:cNvPr id="12" name="TextBox 11"/>
          <p:cNvSpPr txBox="1"/>
          <p:nvPr/>
        </p:nvSpPr>
        <p:spPr>
          <a:xfrm>
            <a:off x="725624" y="2816256"/>
            <a:ext cx="2401778" cy="236815"/>
          </a:xfrm>
          <a:prstGeom prst="rect">
            <a:avLst/>
          </a:prstGeom>
          <a:noFill/>
          <a:effectLst/>
        </p:spPr>
        <p:txBody>
          <a:bodyPr wrap="none" lIns="0" rIns="0" tIns="0" bIns="0" anchor="t">
            <a:spAutoFit/>
          </a:bodyPr>
          <a:lstStyle/>
          <a:p>
            <a:pPr algn="l">
              <a:lnSpc>
                <a:spcPct val="100000"/>
              </a:lnSpc>
            </a:pPr>
            <a:r>
              <a:rPr sz="1285" b="0" i="0">
                <a:solidFill>
                  <a:srgbClr val="14213A"/>
                </a:solidFill>
                <a:latin typeface="Consolas"/>
              </a:rPr>
              <a:t>σ̂ = (c, ẑ)</a:t>
            </a:r>
          </a:p>
        </p:txBody>
      </p:sp>
      <p:sp>
        <p:nvSpPr>
          <p:cNvPr id="13" name="TextBox 12"/>
          <p:cNvSpPr txBox="1"/>
          <p:nvPr/>
        </p:nvSpPr>
        <p:spPr>
          <a:xfrm>
            <a:off x="725624" y="3094958"/>
            <a:ext cx="2882134" cy="188059"/>
          </a:xfrm>
          <a:prstGeom prst="rect">
            <a:avLst/>
          </a:prstGeom>
          <a:noFill/>
          <a:effectLst/>
        </p:spPr>
        <p:txBody>
          <a:bodyPr wrap="none" lIns="0" rIns="0" tIns="0" bIns="0" anchor="t">
            <a:spAutoFit/>
          </a:bodyPr>
          <a:lstStyle/>
          <a:p>
            <a:pPr algn="l">
              <a:lnSpc>
                <a:spcPct val="100000"/>
              </a:lnSpc>
            </a:pPr>
            <a:r>
              <a:rPr sz="1021" b="0" i="0">
                <a:solidFill>
                  <a:srgbClr val="5A6B86"/>
                </a:solidFill>
                <a:latin typeface="Arial"/>
              </a:rPr>
              <a:t>accepted by PreVerify against Y</a:t>
            </a:r>
          </a:p>
        </p:txBody>
      </p:sp>
      <p:sp>
        <p:nvSpPr>
          <p:cNvPr id="14" name="Rounded Rectangle 13"/>
          <p:cNvSpPr/>
          <p:nvPr/>
        </p:nvSpPr>
        <p:spPr>
          <a:xfrm>
            <a:off x="725624" y="3340997"/>
            <a:ext cx="2670777" cy="345856"/>
          </a:xfrm>
          <a:prstGeom prst="roundRect">
            <a:avLst>
              <a:gd name="adj" fmla="val 25000"/>
            </a:avLst>
          </a:prstGeom>
          <a:solidFill>
            <a:srgbClr val="FDECEE"/>
          </a:solidFill>
          <a:ln w="11529">
            <a:solidFill>
              <a:srgbClr val="B02A3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60124" y="3454553"/>
            <a:ext cx="2689991" cy="181094"/>
          </a:xfrm>
          <a:prstGeom prst="rect">
            <a:avLst/>
          </a:prstGeom>
          <a:noFill/>
          <a:effectLst/>
        </p:spPr>
        <p:txBody>
          <a:bodyPr wrap="none" lIns="0" rIns="0" tIns="0" bIns="0" anchor="t">
            <a:spAutoFit/>
          </a:bodyPr>
          <a:lstStyle/>
          <a:p>
            <a:pPr algn="l">
              <a:lnSpc>
                <a:spcPct val="100000"/>
              </a:lnSpc>
            </a:pPr>
            <a:r>
              <a:rPr sz="983" b="1" i="0">
                <a:solidFill>
                  <a:srgbClr val="B02A37"/>
                </a:solidFill>
                <a:latin typeface="Arial"/>
              </a:rPr>
              <a:t>not spendable — Verify rejects it</a:t>
            </a:r>
          </a:p>
        </p:txBody>
      </p:sp>
      <p:sp>
        <p:nvSpPr>
          <p:cNvPr id="16" name="TextBox 15"/>
          <p:cNvSpPr txBox="1"/>
          <p:nvPr/>
        </p:nvSpPr>
        <p:spPr>
          <a:xfrm>
            <a:off x="3069760" y="2887733"/>
            <a:ext cx="1921422" cy="181094"/>
          </a:xfrm>
          <a:prstGeom prst="rect">
            <a:avLst/>
          </a:prstGeom>
          <a:noFill/>
          <a:effectLst/>
        </p:spPr>
        <p:txBody>
          <a:bodyPr wrap="none" lIns="0" rIns="0" tIns="0" bIns="0" anchor="t">
            <a:spAutoFit/>
          </a:bodyPr>
          <a:lstStyle/>
          <a:p>
            <a:pPr algn="ctr">
              <a:lnSpc>
                <a:spcPct val="100000"/>
              </a:lnSpc>
            </a:pPr>
            <a:r>
              <a:rPr sz="983" b="1" i="0">
                <a:solidFill>
                  <a:srgbClr val="C2410C"/>
                </a:solidFill>
                <a:latin typeface="Arial"/>
              </a:rPr>
              <a:t>+ witness y</a:t>
            </a:r>
          </a:p>
        </p:txBody>
      </p:sp>
      <p:cxnSp>
        <p:nvCxnSpPr>
          <p:cNvPr id="17" name="Connector 16"/>
          <p:cNvCxnSpPr/>
          <p:nvPr/>
        </p:nvCxnSpPr>
        <p:spPr>
          <a:xfrm>
            <a:off x="3626972" y="3168069"/>
            <a:ext cx="835819" cy="0"/>
          </a:xfrm>
          <a:prstGeom prst="line">
            <a:avLst/>
          </a:prstGeom>
          <a:ln w="24018">
            <a:solidFill>
              <a:srgbClr val="5A6B86"/>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4472398" y="2361071"/>
            <a:ext cx="3055062" cy="1460281"/>
          </a:xfrm>
          <a:prstGeom prst="roundRect">
            <a:avLst>
              <a:gd name="adj" fmla="val 8552"/>
            </a:avLst>
          </a:prstGeom>
          <a:solidFill>
            <a:srgbClr val="FFFFFF"/>
          </a:solidFill>
          <a:ln w="15371">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4664540" y="2550139"/>
            <a:ext cx="2401778" cy="167164"/>
          </a:xfrm>
          <a:prstGeom prst="rect">
            <a:avLst/>
          </a:prstGeom>
          <a:noFill/>
          <a:effectLst/>
        </p:spPr>
        <p:txBody>
          <a:bodyPr wrap="none" lIns="0" rIns="0" tIns="0" bIns="0" anchor="t">
            <a:spAutoFit/>
          </a:bodyPr>
          <a:lstStyle/>
          <a:p>
            <a:pPr algn="l">
              <a:lnSpc>
                <a:spcPct val="100000"/>
              </a:lnSpc>
            </a:pPr>
            <a:r>
              <a:rPr sz="907" b="1" i="0" spc="110">
                <a:solidFill>
                  <a:srgbClr val="1F6FEB"/>
                </a:solidFill>
                <a:latin typeface="Arial"/>
              </a:rPr>
              <a:t>2 · ADAPT</a:t>
            </a:r>
          </a:p>
        </p:txBody>
      </p:sp>
      <p:sp>
        <p:nvSpPr>
          <p:cNvPr id="20" name="TextBox 19"/>
          <p:cNvSpPr txBox="1"/>
          <p:nvPr/>
        </p:nvSpPr>
        <p:spPr>
          <a:xfrm>
            <a:off x="4664540" y="2816256"/>
            <a:ext cx="2401778" cy="236815"/>
          </a:xfrm>
          <a:prstGeom prst="rect">
            <a:avLst/>
          </a:prstGeom>
          <a:noFill/>
          <a:effectLst/>
        </p:spPr>
        <p:txBody>
          <a:bodyPr wrap="none" lIns="0" rIns="0" tIns="0" bIns="0" anchor="t">
            <a:spAutoFit/>
          </a:bodyPr>
          <a:lstStyle/>
          <a:p>
            <a:pPr algn="l">
              <a:lnSpc>
                <a:spcPct val="100000"/>
              </a:lnSpc>
            </a:pPr>
            <a:r>
              <a:rPr sz="1285" b="0" i="0">
                <a:solidFill>
                  <a:srgbClr val="14213A"/>
                </a:solidFill>
                <a:latin typeface="Consolas"/>
              </a:rPr>
              <a:t>z = ẑ + y</a:t>
            </a:r>
          </a:p>
        </p:txBody>
      </p:sp>
      <p:sp>
        <p:nvSpPr>
          <p:cNvPr id="21" name="TextBox 20"/>
          <p:cNvSpPr txBox="1"/>
          <p:nvPr/>
        </p:nvSpPr>
        <p:spPr>
          <a:xfrm>
            <a:off x="4664540" y="3094958"/>
            <a:ext cx="3074276" cy="188059"/>
          </a:xfrm>
          <a:prstGeom prst="rect">
            <a:avLst/>
          </a:prstGeom>
          <a:noFill/>
          <a:effectLst/>
        </p:spPr>
        <p:txBody>
          <a:bodyPr wrap="none" lIns="0" rIns="0" tIns="0" bIns="0" anchor="t">
            <a:spAutoFit/>
          </a:bodyPr>
          <a:lstStyle/>
          <a:p>
            <a:pPr algn="l">
              <a:lnSpc>
                <a:spcPct val="100000"/>
              </a:lnSpc>
            </a:pPr>
            <a:r>
              <a:rPr sz="1021" b="0" i="0">
                <a:solidFill>
                  <a:srgbClr val="5A6B86"/>
                </a:solidFill>
                <a:latin typeface="Arial"/>
              </a:rPr>
              <a:t>only the witness holder can do this</a:t>
            </a:r>
          </a:p>
        </p:txBody>
      </p:sp>
      <p:sp>
        <p:nvSpPr>
          <p:cNvPr id="22" name="Rounded Rectangle 21"/>
          <p:cNvSpPr/>
          <p:nvPr/>
        </p:nvSpPr>
        <p:spPr>
          <a:xfrm>
            <a:off x="4664540" y="3340997"/>
            <a:ext cx="2670777" cy="345856"/>
          </a:xfrm>
          <a:prstGeom prst="roundRect">
            <a:avLst>
              <a:gd name="adj" fmla="val 25000"/>
            </a:avLst>
          </a:prstGeom>
          <a:solidFill>
            <a:srgbClr val="E6F6EA"/>
          </a:solidFill>
          <a:ln w="11529">
            <a:solidFill>
              <a:srgbClr val="2F9E4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4799040" y="3454553"/>
            <a:ext cx="2689991" cy="181094"/>
          </a:xfrm>
          <a:prstGeom prst="rect">
            <a:avLst/>
          </a:prstGeom>
          <a:noFill/>
          <a:effectLst/>
        </p:spPr>
        <p:txBody>
          <a:bodyPr wrap="none" lIns="0" rIns="0" tIns="0" bIns="0" anchor="t">
            <a:spAutoFit/>
          </a:bodyPr>
          <a:lstStyle/>
          <a:p>
            <a:pPr algn="l">
              <a:lnSpc>
                <a:spcPct val="100000"/>
              </a:lnSpc>
            </a:pPr>
            <a:r>
              <a:rPr sz="983" b="1" i="0">
                <a:solidFill>
                  <a:srgbClr val="2F9E44"/>
                </a:solidFill>
                <a:latin typeface="Arial"/>
              </a:rPr>
              <a:t>now an ordinary signature</a:t>
            </a:r>
          </a:p>
        </p:txBody>
      </p:sp>
      <p:sp>
        <p:nvSpPr>
          <p:cNvPr id="24" name="TextBox 23"/>
          <p:cNvSpPr txBox="1"/>
          <p:nvPr/>
        </p:nvSpPr>
        <p:spPr>
          <a:xfrm>
            <a:off x="7008676" y="2887733"/>
            <a:ext cx="1921422" cy="181094"/>
          </a:xfrm>
          <a:prstGeom prst="rect">
            <a:avLst/>
          </a:prstGeom>
          <a:noFill/>
          <a:effectLst/>
        </p:spPr>
        <p:txBody>
          <a:bodyPr wrap="none" lIns="0" rIns="0" tIns="0" bIns="0" anchor="t">
            <a:spAutoFit/>
          </a:bodyPr>
          <a:lstStyle/>
          <a:p>
            <a:pPr algn="ctr">
              <a:lnSpc>
                <a:spcPct val="100000"/>
              </a:lnSpc>
            </a:pPr>
            <a:r>
              <a:rPr sz="983" b="0" i="0">
                <a:solidFill>
                  <a:srgbClr val="5A6B86"/>
                </a:solidFill>
                <a:latin typeface="Arial"/>
              </a:rPr>
              <a:t>publish</a:t>
            </a:r>
          </a:p>
        </p:txBody>
      </p:sp>
      <p:cxnSp>
        <p:nvCxnSpPr>
          <p:cNvPr id="25" name="Connector 24"/>
          <p:cNvCxnSpPr/>
          <p:nvPr/>
        </p:nvCxnSpPr>
        <p:spPr>
          <a:xfrm>
            <a:off x="7565888" y="3168069"/>
            <a:ext cx="835819" cy="0"/>
          </a:xfrm>
          <a:prstGeom prst="line">
            <a:avLst/>
          </a:prstGeom>
          <a:ln w="24018">
            <a:solidFill>
              <a:srgbClr val="5A6B86"/>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8411314" y="2361071"/>
            <a:ext cx="3055062" cy="1460281"/>
          </a:xfrm>
          <a:prstGeom prst="roundRect">
            <a:avLst>
              <a:gd name="adj" fmla="val 8552"/>
            </a:avLst>
          </a:prstGeom>
          <a:solidFill>
            <a:srgbClr val="EEF3FA"/>
          </a:solidFill>
          <a:ln w="15371">
            <a:solidFill>
              <a:srgbClr val="D8E0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8603456" y="2550139"/>
            <a:ext cx="2401778" cy="167164"/>
          </a:xfrm>
          <a:prstGeom prst="rect">
            <a:avLst/>
          </a:prstGeom>
          <a:noFill/>
          <a:effectLst/>
        </p:spPr>
        <p:txBody>
          <a:bodyPr wrap="none" lIns="0" rIns="0" tIns="0" bIns="0" anchor="t">
            <a:spAutoFit/>
          </a:bodyPr>
          <a:lstStyle/>
          <a:p>
            <a:pPr algn="l">
              <a:lnSpc>
                <a:spcPct val="100000"/>
              </a:lnSpc>
            </a:pPr>
            <a:r>
              <a:rPr sz="907" b="1" i="0" spc="110">
                <a:solidFill>
                  <a:srgbClr val="5A6B86"/>
                </a:solidFill>
                <a:latin typeface="Arial"/>
              </a:rPr>
              <a:t>3 · ON CHAIN</a:t>
            </a:r>
          </a:p>
        </p:txBody>
      </p:sp>
      <p:sp>
        <p:nvSpPr>
          <p:cNvPr id="28" name="TextBox 27"/>
          <p:cNvSpPr txBox="1"/>
          <p:nvPr/>
        </p:nvSpPr>
        <p:spPr>
          <a:xfrm>
            <a:off x="8603456" y="2816256"/>
            <a:ext cx="2401778" cy="236815"/>
          </a:xfrm>
          <a:prstGeom prst="rect">
            <a:avLst/>
          </a:prstGeom>
          <a:noFill/>
          <a:effectLst/>
        </p:spPr>
        <p:txBody>
          <a:bodyPr wrap="none" lIns="0" rIns="0" tIns="0" bIns="0" anchor="t">
            <a:spAutoFit/>
          </a:bodyPr>
          <a:lstStyle/>
          <a:p>
            <a:pPr algn="l">
              <a:lnSpc>
                <a:spcPct val="100000"/>
              </a:lnSpc>
            </a:pPr>
            <a:r>
              <a:rPr sz="1285" b="0" i="0">
                <a:solidFill>
                  <a:srgbClr val="14213A"/>
                </a:solidFill>
                <a:latin typeface="Consolas"/>
              </a:rPr>
              <a:t>σ → chain</a:t>
            </a:r>
          </a:p>
        </p:txBody>
      </p:sp>
      <p:sp>
        <p:nvSpPr>
          <p:cNvPr id="29" name="TextBox 28"/>
          <p:cNvSpPr txBox="1"/>
          <p:nvPr/>
        </p:nvSpPr>
        <p:spPr>
          <a:xfrm>
            <a:off x="8603456" y="3114173"/>
            <a:ext cx="3074276" cy="188059"/>
          </a:xfrm>
          <a:prstGeom prst="rect">
            <a:avLst/>
          </a:prstGeom>
          <a:noFill/>
          <a:effectLst/>
        </p:spPr>
        <p:txBody>
          <a:bodyPr wrap="none" lIns="0" rIns="0" tIns="0" bIns="0" anchor="t">
            <a:spAutoFit/>
          </a:bodyPr>
          <a:lstStyle/>
          <a:p>
            <a:pPr algn="l">
              <a:lnSpc>
                <a:spcPct val="100000"/>
              </a:lnSpc>
            </a:pPr>
            <a:r>
              <a:rPr sz="1021" b="0" i="0">
                <a:solidFill>
                  <a:srgbClr val="5A6B86"/>
                </a:solidFill>
                <a:latin typeface="Arial"/>
              </a:rPr>
              <a:t>it looks like an ordinary payment:</a:t>
            </a:r>
          </a:p>
        </p:txBody>
      </p:sp>
      <p:sp>
        <p:nvSpPr>
          <p:cNvPr id="30" name="TextBox 29"/>
          <p:cNvSpPr txBox="1"/>
          <p:nvPr/>
        </p:nvSpPr>
        <p:spPr>
          <a:xfrm>
            <a:off x="8603456" y="3325529"/>
            <a:ext cx="3266418" cy="188059"/>
          </a:xfrm>
          <a:prstGeom prst="rect">
            <a:avLst/>
          </a:prstGeom>
          <a:noFill/>
          <a:effectLst/>
        </p:spPr>
        <p:txBody>
          <a:bodyPr wrap="none" lIns="0" rIns="0" tIns="0" bIns="0" anchor="t">
            <a:spAutoFit/>
          </a:bodyPr>
          <a:lstStyle/>
          <a:p>
            <a:pPr algn="l">
              <a:lnSpc>
                <a:spcPct val="100000"/>
              </a:lnSpc>
            </a:pPr>
            <a:r>
              <a:rPr sz="1021" b="0" i="0">
                <a:solidFill>
                  <a:srgbClr val="5A6B86"/>
                </a:solidFill>
                <a:latin typeface="Arial"/>
              </a:rPr>
              <a:t>no shared hash lock on either chain</a:t>
            </a:r>
          </a:p>
        </p:txBody>
      </p:sp>
      <p:cxnSp>
        <p:nvCxnSpPr>
          <p:cNvPr id="31" name="Connector 30"/>
          <p:cNvCxnSpPr/>
          <p:nvPr/>
        </p:nvCxnSpPr>
        <p:spPr>
          <a:xfrm>
            <a:off x="9938845" y="3821352"/>
            <a:ext cx="0" cy="268999"/>
          </a:xfrm>
          <a:prstGeom prst="line">
            <a:avLst/>
          </a:prstGeom>
          <a:ln w="24018">
            <a:solidFill>
              <a:srgbClr val="E8590C"/>
            </a:solidFill>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a:off x="2157084" y="4090351"/>
            <a:ext cx="7781761" cy="0"/>
          </a:xfrm>
          <a:prstGeom prst="line">
            <a:avLst/>
          </a:prstGeom>
          <a:ln w="24018">
            <a:solidFill>
              <a:srgbClr val="E8590C"/>
            </a:solidFill>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2157084" y="4090351"/>
            <a:ext cx="0" cy="268999"/>
          </a:xfrm>
          <a:prstGeom prst="line">
            <a:avLst/>
          </a:prstGeom>
          <a:ln w="24018">
            <a:solidFill>
              <a:srgbClr val="E8590C"/>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2925653" y="3906087"/>
            <a:ext cx="6724978" cy="181094"/>
          </a:xfrm>
          <a:prstGeom prst="rect">
            <a:avLst/>
          </a:prstGeom>
          <a:noFill/>
          <a:effectLst/>
        </p:spPr>
        <p:txBody>
          <a:bodyPr wrap="none" lIns="0" rIns="0" tIns="0" bIns="0" anchor="t">
            <a:spAutoFit/>
          </a:bodyPr>
          <a:lstStyle/>
          <a:p>
            <a:pPr algn="ctr">
              <a:lnSpc>
                <a:spcPct val="100000"/>
              </a:lnSpc>
            </a:pPr>
            <a:r>
              <a:rPr sz="983" b="0" i="0">
                <a:solidFill>
                  <a:srgbClr val="5A6B86"/>
                </a:solidFill>
                <a:latin typeface="Arial"/>
              </a:rPr>
              <a:t>σ is public — and the counterparty already holds its own σ̂</a:t>
            </a:r>
          </a:p>
        </p:txBody>
      </p:sp>
      <p:sp>
        <p:nvSpPr>
          <p:cNvPr id="35" name="Rounded Rectangle 34"/>
          <p:cNvSpPr/>
          <p:nvPr/>
        </p:nvSpPr>
        <p:spPr>
          <a:xfrm>
            <a:off x="533482" y="4359350"/>
            <a:ext cx="5168626" cy="1229710"/>
          </a:xfrm>
          <a:prstGeom prst="roundRect">
            <a:avLst>
              <a:gd name="adj" fmla="val 10156"/>
            </a:avLst>
          </a:prstGeom>
          <a:solidFill>
            <a:srgbClr val="FDECE1"/>
          </a:solidFill>
          <a:ln w="15371">
            <a:solidFill>
              <a:srgbClr val="E859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725624" y="4548418"/>
            <a:ext cx="2401778" cy="167164"/>
          </a:xfrm>
          <a:prstGeom prst="rect">
            <a:avLst/>
          </a:prstGeom>
          <a:noFill/>
          <a:effectLst/>
        </p:spPr>
        <p:txBody>
          <a:bodyPr wrap="none" lIns="0" rIns="0" tIns="0" bIns="0" anchor="t">
            <a:spAutoFit/>
          </a:bodyPr>
          <a:lstStyle/>
          <a:p>
            <a:pPr algn="l">
              <a:lnSpc>
                <a:spcPct val="100000"/>
              </a:lnSpc>
            </a:pPr>
            <a:r>
              <a:rPr sz="907" b="1" i="0" spc="110">
                <a:solidFill>
                  <a:srgbClr val="C2410C"/>
                </a:solidFill>
                <a:latin typeface="Arial"/>
              </a:rPr>
              <a:t>4 · EXTRACT</a:t>
            </a:r>
          </a:p>
        </p:txBody>
      </p:sp>
      <p:sp>
        <p:nvSpPr>
          <p:cNvPr id="37" name="TextBox 36"/>
          <p:cNvSpPr txBox="1"/>
          <p:nvPr/>
        </p:nvSpPr>
        <p:spPr>
          <a:xfrm>
            <a:off x="725624" y="4814535"/>
            <a:ext cx="2401778" cy="236815"/>
          </a:xfrm>
          <a:prstGeom prst="rect">
            <a:avLst/>
          </a:prstGeom>
          <a:noFill/>
          <a:effectLst/>
        </p:spPr>
        <p:txBody>
          <a:bodyPr wrap="none" lIns="0" rIns="0" tIns="0" bIns="0" anchor="t">
            <a:spAutoFit/>
          </a:bodyPr>
          <a:lstStyle/>
          <a:p>
            <a:pPr algn="l">
              <a:lnSpc>
                <a:spcPct val="100000"/>
              </a:lnSpc>
            </a:pPr>
            <a:r>
              <a:rPr sz="1285" b="0" i="0">
                <a:solidFill>
                  <a:srgbClr val="14213A"/>
                </a:solidFill>
                <a:latin typeface="Consolas"/>
              </a:rPr>
              <a:t>y = z − ẑ</a:t>
            </a:r>
          </a:p>
        </p:txBody>
      </p:sp>
      <p:sp>
        <p:nvSpPr>
          <p:cNvPr id="38" name="TextBox 37"/>
          <p:cNvSpPr txBox="1"/>
          <p:nvPr/>
        </p:nvSpPr>
        <p:spPr>
          <a:xfrm>
            <a:off x="725624" y="5093238"/>
            <a:ext cx="4419272" cy="188059"/>
          </a:xfrm>
          <a:prstGeom prst="rect">
            <a:avLst/>
          </a:prstGeom>
          <a:noFill/>
          <a:effectLst/>
        </p:spPr>
        <p:txBody>
          <a:bodyPr wrap="none" lIns="0" rIns="0" tIns="0" bIns="0" anchor="t">
            <a:spAutoFit/>
          </a:bodyPr>
          <a:lstStyle/>
          <a:p>
            <a:pPr algn="l">
              <a:lnSpc>
                <a:spcPct val="100000"/>
              </a:lnSpc>
            </a:pPr>
            <a:r>
              <a:rPr sz="1021" b="0" i="0">
                <a:solidFill>
                  <a:srgbClr val="14213A"/>
                </a:solidFill>
                <a:latin typeface="Arial"/>
              </a:rPr>
              <a:t>subtract the pre-signature it already holds;</a:t>
            </a:r>
          </a:p>
        </p:txBody>
      </p:sp>
      <p:sp>
        <p:nvSpPr>
          <p:cNvPr id="39" name="TextBox 38"/>
          <p:cNvSpPr txBox="1"/>
          <p:nvPr/>
        </p:nvSpPr>
        <p:spPr>
          <a:xfrm>
            <a:off x="725624" y="5304594"/>
            <a:ext cx="4419272" cy="188059"/>
          </a:xfrm>
          <a:prstGeom prst="rect">
            <a:avLst/>
          </a:prstGeom>
          <a:noFill/>
          <a:effectLst/>
        </p:spPr>
        <p:txBody>
          <a:bodyPr wrap="none" lIns="0" rIns="0" tIns="0" bIns="0" anchor="t">
            <a:spAutoFit/>
          </a:bodyPr>
          <a:lstStyle/>
          <a:p>
            <a:pPr algn="l">
              <a:lnSpc>
                <a:spcPct val="100000"/>
              </a:lnSpc>
            </a:pPr>
            <a:r>
              <a:rPr sz="1021" b="0" i="0">
                <a:solidFill>
                  <a:srgbClr val="14213A"/>
                </a:solidFill>
                <a:latin typeface="Arial"/>
              </a:rPr>
              <a:t>the recovered y is checked against Y</a:t>
            </a:r>
          </a:p>
        </p:txBody>
      </p:sp>
      <p:cxnSp>
        <p:nvCxnSpPr>
          <p:cNvPr id="40" name="Connector 39"/>
          <p:cNvCxnSpPr/>
          <p:nvPr/>
        </p:nvCxnSpPr>
        <p:spPr>
          <a:xfrm>
            <a:off x="5740537" y="4974206"/>
            <a:ext cx="547605" cy="0"/>
          </a:xfrm>
          <a:prstGeom prst="line">
            <a:avLst/>
          </a:prstGeom>
          <a:ln w="24018">
            <a:solidFill>
              <a:srgbClr val="2F9E44"/>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1" name="Rounded Rectangle 40"/>
          <p:cNvSpPr/>
          <p:nvPr/>
        </p:nvSpPr>
        <p:spPr>
          <a:xfrm>
            <a:off x="6297749" y="4359350"/>
            <a:ext cx="5168626" cy="1229710"/>
          </a:xfrm>
          <a:prstGeom prst="roundRect">
            <a:avLst>
              <a:gd name="adj" fmla="val 10156"/>
            </a:avLst>
          </a:prstGeom>
          <a:solidFill>
            <a:srgbClr val="E6F6EA"/>
          </a:solidFill>
          <a:ln w="15371">
            <a:solidFill>
              <a:srgbClr val="2F9E4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6489892" y="4548418"/>
            <a:ext cx="2401778" cy="167164"/>
          </a:xfrm>
          <a:prstGeom prst="rect">
            <a:avLst/>
          </a:prstGeom>
          <a:noFill/>
          <a:effectLst/>
        </p:spPr>
        <p:txBody>
          <a:bodyPr wrap="none" lIns="0" rIns="0" tIns="0" bIns="0" anchor="t">
            <a:spAutoFit/>
          </a:bodyPr>
          <a:lstStyle/>
          <a:p>
            <a:pPr algn="l">
              <a:lnSpc>
                <a:spcPct val="100000"/>
              </a:lnSpc>
            </a:pPr>
            <a:r>
              <a:rPr sz="907" b="1" i="0" spc="110">
                <a:solidFill>
                  <a:srgbClr val="2F9E44"/>
                </a:solidFill>
                <a:latin typeface="Arial"/>
              </a:rPr>
              <a:t>THE OTHER LEG</a:t>
            </a:r>
          </a:p>
        </p:txBody>
      </p:sp>
      <p:sp>
        <p:nvSpPr>
          <p:cNvPr id="43" name="TextBox 42"/>
          <p:cNvSpPr txBox="1"/>
          <p:nvPr/>
        </p:nvSpPr>
        <p:spPr>
          <a:xfrm>
            <a:off x="6489892" y="4814535"/>
            <a:ext cx="4419272" cy="236815"/>
          </a:xfrm>
          <a:prstGeom prst="rect">
            <a:avLst/>
          </a:prstGeom>
          <a:noFill/>
          <a:effectLst/>
        </p:spPr>
        <p:txBody>
          <a:bodyPr wrap="none" lIns="0" rIns="0" tIns="0" bIns="0" anchor="t">
            <a:spAutoFit/>
          </a:bodyPr>
          <a:lstStyle/>
          <a:p>
            <a:pPr algn="l">
              <a:lnSpc>
                <a:spcPct val="100000"/>
              </a:lnSpc>
            </a:pPr>
            <a:r>
              <a:rPr sz="1285" b="1" i="0">
                <a:solidFill>
                  <a:srgbClr val="14213A"/>
                </a:solidFill>
                <a:latin typeface="Arial"/>
              </a:rPr>
              <a:t>settles with the same secret</a:t>
            </a:r>
          </a:p>
        </p:txBody>
      </p:sp>
      <p:sp>
        <p:nvSpPr>
          <p:cNvPr id="44" name="TextBox 43"/>
          <p:cNvSpPr txBox="1"/>
          <p:nvPr/>
        </p:nvSpPr>
        <p:spPr>
          <a:xfrm>
            <a:off x="6489892" y="5093238"/>
            <a:ext cx="4419272" cy="188059"/>
          </a:xfrm>
          <a:prstGeom prst="rect">
            <a:avLst/>
          </a:prstGeom>
          <a:noFill/>
          <a:effectLst/>
        </p:spPr>
        <p:txBody>
          <a:bodyPr wrap="none" lIns="0" rIns="0" tIns="0" bIns="0" anchor="t">
            <a:spAutoFit/>
          </a:bodyPr>
          <a:lstStyle/>
          <a:p>
            <a:pPr algn="l">
              <a:lnSpc>
                <a:spcPct val="100000"/>
              </a:lnSpc>
            </a:pPr>
            <a:r>
              <a:rPr sz="1021" b="0" i="0">
                <a:solidFill>
                  <a:srgbClr val="14213A"/>
                </a:solidFill>
                <a:latin typeface="Arial"/>
              </a:rPr>
              <a:t>y adapts the matching pre-signature,</a:t>
            </a:r>
          </a:p>
        </p:txBody>
      </p:sp>
      <p:sp>
        <p:nvSpPr>
          <p:cNvPr id="45" name="TextBox 44"/>
          <p:cNvSpPr txBox="1"/>
          <p:nvPr/>
        </p:nvSpPr>
        <p:spPr>
          <a:xfrm>
            <a:off x="6489892" y="5304594"/>
            <a:ext cx="4419272" cy="188059"/>
          </a:xfrm>
          <a:prstGeom prst="rect">
            <a:avLst/>
          </a:prstGeom>
          <a:noFill/>
          <a:effectLst/>
        </p:spPr>
        <p:txBody>
          <a:bodyPr wrap="none" lIns="0" rIns="0" tIns="0" bIns="0" anchor="t">
            <a:spAutoFit/>
          </a:bodyPr>
          <a:lstStyle/>
          <a:p>
            <a:pPr algn="l">
              <a:lnSpc>
                <a:spcPct val="100000"/>
              </a:lnSpc>
            </a:pPr>
            <a:r>
              <a:rPr sz="1021" b="0" i="0">
                <a:solidFill>
                  <a:srgbClr val="14213A"/>
                </a:solidFill>
                <a:latin typeface="Arial"/>
              </a:rPr>
              <a:t>which is then published on the other chain</a:t>
            </a:r>
          </a:p>
        </p:txBody>
      </p:sp>
      <p:sp>
        <p:nvSpPr>
          <p:cNvPr id="46" name="TextBox 45"/>
          <p:cNvSpPr txBox="1"/>
          <p:nvPr/>
        </p:nvSpPr>
        <p:spPr>
          <a:xfrm>
            <a:off x="523875" y="5900000"/>
            <a:ext cx="11144250" cy="420000"/>
          </a:xfrm>
          <a:prstGeom prst="rect">
            <a:avLst/>
          </a:prstGeom>
          <a:noFill/>
          <a:effectLst/>
        </p:spPr>
        <p:txBody>
          <a:bodyPr wrap="square" lIns="0" rIns="0" tIns="0" bIns="0" anchor="t">
            <a:spAutoFit/>
          </a:bodyPr>
          <a:lstStyle/>
          <a:p>
            <a:pPr algn="l">
              <a:lnSpc>
                <a:spcPct val="125000"/>
              </a:lnSpc>
            </a:pPr>
            <a:r>
              <a:rPr sz="1500" b="1" i="0">
                <a:solidFill>
                  <a:srgbClr val="1F6FEB"/>
                </a:solidFill>
                <a:latin typeface="Arial"/>
              </a:rPr>
              <a:t>Both legs settle, or neither does</a:t>
            </a:r>
            <a:r>
              <a:rPr sz="1500" b="1" i="0">
                <a:solidFill>
                  <a:srgbClr val="14213A"/>
                </a:solidFill>
                <a:latin typeface="Arial"/>
              </a:rPr>
              <a:t> — no trusted third party, and no shared hash lock tying the chains together.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11003145" y="640000"/>
            <a:ext cx="664980" cy="230000"/>
          </a:xfrm>
          <a:prstGeom prst="roundRect">
            <a:avLst>
              <a:gd name="adj" fmla="val 50000"/>
            </a:avLst>
          </a:prstGeom>
          <a:noFill/>
          <a:ln w="9525">
            <a:solidFill>
              <a:srgbClr val="D8E0EC"/>
            </a:solidFill>
          </a:ln>
          <a:effectLst/>
        </p:spPr>
        <p:style>
          <a:lnRef idx="1">
            <a:schemeClr val="accent1"/>
          </a:lnRef>
          <a:fillRef idx="3">
            <a:schemeClr val="accent1"/>
          </a:fillRef>
          <a:effectRef idx="2">
            <a:schemeClr val="accent1"/>
          </a:effectRef>
          <a:fontRef idx="minor">
            <a:schemeClr val="lt1"/>
          </a:fontRef>
        </p:style>
        <p:txBody>
          <a:bodyPr rtlCol="0" anchor="ctr" wrap="none" lIns="95000" rIns="95000" tIns="0" bIns="0"/>
          <a:lstStyle/>
          <a:p>
            <a:pPr algn="ctr">
              <a:lnSpc>
                <a:spcPct val="100000"/>
              </a:lnSpc>
            </a:pPr>
            <a:r>
              <a:rPr sz="850" b="0" i="0">
                <a:solidFill>
                  <a:srgbClr val="5A6B86"/>
                </a:solidFill>
                <a:latin typeface="Consolas"/>
              </a:rPr>
              <a:t>Takeaway</a:t>
            </a:r>
          </a:p>
        </p:txBody>
      </p:sp>
      <p:sp>
        <p:nvSpPr>
          <p:cNvPr id="3" name="Rounded Rectangle 2"/>
          <p:cNvSpPr/>
          <p:nvPr/>
        </p:nvSpPr>
        <p:spPr>
          <a:xfrm>
            <a:off x="10357538" y="640000"/>
            <a:ext cx="605608" cy="230000"/>
          </a:xfrm>
          <a:prstGeom prst="roundRect">
            <a:avLst>
              <a:gd name="adj" fmla="val 50000"/>
            </a:avLst>
          </a:prstGeom>
          <a:noFill/>
          <a:ln w="9525">
            <a:solidFill>
              <a:srgbClr val="D8E0EC"/>
            </a:solidFill>
          </a:ln>
          <a:effectLst/>
        </p:spPr>
        <p:style>
          <a:lnRef idx="1">
            <a:schemeClr val="accent1"/>
          </a:lnRef>
          <a:fillRef idx="3">
            <a:schemeClr val="accent1"/>
          </a:fillRef>
          <a:effectRef idx="2">
            <a:schemeClr val="accent1"/>
          </a:effectRef>
          <a:fontRef idx="minor">
            <a:schemeClr val="lt1"/>
          </a:fontRef>
        </p:style>
        <p:txBody>
          <a:bodyPr rtlCol="0" anchor="ctr" wrap="none" lIns="95000" rIns="95000" tIns="0" bIns="0"/>
          <a:lstStyle/>
          <a:p>
            <a:pPr algn="ctr">
              <a:lnSpc>
                <a:spcPct val="100000"/>
              </a:lnSpc>
            </a:pPr>
            <a:r>
              <a:rPr sz="850" b="0" i="0">
                <a:solidFill>
                  <a:srgbClr val="5A6B86"/>
                </a:solidFill>
                <a:latin typeface="Consolas"/>
              </a:rPr>
              <a:t>Results</a:t>
            </a:r>
          </a:p>
        </p:txBody>
      </p:sp>
      <p:sp>
        <p:nvSpPr>
          <p:cNvPr id="4" name="Rounded Rectangle 3"/>
          <p:cNvSpPr/>
          <p:nvPr/>
        </p:nvSpPr>
        <p:spPr>
          <a:xfrm>
            <a:off x="9771302" y="640000"/>
            <a:ext cx="546235" cy="230000"/>
          </a:xfrm>
          <a:prstGeom prst="roundRect">
            <a:avLst>
              <a:gd name="adj" fmla="val 50000"/>
            </a:avLst>
          </a:prstGeom>
          <a:solidFill>
            <a:srgbClr val="FDECE1"/>
          </a:solidFill>
          <a:ln w="9525">
            <a:solidFill>
              <a:srgbClr val="E8590C"/>
            </a:solidFill>
          </a:ln>
          <a:effectLst/>
        </p:spPr>
        <p:style>
          <a:lnRef idx="1">
            <a:schemeClr val="accent1"/>
          </a:lnRef>
          <a:fillRef idx="3">
            <a:schemeClr val="accent1"/>
          </a:fillRef>
          <a:effectRef idx="2">
            <a:schemeClr val="accent1"/>
          </a:effectRef>
          <a:fontRef idx="minor">
            <a:schemeClr val="lt1"/>
          </a:fontRef>
        </p:style>
        <p:txBody>
          <a:bodyPr rtlCol="0" anchor="ctr" wrap="none" lIns="95000" rIns="95000" tIns="0" bIns="0"/>
          <a:lstStyle/>
          <a:p>
            <a:pPr algn="ctr">
              <a:lnSpc>
                <a:spcPct val="100000"/>
              </a:lnSpc>
            </a:pPr>
            <a:r>
              <a:rPr sz="850" b="0" i="0">
                <a:solidFill>
                  <a:srgbClr val="C2410C"/>
                </a:solidFill>
                <a:latin typeface="Consolas"/>
              </a:rPr>
              <a:t>Method</a:t>
            </a:r>
          </a:p>
        </p:txBody>
      </p:sp>
      <p:sp>
        <p:nvSpPr>
          <p:cNvPr id="5" name="Rounded Rectangle 4"/>
          <p:cNvSpPr/>
          <p:nvPr/>
        </p:nvSpPr>
        <p:spPr>
          <a:xfrm>
            <a:off x="9363185" y="640000"/>
            <a:ext cx="368118" cy="230000"/>
          </a:xfrm>
          <a:prstGeom prst="roundRect">
            <a:avLst>
              <a:gd name="adj" fmla="val 50000"/>
            </a:avLst>
          </a:prstGeom>
          <a:noFill/>
          <a:ln w="9525">
            <a:solidFill>
              <a:srgbClr val="D8E0EC"/>
            </a:solidFill>
          </a:ln>
          <a:effectLst/>
        </p:spPr>
        <p:style>
          <a:lnRef idx="1">
            <a:schemeClr val="accent1"/>
          </a:lnRef>
          <a:fillRef idx="3">
            <a:schemeClr val="accent1"/>
          </a:fillRef>
          <a:effectRef idx="2">
            <a:schemeClr val="accent1"/>
          </a:effectRef>
          <a:fontRef idx="minor">
            <a:schemeClr val="lt1"/>
          </a:fontRef>
        </p:style>
        <p:txBody>
          <a:bodyPr rtlCol="0" anchor="ctr" wrap="none" lIns="95000" rIns="95000" tIns="0" bIns="0"/>
          <a:lstStyle/>
          <a:p>
            <a:pPr algn="ctr">
              <a:lnSpc>
                <a:spcPct val="100000"/>
              </a:lnSpc>
            </a:pPr>
            <a:r>
              <a:rPr sz="850" b="0" i="0">
                <a:solidFill>
                  <a:srgbClr val="5A6B86"/>
                </a:solidFill>
                <a:latin typeface="Consolas"/>
              </a:rPr>
              <a:t>Why</a:t>
            </a:r>
          </a:p>
        </p:txBody>
      </p:sp>
      <p:sp>
        <p:nvSpPr>
          <p:cNvPr id="6" name="TextBox 5"/>
          <p:cNvSpPr txBox="1"/>
          <p:nvPr/>
        </p:nvSpPr>
        <p:spPr>
          <a:xfrm>
            <a:off x="10768125" y="6550000"/>
            <a:ext cx="900000" cy="220000"/>
          </a:xfrm>
          <a:prstGeom prst="rect">
            <a:avLst/>
          </a:prstGeom>
          <a:noFill/>
          <a:effectLst/>
        </p:spPr>
        <p:txBody>
          <a:bodyPr wrap="square" lIns="0" rIns="0" tIns="0" bIns="0" anchor="t">
            <a:spAutoFit/>
          </a:bodyPr>
          <a:lstStyle/>
          <a:p>
            <a:pPr algn="r">
              <a:lnSpc>
                <a:spcPct val="125000"/>
              </a:lnSpc>
            </a:pPr>
            <a:r>
              <a:rPr sz="850" b="0" i="0">
                <a:solidFill>
                  <a:srgbClr val="5A6B86"/>
                </a:solidFill>
                <a:latin typeface="Consolas"/>
              </a:rPr>
              <a:t>4 / 10</a:t>
            </a:r>
          </a:p>
        </p:txBody>
      </p:sp>
      <p:sp>
        <p:nvSpPr>
          <p:cNvPr id="7" name="TextBox 6"/>
          <p:cNvSpPr txBox="1"/>
          <p:nvPr/>
        </p:nvSpPr>
        <p:spPr>
          <a:xfrm>
            <a:off x="523875" y="1295000"/>
            <a:ext cx="11144250" cy="210000"/>
          </a:xfrm>
          <a:prstGeom prst="rect">
            <a:avLst/>
          </a:prstGeom>
          <a:noFill/>
          <a:effectLst/>
        </p:spPr>
        <p:txBody>
          <a:bodyPr wrap="square" lIns="0" rIns="0" tIns="0" bIns="0" anchor="t">
            <a:spAutoFit/>
          </a:bodyPr>
          <a:lstStyle/>
          <a:p>
            <a:pPr algn="l">
              <a:lnSpc>
                <a:spcPct val="125000"/>
              </a:lnSpc>
            </a:pPr>
            <a:r>
              <a:rPr sz="950" b="0" i="0" spc="170">
                <a:solidFill>
                  <a:srgbClr val="5A6B86"/>
                </a:solidFill>
                <a:latin typeface="Consolas"/>
              </a:rPr>
              <a:t>THE METHOD · HOW A BASIC SIGNATURE BECOMES AN ADAPTOR SIGNATURE</a:t>
            </a:r>
          </a:p>
        </p:txBody>
      </p:sp>
      <p:sp>
        <p:nvSpPr>
          <p:cNvPr id="8" name="TextBox 7"/>
          <p:cNvSpPr txBox="1"/>
          <p:nvPr/>
        </p:nvSpPr>
        <p:spPr>
          <a:xfrm>
            <a:off x="523875" y="1495000"/>
            <a:ext cx="11144250" cy="610000"/>
          </a:xfrm>
          <a:prstGeom prst="rect">
            <a:avLst/>
          </a:prstGeom>
          <a:noFill/>
          <a:effectLst/>
        </p:spPr>
        <p:txBody>
          <a:bodyPr wrap="square" lIns="0" rIns="0" tIns="0" bIns="0" anchor="b">
            <a:spAutoFit/>
          </a:bodyPr>
          <a:lstStyle/>
          <a:p>
            <a:pPr algn="l">
              <a:lnSpc>
                <a:spcPct val="108000"/>
              </a:lnSpc>
            </a:pPr>
            <a:r>
              <a:rPr sz="2200" b="1" i="0">
                <a:solidFill>
                  <a:srgbClr val="7800A2"/>
                </a:solidFill>
                <a:latin typeface="Arial"/>
              </a:rPr>
              <a:t>One substitution in the challenge hash — </a:t>
            </a:r>
            <a:r>
              <a:rPr sz="2200" b="1" i="0">
                <a:solidFill>
                  <a:srgbClr val="C2410C"/>
                </a:solidFill>
                <a:latin typeface="Arial"/>
              </a:rPr>
              <a:t>everything else is reuse</a:t>
            </a:r>
          </a:p>
        </p:txBody>
      </p:sp>
      <p:cxnSp>
        <p:nvCxnSpPr>
          <p:cNvPr id="9" name="Connector 8"/>
          <p:cNvCxnSpPr/>
          <p:nvPr/>
        </p:nvCxnSpPr>
        <p:spPr>
          <a:xfrm>
            <a:off x="523875" y="2165000"/>
            <a:ext cx="11144250" cy="0"/>
          </a:xfrm>
          <a:prstGeom prst="line">
            <a:avLst/>
          </a:prstGeom>
          <a:ln w="25400">
            <a:solidFill>
              <a:srgbClr val="660066"/>
            </a:solidFill>
            <a:prstDash val="sysDot"/>
          </a:ln>
          <a:effectLst/>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533482" y="2361071"/>
            <a:ext cx="6724978" cy="768569"/>
          </a:xfrm>
          <a:prstGeom prst="roundRect">
            <a:avLst>
              <a:gd name="adj" fmla="val 11250"/>
            </a:avLst>
          </a:prstGeom>
          <a:solidFill>
            <a:srgbClr val="FDECE1"/>
          </a:solidFill>
          <a:ln w="17293">
            <a:solidFill>
              <a:srgbClr val="E859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735231" y="2492496"/>
            <a:ext cx="3842845" cy="167164"/>
          </a:xfrm>
          <a:prstGeom prst="rect">
            <a:avLst/>
          </a:prstGeom>
          <a:noFill/>
          <a:effectLst/>
        </p:spPr>
        <p:txBody>
          <a:bodyPr wrap="none" lIns="0" rIns="0" tIns="0" bIns="0" anchor="t">
            <a:spAutoFit/>
          </a:bodyPr>
          <a:lstStyle/>
          <a:p>
            <a:pPr algn="l">
              <a:lnSpc>
                <a:spcPct val="100000"/>
              </a:lnSpc>
            </a:pPr>
            <a:r>
              <a:rPr sz="907" b="1" i="0" spc="100">
                <a:solidFill>
                  <a:srgbClr val="E8590C"/>
                </a:solidFill>
                <a:latin typeface="Arial"/>
              </a:rPr>
              <a:t>NEW — THE ADAPTOR LAYER</a:t>
            </a:r>
          </a:p>
        </p:txBody>
      </p:sp>
      <p:sp>
        <p:nvSpPr>
          <p:cNvPr id="12" name="TextBox 11"/>
          <p:cNvSpPr txBox="1"/>
          <p:nvPr/>
        </p:nvSpPr>
        <p:spPr>
          <a:xfrm>
            <a:off x="735231" y="2692709"/>
            <a:ext cx="5379983" cy="250746"/>
          </a:xfrm>
          <a:prstGeom prst="rect">
            <a:avLst/>
          </a:prstGeom>
          <a:noFill/>
          <a:effectLst/>
        </p:spPr>
        <p:txBody>
          <a:bodyPr wrap="none" lIns="0" rIns="0" tIns="0" bIns="0" anchor="t">
            <a:spAutoFit/>
          </a:bodyPr>
          <a:lstStyle/>
          <a:p>
            <a:pPr algn="l">
              <a:lnSpc>
                <a:spcPct val="100000"/>
              </a:lnSpc>
            </a:pPr>
            <a:r>
              <a:rPr sz="1361" b="1" i="0">
                <a:solidFill>
                  <a:srgbClr val="14213A"/>
                </a:solidFill>
                <a:latin typeface="Arial"/>
              </a:rPr>
              <a:t>PreSign · PreVerify · Adapt · Extract</a:t>
            </a:r>
          </a:p>
        </p:txBody>
      </p:sp>
      <p:sp>
        <p:nvSpPr>
          <p:cNvPr id="13" name="TextBox 12"/>
          <p:cNvSpPr txBox="1"/>
          <p:nvPr/>
        </p:nvSpPr>
        <p:spPr>
          <a:xfrm>
            <a:off x="735231" y="2926161"/>
            <a:ext cx="6340694" cy="181094"/>
          </a:xfrm>
          <a:prstGeom prst="rect">
            <a:avLst/>
          </a:prstGeom>
          <a:noFill/>
          <a:effectLst/>
        </p:spPr>
        <p:txBody>
          <a:bodyPr wrap="none" lIns="0" rIns="0" tIns="0" bIns="0" anchor="t">
            <a:spAutoFit/>
          </a:bodyPr>
          <a:lstStyle/>
          <a:p>
            <a:pPr algn="l">
              <a:lnSpc>
                <a:spcPct val="100000"/>
              </a:lnSpc>
            </a:pPr>
            <a:r>
              <a:rPr sz="983" b="0" i="0">
                <a:solidFill>
                  <a:srgbClr val="5A6B86"/>
                </a:solidFill>
                <a:latin typeface="Arial"/>
              </a:rPr>
              <a:t>+ byte-level wire encoding, the tests, and the atomic-swap application</a:t>
            </a:r>
          </a:p>
        </p:txBody>
      </p:sp>
      <p:sp>
        <p:nvSpPr>
          <p:cNvPr id="14" name="Rounded Rectangle 13"/>
          <p:cNvSpPr/>
          <p:nvPr/>
        </p:nvSpPr>
        <p:spPr>
          <a:xfrm>
            <a:off x="533482" y="3244925"/>
            <a:ext cx="6724978" cy="672498"/>
          </a:xfrm>
          <a:prstGeom prst="roundRect">
            <a:avLst>
              <a:gd name="adj" fmla="val 12857"/>
            </a:avLst>
          </a:prstGeom>
          <a:solidFill>
            <a:srgbClr val="E8F1FF"/>
          </a:solidFill>
          <a:ln w="17293">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735231" y="3376351"/>
            <a:ext cx="3842845" cy="167164"/>
          </a:xfrm>
          <a:prstGeom prst="rect">
            <a:avLst/>
          </a:prstGeom>
          <a:noFill/>
          <a:effectLst/>
        </p:spPr>
        <p:txBody>
          <a:bodyPr wrap="none" lIns="0" rIns="0" tIns="0" bIns="0" anchor="t">
            <a:spAutoFit/>
          </a:bodyPr>
          <a:lstStyle/>
          <a:p>
            <a:pPr algn="l">
              <a:lnSpc>
                <a:spcPct val="100000"/>
              </a:lnSpc>
            </a:pPr>
            <a:r>
              <a:rPr sz="907" b="1" i="0" spc="100">
                <a:solidFill>
                  <a:srgbClr val="1F6FEB"/>
                </a:solidFill>
                <a:latin typeface="Arial"/>
              </a:rPr>
              <a:t>SIMPLIFIED BASE SIGNATURE</a:t>
            </a:r>
          </a:p>
        </p:txBody>
      </p:sp>
      <p:sp>
        <p:nvSpPr>
          <p:cNvPr id="16" name="TextBox 15"/>
          <p:cNvSpPr txBox="1"/>
          <p:nvPr/>
        </p:nvSpPr>
        <p:spPr>
          <a:xfrm>
            <a:off x="735231" y="3576563"/>
            <a:ext cx="4803556" cy="250746"/>
          </a:xfrm>
          <a:prstGeom prst="rect">
            <a:avLst/>
          </a:prstGeom>
          <a:noFill/>
          <a:effectLst/>
        </p:spPr>
        <p:txBody>
          <a:bodyPr wrap="none" lIns="0" rIns="0" tIns="0" bIns="0" anchor="t">
            <a:spAutoFit/>
          </a:bodyPr>
          <a:lstStyle/>
          <a:p>
            <a:pPr algn="l">
              <a:lnSpc>
                <a:spcPct val="100000"/>
              </a:lnSpc>
            </a:pPr>
            <a:r>
              <a:rPr sz="1361" b="1" i="0">
                <a:solidFill>
                  <a:srgbClr val="14213A"/>
                </a:solidFill>
                <a:latin typeface="Arial"/>
              </a:rPr>
              <a:t>KeyGen · Sign · Verify</a:t>
            </a:r>
          </a:p>
        </p:txBody>
      </p:sp>
      <p:sp>
        <p:nvSpPr>
          <p:cNvPr id="17" name="Rounded Rectangle 16"/>
          <p:cNvSpPr/>
          <p:nvPr/>
        </p:nvSpPr>
        <p:spPr>
          <a:xfrm>
            <a:off x="533482" y="4032709"/>
            <a:ext cx="6724978" cy="672498"/>
          </a:xfrm>
          <a:prstGeom prst="roundRect">
            <a:avLst>
              <a:gd name="adj" fmla="val 12857"/>
            </a:avLst>
          </a:prstGeom>
          <a:solidFill>
            <a:srgbClr val="EEF3FA"/>
          </a:solidFill>
          <a:ln w="14411">
            <a:solidFill>
              <a:srgbClr val="5A6B8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735231" y="4164134"/>
            <a:ext cx="5379983" cy="167164"/>
          </a:xfrm>
          <a:prstGeom prst="rect">
            <a:avLst/>
          </a:prstGeom>
          <a:noFill/>
          <a:effectLst/>
        </p:spPr>
        <p:txBody>
          <a:bodyPr wrap="none" lIns="0" rIns="0" tIns="0" bIns="0" anchor="t">
            <a:spAutoFit/>
          </a:bodyPr>
          <a:lstStyle/>
          <a:p>
            <a:pPr algn="l">
              <a:lnSpc>
                <a:spcPct val="100000"/>
              </a:lnSpc>
            </a:pPr>
            <a:r>
              <a:rPr sz="907" b="1" i="0" spc="100">
                <a:solidFill>
                  <a:srgbClr val="5A6B86"/>
                </a:solidFill>
                <a:latin typeface="Arial"/>
              </a:rPr>
              <a:t>REUSED UNCHANGED — CRYSTALS-Dilithium reference</a:t>
            </a:r>
          </a:p>
        </p:txBody>
      </p:sp>
      <p:sp>
        <p:nvSpPr>
          <p:cNvPr id="19" name="TextBox 18"/>
          <p:cNvSpPr txBox="1"/>
          <p:nvPr/>
        </p:nvSpPr>
        <p:spPr>
          <a:xfrm>
            <a:off x="735231" y="4364346"/>
            <a:ext cx="5956409" cy="250746"/>
          </a:xfrm>
          <a:prstGeom prst="rect">
            <a:avLst/>
          </a:prstGeom>
          <a:noFill/>
          <a:effectLst/>
        </p:spPr>
        <p:txBody>
          <a:bodyPr wrap="none" lIns="0" rIns="0" tIns="0" bIns="0" anchor="t">
            <a:spAutoFit/>
          </a:bodyPr>
          <a:lstStyle/>
          <a:p>
            <a:pPr algn="l">
              <a:lnSpc>
                <a:spcPct val="100000"/>
              </a:lnSpc>
            </a:pPr>
            <a:r>
              <a:rPr sz="1361" b="1" i="0">
                <a:solidFill>
                  <a:srgbClr val="14213A"/>
                </a:solidFill>
                <a:latin typeface="Arial"/>
              </a:rPr>
              <a:t>NTT · polynomial arithmetic · SHAKE · sampling</a:t>
            </a:r>
          </a:p>
        </p:txBody>
      </p:sp>
      <p:sp>
        <p:nvSpPr>
          <p:cNvPr id="20" name="TextBox 19"/>
          <p:cNvSpPr txBox="1"/>
          <p:nvPr/>
        </p:nvSpPr>
        <p:spPr>
          <a:xfrm>
            <a:off x="735231" y="4862667"/>
            <a:ext cx="6724978" cy="188059"/>
          </a:xfrm>
          <a:prstGeom prst="rect">
            <a:avLst/>
          </a:prstGeom>
          <a:noFill/>
          <a:effectLst/>
        </p:spPr>
        <p:txBody>
          <a:bodyPr wrap="none" lIns="0" rIns="0" tIns="0" bIns="0" anchor="t">
            <a:spAutoFit/>
          </a:bodyPr>
          <a:lstStyle/>
          <a:p>
            <a:pPr algn="l">
              <a:lnSpc>
                <a:spcPct val="100000"/>
              </a:lnSpc>
            </a:pPr>
            <a:r>
              <a:rPr sz="1021" b="0" i="0">
                <a:solidFill>
                  <a:srgbClr val="5A6B86"/>
                </a:solidFill>
                <a:latin typeface="Arial"/>
              </a:rPr>
              <a:t>zero upstream functions modified — shown by a two-branch diff, not asserted</a:t>
            </a:r>
          </a:p>
        </p:txBody>
      </p:sp>
      <p:cxnSp>
        <p:nvCxnSpPr>
          <p:cNvPr id="21" name="Connector 20"/>
          <p:cNvCxnSpPr/>
          <p:nvPr/>
        </p:nvCxnSpPr>
        <p:spPr>
          <a:xfrm flipH="1">
            <a:off x="7268068" y="2745356"/>
            <a:ext cx="518784" cy="0"/>
          </a:xfrm>
          <a:prstGeom prst="line">
            <a:avLst/>
          </a:prstGeom>
          <a:ln w="24018">
            <a:solidFill>
              <a:srgbClr val="E8590C"/>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96459" y="2361071"/>
            <a:ext cx="3862059" cy="2344135"/>
          </a:xfrm>
          <a:prstGeom prst="roundRect">
            <a:avLst>
              <a:gd name="adj" fmla="val 4508"/>
            </a:avLst>
          </a:prstGeom>
          <a:solidFill>
            <a:srgbClr val="FDECE1"/>
          </a:solidFill>
          <a:ln w="15371">
            <a:solidFill>
              <a:srgbClr val="E8590C"/>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8007815" y="2511711"/>
            <a:ext cx="3650703" cy="167164"/>
          </a:xfrm>
          <a:prstGeom prst="rect">
            <a:avLst/>
          </a:prstGeom>
          <a:noFill/>
          <a:effectLst/>
        </p:spPr>
        <p:txBody>
          <a:bodyPr wrap="none" lIns="0" rIns="0" tIns="0" bIns="0" anchor="t">
            <a:spAutoFit/>
          </a:bodyPr>
          <a:lstStyle/>
          <a:p>
            <a:pPr algn="l">
              <a:lnSpc>
                <a:spcPct val="100000"/>
              </a:lnSpc>
            </a:pPr>
            <a:r>
              <a:rPr sz="907" b="1" i="0" spc="100">
                <a:solidFill>
                  <a:srgbClr val="C2410C"/>
                </a:solidFill>
                <a:latin typeface="Arial"/>
              </a:rPr>
              <a:t>THE ONE SUBSTITUTION</a:t>
            </a:r>
          </a:p>
        </p:txBody>
      </p:sp>
      <p:sp>
        <p:nvSpPr>
          <p:cNvPr id="24" name="TextBox 23"/>
          <p:cNvSpPr txBox="1"/>
          <p:nvPr/>
        </p:nvSpPr>
        <p:spPr>
          <a:xfrm>
            <a:off x="8007815" y="2817697"/>
            <a:ext cx="1152853" cy="201990"/>
          </a:xfrm>
          <a:prstGeom prst="rect">
            <a:avLst/>
          </a:prstGeom>
          <a:noFill/>
          <a:effectLst/>
        </p:spPr>
        <p:txBody>
          <a:bodyPr wrap="none" lIns="0" rIns="0" tIns="0" bIns="0" anchor="t">
            <a:spAutoFit/>
          </a:bodyPr>
          <a:lstStyle/>
          <a:p>
            <a:pPr algn="l">
              <a:lnSpc>
                <a:spcPct val="100000"/>
              </a:lnSpc>
            </a:pPr>
            <a:r>
              <a:rPr sz="1096" b="0" i="0">
                <a:solidFill>
                  <a:srgbClr val="5A6B86"/>
                </a:solidFill>
                <a:latin typeface="Consolas"/>
              </a:rPr>
              <a:t>Sign</a:t>
            </a:r>
          </a:p>
        </p:txBody>
      </p:sp>
      <p:sp>
        <p:nvSpPr>
          <p:cNvPr id="25" name="TextBox 24"/>
          <p:cNvSpPr txBox="1"/>
          <p:nvPr/>
        </p:nvSpPr>
        <p:spPr>
          <a:xfrm>
            <a:off x="8709134" y="2817697"/>
            <a:ext cx="2882134" cy="201990"/>
          </a:xfrm>
          <a:prstGeom prst="rect">
            <a:avLst/>
          </a:prstGeom>
          <a:noFill/>
          <a:effectLst/>
        </p:spPr>
        <p:txBody>
          <a:bodyPr wrap="none" lIns="0" rIns="0" tIns="0" bIns="0" anchor="t">
            <a:spAutoFit/>
          </a:bodyPr>
          <a:lstStyle/>
          <a:p>
            <a:pPr algn="l">
              <a:lnSpc>
                <a:spcPct val="100000"/>
              </a:lnSpc>
            </a:pPr>
            <a:r>
              <a:rPr sz="1096" b="0" i="0">
                <a:solidFill>
                  <a:srgbClr val="14213A"/>
                </a:solidFill>
                <a:latin typeface="Consolas"/>
              </a:rPr>
              <a:t>c = H(pk, w, M)</a:t>
            </a:r>
          </a:p>
        </p:txBody>
      </p:sp>
      <p:sp>
        <p:nvSpPr>
          <p:cNvPr id="26" name="TextBox 25"/>
          <p:cNvSpPr txBox="1"/>
          <p:nvPr/>
        </p:nvSpPr>
        <p:spPr>
          <a:xfrm>
            <a:off x="8007815" y="3067482"/>
            <a:ext cx="1152853" cy="201990"/>
          </a:xfrm>
          <a:prstGeom prst="rect">
            <a:avLst/>
          </a:prstGeom>
          <a:noFill/>
          <a:effectLst/>
        </p:spPr>
        <p:txBody>
          <a:bodyPr wrap="none" lIns="0" rIns="0" tIns="0" bIns="0" anchor="t">
            <a:spAutoFit/>
          </a:bodyPr>
          <a:lstStyle/>
          <a:p>
            <a:pPr algn="l">
              <a:lnSpc>
                <a:spcPct val="100000"/>
              </a:lnSpc>
            </a:pPr>
            <a:r>
              <a:rPr sz="1096" b="0" i="0">
                <a:solidFill>
                  <a:srgbClr val="5A6B86"/>
                </a:solidFill>
                <a:latin typeface="Consolas"/>
              </a:rPr>
              <a:t>PreSign</a:t>
            </a:r>
          </a:p>
        </p:txBody>
      </p:sp>
      <p:sp>
        <p:nvSpPr>
          <p:cNvPr id="27" name="TextBox 26"/>
          <p:cNvSpPr txBox="1"/>
          <p:nvPr/>
        </p:nvSpPr>
        <p:spPr>
          <a:xfrm>
            <a:off x="8709134" y="3067482"/>
            <a:ext cx="2882134" cy="201990"/>
          </a:xfrm>
          <a:prstGeom prst="rect">
            <a:avLst/>
          </a:prstGeom>
          <a:noFill/>
          <a:effectLst/>
        </p:spPr>
        <p:txBody>
          <a:bodyPr wrap="none" lIns="0" rIns="0" tIns="0" bIns="0" anchor="t">
            <a:spAutoFit/>
          </a:bodyPr>
          <a:lstStyle/>
          <a:p>
            <a:pPr algn="l">
              <a:lnSpc>
                <a:spcPct val="100000"/>
              </a:lnSpc>
            </a:pPr>
            <a:r>
              <a:rPr sz="1096" b="0" i="0">
                <a:solidFill>
                  <a:srgbClr val="14213A"/>
                </a:solidFill>
                <a:latin typeface="Consolas"/>
              </a:rPr>
              <a:t>c = H(pk, w + Y, M)</a:t>
            </a:r>
          </a:p>
        </p:txBody>
      </p:sp>
      <p:sp>
        <p:nvSpPr>
          <p:cNvPr id="28" name="TextBox 27"/>
          <p:cNvSpPr txBox="1"/>
          <p:nvPr/>
        </p:nvSpPr>
        <p:spPr>
          <a:xfrm>
            <a:off x="8709134" y="3295363"/>
            <a:ext cx="3074276" cy="174129"/>
          </a:xfrm>
          <a:prstGeom prst="rect">
            <a:avLst/>
          </a:prstGeom>
          <a:noFill/>
          <a:effectLst/>
        </p:spPr>
        <p:txBody>
          <a:bodyPr wrap="none" lIns="0" rIns="0" tIns="0" bIns="0" anchor="t">
            <a:spAutoFit/>
          </a:bodyPr>
          <a:lstStyle/>
          <a:p>
            <a:pPr algn="l">
              <a:lnSpc>
                <a:spcPct val="100000"/>
              </a:lnSpc>
            </a:pPr>
            <a:r>
              <a:rPr sz="945" b="1" i="0">
                <a:solidFill>
                  <a:srgbClr val="C2410C"/>
                </a:solidFill>
                <a:latin typeface="Arial"/>
              </a:rPr>
              <a:t>↑ the statement, folded into the challenge</a:t>
            </a:r>
          </a:p>
        </p:txBody>
      </p:sp>
      <p:cxnSp>
        <p:nvCxnSpPr>
          <p:cNvPr id="29" name="Connector 28"/>
          <p:cNvCxnSpPr/>
          <p:nvPr/>
        </p:nvCxnSpPr>
        <p:spPr>
          <a:xfrm>
            <a:off x="8007815" y="3571567"/>
            <a:ext cx="3439346" cy="0"/>
          </a:xfrm>
          <a:prstGeom prst="line">
            <a:avLst/>
          </a:prstGeom>
          <a:ln w="9607">
            <a:solidFill>
              <a:srgbClr val="E8590C"/>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8007815" y="3694730"/>
            <a:ext cx="3266418" cy="181094"/>
          </a:xfrm>
          <a:prstGeom prst="rect">
            <a:avLst/>
          </a:prstGeom>
          <a:noFill/>
          <a:effectLst/>
        </p:spPr>
        <p:txBody>
          <a:bodyPr wrap="none" lIns="0" rIns="0" tIns="0" bIns="0" anchor="t">
            <a:spAutoFit/>
          </a:bodyPr>
          <a:lstStyle/>
          <a:p>
            <a:pPr algn="l">
              <a:lnSpc>
                <a:spcPct val="100000"/>
              </a:lnSpc>
            </a:pPr>
            <a:r>
              <a:rPr sz="983" b="0" i="0">
                <a:solidFill>
                  <a:srgbClr val="5A6B86"/>
                </a:solidFill>
                <a:latin typeface="Arial"/>
              </a:rPr>
              <a:t>H is instantiated in two steps:</a:t>
            </a:r>
          </a:p>
        </p:txBody>
      </p:sp>
      <p:sp>
        <p:nvSpPr>
          <p:cNvPr id="31" name="TextBox 30"/>
          <p:cNvSpPr txBox="1"/>
          <p:nvPr/>
        </p:nvSpPr>
        <p:spPr>
          <a:xfrm>
            <a:off x="8007815" y="3970551"/>
            <a:ext cx="3650703" cy="201990"/>
          </a:xfrm>
          <a:prstGeom prst="rect">
            <a:avLst/>
          </a:prstGeom>
          <a:noFill/>
          <a:effectLst/>
        </p:spPr>
        <p:txBody>
          <a:bodyPr wrap="none" lIns="0" rIns="0" tIns="0" bIns="0" anchor="t">
            <a:spAutoFit/>
          </a:bodyPr>
          <a:lstStyle/>
          <a:p>
            <a:pPr algn="l">
              <a:lnSpc>
                <a:spcPct val="100000"/>
              </a:lnSpc>
            </a:pPr>
            <a:r>
              <a:rPr sz="1096" b="0" i="0">
                <a:solidFill>
                  <a:srgbClr val="14213A"/>
                </a:solidFill>
                <a:latin typeface="Consolas"/>
              </a:rPr>
              <a:t>c̃ = SHAKE256(pk, w [+ Y], M)</a:t>
            </a:r>
          </a:p>
        </p:txBody>
      </p:sp>
      <p:sp>
        <p:nvSpPr>
          <p:cNvPr id="32" name="TextBox 31"/>
          <p:cNvSpPr txBox="1"/>
          <p:nvPr/>
        </p:nvSpPr>
        <p:spPr>
          <a:xfrm>
            <a:off x="8007815" y="4220336"/>
            <a:ext cx="3650703" cy="201990"/>
          </a:xfrm>
          <a:prstGeom prst="rect">
            <a:avLst/>
          </a:prstGeom>
          <a:noFill/>
          <a:effectLst/>
        </p:spPr>
        <p:txBody>
          <a:bodyPr wrap="none" lIns="0" rIns="0" tIns="0" bIns="0" anchor="t">
            <a:spAutoFit/>
          </a:bodyPr>
          <a:lstStyle/>
          <a:p>
            <a:pPr algn="l">
              <a:lnSpc>
                <a:spcPct val="100000"/>
              </a:lnSpc>
            </a:pPr>
            <a:r>
              <a:rPr sz="1096" b="0" i="0">
                <a:solidFill>
                  <a:srgbClr val="14213A"/>
                </a:solidFill>
                <a:latin typeface="Consolas"/>
              </a:rPr>
              <a:t>c  = SampleInBall(c̃)</a:t>
            </a:r>
          </a:p>
        </p:txBody>
      </p:sp>
      <p:sp>
        <p:nvSpPr>
          <p:cNvPr id="33" name="TextBox 32"/>
          <p:cNvSpPr txBox="1"/>
          <p:nvPr/>
        </p:nvSpPr>
        <p:spPr>
          <a:xfrm>
            <a:off x="8007815" y="4467430"/>
            <a:ext cx="3650703" cy="174129"/>
          </a:xfrm>
          <a:prstGeom prst="rect">
            <a:avLst/>
          </a:prstGeom>
          <a:noFill/>
          <a:effectLst/>
        </p:spPr>
        <p:txBody>
          <a:bodyPr wrap="none" lIns="0" rIns="0" tIns="0" bIns="0" anchor="t">
            <a:spAutoFit/>
          </a:bodyPr>
          <a:lstStyle/>
          <a:p>
            <a:pPr algn="l">
              <a:lnSpc>
                <a:spcPct val="100000"/>
              </a:lnSpc>
            </a:pPr>
            <a:r>
              <a:rPr sz="945" b="0" i="0">
                <a:solidFill>
                  <a:srgbClr val="5A6B86"/>
                </a:solidFill>
                <a:latin typeface="Arial"/>
              </a:rPr>
              <a:t>the digest c̃ is what travels on the wire</a:t>
            </a:r>
          </a:p>
        </p:txBody>
      </p:sp>
      <p:sp>
        <p:nvSpPr>
          <p:cNvPr id="34" name="Rounded Rectangle 33"/>
          <p:cNvSpPr/>
          <p:nvPr/>
        </p:nvSpPr>
        <p:spPr>
          <a:xfrm>
            <a:off x="523875" y="5250000"/>
            <a:ext cx="5487125" cy="1150000"/>
          </a:xfrm>
          <a:prstGeom prst="roundRect">
            <a:avLst>
              <a:gd name="adj" fmla="val 9565"/>
            </a:avLst>
          </a:prstGeom>
          <a:solidFill>
            <a:srgbClr val="E6F6EA"/>
          </a:solidFill>
          <a:ln w="12700">
            <a:solidFill>
              <a:srgbClr val="2F9E44"/>
            </a:solidFill>
          </a:ln>
          <a:effectLst/>
        </p:spPr>
        <p:style>
          <a:lnRef idx="1">
            <a:schemeClr val="accent1"/>
          </a:lnRef>
          <a:fillRef idx="3">
            <a:schemeClr val="accent1"/>
          </a:fillRef>
          <a:effectRef idx="2">
            <a:schemeClr val="accent1"/>
          </a:effectRef>
          <a:fontRef idx="minor">
            <a:schemeClr val="lt1"/>
          </a:fontRef>
        </p:style>
        <p:txBody>
          <a:bodyPr rtlCol="0" anchor="t" wrap="square" lIns="160000" rIns="160000" tIns="120000" bIns="120000"/>
          <a:lstStyle/>
          <a:p>
            <a:pPr algn="l">
              <a:lnSpc>
                <a:spcPct val="125000"/>
              </a:lnSpc>
            </a:pPr>
            <a:r>
              <a:rPr sz="1300" b="1" i="0">
                <a:solidFill>
                  <a:srgbClr val="14213A"/>
                </a:solidFill>
                <a:latin typeface="Arial"/>
              </a:rPr>
              <a:t>Built a second time, independently</a:t>
            </a:r>
          </a:p>
          <a:p>
            <a:pPr algn="l">
              <a:lnSpc>
                <a:spcPct val="130000"/>
              </a:lnSpc>
              <a:spcBef>
                <a:spcPts val="600"/>
              </a:spcBef>
            </a:pPr>
            <a:r>
              <a:rPr sz="1150" b="0" i="0">
                <a:solidFill>
                  <a:srgbClr val="14213A"/>
                </a:solidFill>
                <a:latin typeface="Arial"/>
              </a:rPr>
              <a:t>C and Rust agree </a:t>
            </a:r>
            <a:r>
              <a:rPr sz="1150" b="1" i="0">
                <a:solidFill>
                  <a:srgbClr val="14213A"/>
                </a:solidFill>
                <a:latin typeface="Arial"/>
              </a:rPr>
              <a:t>byte for byte</a:t>
            </a:r>
            <a:r>
              <a:rPr sz="1150" b="0" i="0">
                <a:solidFill>
                  <a:srgbClr val="14213A"/>
                </a:solidFill>
                <a:latin typeface="Arial"/>
              </a:rPr>
              <a:t> on a pinned known-answer digest: </a:t>
            </a:r>
            <a:r>
              <a:rPr sz="1150" b="0" i="0">
                <a:solidFill>
                  <a:srgbClr val="14213A"/>
                </a:solidFill>
                <a:latin typeface="Consolas"/>
              </a:rPr>
              <a:t>b4a10ffb…03be</a:t>
            </a:r>
          </a:p>
        </p:txBody>
      </p:sp>
      <p:sp>
        <p:nvSpPr>
          <p:cNvPr id="35" name="Rectangle 34"/>
          <p:cNvSpPr/>
          <p:nvPr/>
        </p:nvSpPr>
        <p:spPr>
          <a:xfrm>
            <a:off x="6181000" y="5250000"/>
            <a:ext cx="38000" cy="620000"/>
          </a:xfrm>
          <a:prstGeom prst="rect">
            <a:avLst/>
          </a:prstGeom>
          <a:solidFill>
            <a:srgbClr val="B02A3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6331000" y="5250000"/>
            <a:ext cx="5337125" cy="620000"/>
          </a:xfrm>
          <a:prstGeom prst="rect">
            <a:avLst/>
          </a:prstGeom>
          <a:noFill/>
          <a:effectLst/>
        </p:spPr>
        <p:txBody>
          <a:bodyPr wrap="square" lIns="0" rIns="0" tIns="0" bIns="0" anchor="t">
            <a:spAutoFit/>
          </a:bodyPr>
          <a:lstStyle/>
          <a:p>
            <a:pPr algn="l">
              <a:lnSpc>
                <a:spcPct val="130000"/>
              </a:lnSpc>
            </a:pPr>
            <a:r>
              <a:rPr sz="1050" b="0" i="0">
                <a:solidFill>
                  <a:srgbClr val="5A6B86"/>
                </a:solidFill>
                <a:latin typeface="Arial"/>
              </a:rPr>
              <a:t>The digest binds packed </a:t>
            </a:r>
            <a:r>
              <a:rPr sz="1050" b="1" i="0">
                <a:solidFill>
                  <a:srgbClr val="B02A37"/>
                </a:solidFill>
                <a:latin typeface="Arial"/>
              </a:rPr>
              <a:t>outputs</a:t>
            </a:r>
            <a:r>
              <a:rPr sz="1050" b="0" i="0">
                <a:solidFill>
                  <a:srgbClr val="5A6B86"/>
                </a:solidFill>
                <a:latin typeface="Arial"/>
              </a:rPr>
              <a:t> over four fixed vectors, not internals; PreVerify and Extract are asserted per vector, not hashed.</a:t>
            </a:r>
          </a:p>
        </p:txBody>
      </p:sp>
      <p:sp>
        <p:nvSpPr>
          <p:cNvPr id="37" name="Rounded Rectangle 36"/>
          <p:cNvSpPr/>
          <p:nvPr/>
        </p:nvSpPr>
        <p:spPr>
          <a:xfrm>
            <a:off x="6181000" y="5950000"/>
            <a:ext cx="3010508" cy="240000"/>
          </a:xfrm>
          <a:prstGeom prst="roundRect">
            <a:avLst>
              <a:gd name="adj" fmla="val 50000"/>
            </a:avLst>
          </a:prstGeom>
          <a:noFill/>
          <a:ln w="9525">
            <a:solidFill>
              <a:srgbClr val="2F9E44"/>
            </a:solidFill>
          </a:ln>
          <a:effectLst/>
        </p:spPr>
        <p:style>
          <a:lnRef idx="1">
            <a:schemeClr val="accent1"/>
          </a:lnRef>
          <a:fillRef idx="3">
            <a:schemeClr val="accent1"/>
          </a:fillRef>
          <a:effectRef idx="2">
            <a:schemeClr val="accent1"/>
          </a:effectRef>
          <a:fontRef idx="minor">
            <a:schemeClr val="lt1"/>
          </a:fontRef>
        </p:style>
        <p:txBody>
          <a:bodyPr rtlCol="0" anchor="ctr" wrap="none" lIns="110000" rIns="110000" tIns="0" bIns="0"/>
          <a:lstStyle/>
          <a:p>
            <a:pPr algn="ctr">
              <a:lnSpc>
                <a:spcPct val="100000"/>
              </a:lnSpc>
            </a:pPr>
            <a:r>
              <a:rPr sz="850" b="0" i="0">
                <a:solidFill>
                  <a:srgbClr val="2F9E44"/>
                </a:solidFill>
                <a:latin typeface="Consolas"/>
              </a:rPr>
              <a:t>functional · 1000 iterations × 3 parameter sets</a:t>
            </a:r>
          </a:p>
        </p:txBody>
      </p:sp>
      <p:sp>
        <p:nvSpPr>
          <p:cNvPr id="38" name="Rounded Rectangle 37"/>
          <p:cNvSpPr/>
          <p:nvPr/>
        </p:nvSpPr>
        <p:spPr>
          <a:xfrm>
            <a:off x="9271508" y="5950000"/>
            <a:ext cx="2713645" cy="240000"/>
          </a:xfrm>
          <a:prstGeom prst="roundRect">
            <a:avLst>
              <a:gd name="adj" fmla="val 50000"/>
            </a:avLst>
          </a:prstGeom>
          <a:noFill/>
          <a:ln w="9525">
            <a:solidFill>
              <a:srgbClr val="2F9E44"/>
            </a:solidFill>
          </a:ln>
          <a:effectLst/>
        </p:spPr>
        <p:style>
          <a:lnRef idx="1">
            <a:schemeClr val="accent1"/>
          </a:lnRef>
          <a:fillRef idx="3">
            <a:schemeClr val="accent1"/>
          </a:fillRef>
          <a:effectRef idx="2">
            <a:schemeClr val="accent1"/>
          </a:effectRef>
          <a:fontRef idx="minor">
            <a:schemeClr val="lt1"/>
          </a:fontRef>
        </p:style>
        <p:txBody>
          <a:bodyPr rtlCol="0" anchor="ctr" wrap="none" lIns="110000" rIns="110000" tIns="0" bIns="0"/>
          <a:lstStyle/>
          <a:p>
            <a:pPr algn="ctr">
              <a:lnSpc>
                <a:spcPct val="100000"/>
              </a:lnSpc>
            </a:pPr>
            <a:r>
              <a:rPr sz="850" b="0" i="0">
                <a:solidFill>
                  <a:srgbClr val="2F9E44"/>
                </a:solidFill>
                <a:latin typeface="Consolas"/>
              </a:rPr>
              <a:t>tamper · every one of 6736 signature bytes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11003145" y="640000"/>
            <a:ext cx="664980" cy="230000"/>
          </a:xfrm>
          <a:prstGeom prst="roundRect">
            <a:avLst>
              <a:gd name="adj" fmla="val 50000"/>
            </a:avLst>
          </a:prstGeom>
          <a:noFill/>
          <a:ln w="9525">
            <a:solidFill>
              <a:srgbClr val="D8E0EC"/>
            </a:solidFill>
          </a:ln>
          <a:effectLst/>
        </p:spPr>
        <p:style>
          <a:lnRef idx="1">
            <a:schemeClr val="accent1"/>
          </a:lnRef>
          <a:fillRef idx="3">
            <a:schemeClr val="accent1"/>
          </a:fillRef>
          <a:effectRef idx="2">
            <a:schemeClr val="accent1"/>
          </a:effectRef>
          <a:fontRef idx="minor">
            <a:schemeClr val="lt1"/>
          </a:fontRef>
        </p:style>
        <p:txBody>
          <a:bodyPr rtlCol="0" anchor="ctr" wrap="none" lIns="95000" rIns="95000" tIns="0" bIns="0"/>
          <a:lstStyle/>
          <a:p>
            <a:pPr algn="ctr">
              <a:lnSpc>
                <a:spcPct val="100000"/>
              </a:lnSpc>
            </a:pPr>
            <a:r>
              <a:rPr sz="850" b="0" i="0">
                <a:solidFill>
                  <a:srgbClr val="5A6B86"/>
                </a:solidFill>
                <a:latin typeface="Consolas"/>
              </a:rPr>
              <a:t>Takeaway</a:t>
            </a:r>
          </a:p>
        </p:txBody>
      </p:sp>
      <p:sp>
        <p:nvSpPr>
          <p:cNvPr id="3" name="Rounded Rectangle 2"/>
          <p:cNvSpPr/>
          <p:nvPr/>
        </p:nvSpPr>
        <p:spPr>
          <a:xfrm>
            <a:off x="10357538" y="640000"/>
            <a:ext cx="605608" cy="230000"/>
          </a:xfrm>
          <a:prstGeom prst="roundRect">
            <a:avLst>
              <a:gd name="adj" fmla="val 50000"/>
            </a:avLst>
          </a:prstGeom>
          <a:solidFill>
            <a:srgbClr val="FDECE1"/>
          </a:solidFill>
          <a:ln w="9525">
            <a:solidFill>
              <a:srgbClr val="E8590C"/>
            </a:solidFill>
          </a:ln>
          <a:effectLst/>
        </p:spPr>
        <p:style>
          <a:lnRef idx="1">
            <a:schemeClr val="accent1"/>
          </a:lnRef>
          <a:fillRef idx="3">
            <a:schemeClr val="accent1"/>
          </a:fillRef>
          <a:effectRef idx="2">
            <a:schemeClr val="accent1"/>
          </a:effectRef>
          <a:fontRef idx="minor">
            <a:schemeClr val="lt1"/>
          </a:fontRef>
        </p:style>
        <p:txBody>
          <a:bodyPr rtlCol="0" anchor="ctr" wrap="none" lIns="95000" rIns="95000" tIns="0" bIns="0"/>
          <a:lstStyle/>
          <a:p>
            <a:pPr algn="ctr">
              <a:lnSpc>
                <a:spcPct val="100000"/>
              </a:lnSpc>
            </a:pPr>
            <a:r>
              <a:rPr sz="850" b="0" i="0">
                <a:solidFill>
                  <a:srgbClr val="C2410C"/>
                </a:solidFill>
                <a:latin typeface="Consolas"/>
              </a:rPr>
              <a:t>Results</a:t>
            </a:r>
          </a:p>
        </p:txBody>
      </p:sp>
      <p:sp>
        <p:nvSpPr>
          <p:cNvPr id="4" name="Rounded Rectangle 3"/>
          <p:cNvSpPr/>
          <p:nvPr/>
        </p:nvSpPr>
        <p:spPr>
          <a:xfrm>
            <a:off x="9771302" y="640000"/>
            <a:ext cx="546235" cy="230000"/>
          </a:xfrm>
          <a:prstGeom prst="roundRect">
            <a:avLst>
              <a:gd name="adj" fmla="val 50000"/>
            </a:avLst>
          </a:prstGeom>
          <a:noFill/>
          <a:ln w="9525">
            <a:solidFill>
              <a:srgbClr val="D8E0EC"/>
            </a:solidFill>
          </a:ln>
          <a:effectLst/>
        </p:spPr>
        <p:style>
          <a:lnRef idx="1">
            <a:schemeClr val="accent1"/>
          </a:lnRef>
          <a:fillRef idx="3">
            <a:schemeClr val="accent1"/>
          </a:fillRef>
          <a:effectRef idx="2">
            <a:schemeClr val="accent1"/>
          </a:effectRef>
          <a:fontRef idx="minor">
            <a:schemeClr val="lt1"/>
          </a:fontRef>
        </p:style>
        <p:txBody>
          <a:bodyPr rtlCol="0" anchor="ctr" wrap="none" lIns="95000" rIns="95000" tIns="0" bIns="0"/>
          <a:lstStyle/>
          <a:p>
            <a:pPr algn="ctr">
              <a:lnSpc>
                <a:spcPct val="100000"/>
              </a:lnSpc>
            </a:pPr>
            <a:r>
              <a:rPr sz="850" b="0" i="0">
                <a:solidFill>
                  <a:srgbClr val="5A6B86"/>
                </a:solidFill>
                <a:latin typeface="Consolas"/>
              </a:rPr>
              <a:t>Method</a:t>
            </a:r>
          </a:p>
        </p:txBody>
      </p:sp>
      <p:sp>
        <p:nvSpPr>
          <p:cNvPr id="5" name="Rounded Rectangle 4"/>
          <p:cNvSpPr/>
          <p:nvPr/>
        </p:nvSpPr>
        <p:spPr>
          <a:xfrm>
            <a:off x="9363185" y="640000"/>
            <a:ext cx="368118" cy="230000"/>
          </a:xfrm>
          <a:prstGeom prst="roundRect">
            <a:avLst>
              <a:gd name="adj" fmla="val 50000"/>
            </a:avLst>
          </a:prstGeom>
          <a:noFill/>
          <a:ln w="9525">
            <a:solidFill>
              <a:srgbClr val="D8E0EC"/>
            </a:solidFill>
          </a:ln>
          <a:effectLst/>
        </p:spPr>
        <p:style>
          <a:lnRef idx="1">
            <a:schemeClr val="accent1"/>
          </a:lnRef>
          <a:fillRef idx="3">
            <a:schemeClr val="accent1"/>
          </a:fillRef>
          <a:effectRef idx="2">
            <a:schemeClr val="accent1"/>
          </a:effectRef>
          <a:fontRef idx="minor">
            <a:schemeClr val="lt1"/>
          </a:fontRef>
        </p:style>
        <p:txBody>
          <a:bodyPr rtlCol="0" anchor="ctr" wrap="none" lIns="95000" rIns="95000" tIns="0" bIns="0"/>
          <a:lstStyle/>
          <a:p>
            <a:pPr algn="ctr">
              <a:lnSpc>
                <a:spcPct val="100000"/>
              </a:lnSpc>
            </a:pPr>
            <a:r>
              <a:rPr sz="850" b="0" i="0">
                <a:solidFill>
                  <a:srgbClr val="5A6B86"/>
                </a:solidFill>
                <a:latin typeface="Consolas"/>
              </a:rPr>
              <a:t>Why</a:t>
            </a:r>
          </a:p>
        </p:txBody>
      </p:sp>
      <p:sp>
        <p:nvSpPr>
          <p:cNvPr id="6" name="TextBox 5"/>
          <p:cNvSpPr txBox="1"/>
          <p:nvPr/>
        </p:nvSpPr>
        <p:spPr>
          <a:xfrm>
            <a:off x="10768125" y="6550000"/>
            <a:ext cx="900000" cy="220000"/>
          </a:xfrm>
          <a:prstGeom prst="rect">
            <a:avLst/>
          </a:prstGeom>
          <a:noFill/>
          <a:effectLst/>
        </p:spPr>
        <p:txBody>
          <a:bodyPr wrap="square" lIns="0" rIns="0" tIns="0" bIns="0" anchor="t">
            <a:spAutoFit/>
          </a:bodyPr>
          <a:lstStyle/>
          <a:p>
            <a:pPr algn="r">
              <a:lnSpc>
                <a:spcPct val="125000"/>
              </a:lnSpc>
            </a:pPr>
            <a:r>
              <a:rPr sz="850" b="0" i="0">
                <a:solidFill>
                  <a:srgbClr val="5A6B86"/>
                </a:solidFill>
                <a:latin typeface="Consolas"/>
              </a:rPr>
              <a:t>5 / 10</a:t>
            </a:r>
          </a:p>
        </p:txBody>
      </p:sp>
      <p:sp>
        <p:nvSpPr>
          <p:cNvPr id="7" name="TextBox 6"/>
          <p:cNvSpPr txBox="1"/>
          <p:nvPr/>
        </p:nvSpPr>
        <p:spPr>
          <a:xfrm>
            <a:off x="523875" y="1295000"/>
            <a:ext cx="11144250" cy="210000"/>
          </a:xfrm>
          <a:prstGeom prst="rect">
            <a:avLst/>
          </a:prstGeom>
          <a:noFill/>
          <a:effectLst/>
        </p:spPr>
        <p:txBody>
          <a:bodyPr wrap="square" lIns="0" rIns="0" tIns="0" bIns="0" anchor="t">
            <a:spAutoFit/>
          </a:bodyPr>
          <a:lstStyle/>
          <a:p>
            <a:pPr algn="l">
              <a:lnSpc>
                <a:spcPct val="125000"/>
              </a:lnSpc>
            </a:pPr>
            <a:r>
              <a:rPr sz="950" b="0" i="0" spc="170">
                <a:solidFill>
                  <a:srgbClr val="5A6B86"/>
                </a:solidFill>
                <a:latin typeface="Consolas"/>
              </a:rPr>
              <a:t>DEMONSTRATION 1 OF 2 · THE PROTOCOL, STEPPED ON SCREEN · OBJECT SIZES FROM RUN 20260730_162109</a:t>
            </a:r>
          </a:p>
        </p:txBody>
      </p:sp>
      <p:sp>
        <p:nvSpPr>
          <p:cNvPr id="8" name="TextBox 7"/>
          <p:cNvSpPr txBox="1"/>
          <p:nvPr/>
        </p:nvSpPr>
        <p:spPr>
          <a:xfrm>
            <a:off x="523875" y="1495000"/>
            <a:ext cx="11144250" cy="610000"/>
          </a:xfrm>
          <a:prstGeom prst="rect">
            <a:avLst/>
          </a:prstGeom>
          <a:noFill/>
          <a:effectLst/>
        </p:spPr>
        <p:txBody>
          <a:bodyPr wrap="square" lIns="0" rIns="0" tIns="0" bIns="0" anchor="b">
            <a:spAutoFit/>
          </a:bodyPr>
          <a:lstStyle/>
          <a:p>
            <a:pPr algn="l">
              <a:lnSpc>
                <a:spcPct val="108000"/>
              </a:lnSpc>
            </a:pPr>
            <a:r>
              <a:rPr sz="2500" b="1" i="0">
                <a:solidFill>
                  <a:srgbClr val="7800A2"/>
                </a:solidFill>
                <a:latin typeface="Arial"/>
              </a:rPr>
              <a:t>Step it, </a:t>
            </a:r>
            <a:r>
              <a:rPr sz="2500" b="1" i="0">
                <a:solidFill>
                  <a:srgbClr val="C2410C"/>
                </a:solidFill>
                <a:latin typeface="Arial"/>
              </a:rPr>
              <a:t>break it</a:t>
            </a:r>
            <a:r>
              <a:rPr sz="2500" b="1" i="0">
                <a:solidFill>
                  <a:srgbClr val="7800A2"/>
                </a:solidFill>
                <a:latin typeface="Arial"/>
              </a:rPr>
              <a:t>, and watch the secret fall out</a:t>
            </a:r>
          </a:p>
        </p:txBody>
      </p:sp>
      <p:cxnSp>
        <p:nvCxnSpPr>
          <p:cNvPr id="9" name="Connector 8"/>
          <p:cNvCxnSpPr/>
          <p:nvPr/>
        </p:nvCxnSpPr>
        <p:spPr>
          <a:xfrm>
            <a:off x="523875" y="2165000"/>
            <a:ext cx="11144250" cy="0"/>
          </a:xfrm>
          <a:prstGeom prst="line">
            <a:avLst/>
          </a:prstGeom>
          <a:ln w="25400">
            <a:solidFill>
              <a:srgbClr val="660066"/>
            </a:solidFill>
            <a:prstDash val="sysDot"/>
          </a:ln>
          <a:effectLst/>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523875" y="2265000"/>
            <a:ext cx="3442619" cy="3080000"/>
          </a:xfrm>
          <a:prstGeom prst="roundRect">
            <a:avLst>
              <a:gd name="adj" fmla="val 3571"/>
            </a:avLst>
          </a:prstGeom>
          <a:solidFill>
            <a:srgbClr val="FFFFFF"/>
          </a:solidFill>
          <a:ln w="12700">
            <a:solidFill>
              <a:srgbClr val="D8E0EC"/>
            </a:solidFill>
          </a:ln>
          <a:effectLst/>
        </p:spPr>
        <p:style>
          <a:lnRef idx="1">
            <a:schemeClr val="accent1"/>
          </a:lnRef>
          <a:fillRef idx="3">
            <a:schemeClr val="accent1"/>
          </a:fillRef>
          <a:effectRef idx="2">
            <a:schemeClr val="accent1"/>
          </a:effectRef>
          <a:fontRef idx="minor">
            <a:schemeClr val="lt1"/>
          </a:fontRef>
        </p:style>
        <p:txBody>
          <a:bodyPr rtlCol="0" anchor="t" wrap="square" lIns="160000" rIns="160000" tIns="120000" bIns="120000"/>
          <a:lstStyle/>
          <a:p>
            <a:pPr algn="ctr"/>
          </a:p>
        </p:txBody>
      </p:sp>
      <p:sp>
        <p:nvSpPr>
          <p:cNvPr id="11" name="TextBox 10"/>
          <p:cNvSpPr txBox="1"/>
          <p:nvPr/>
        </p:nvSpPr>
        <p:spPr>
          <a:xfrm>
            <a:off x="683875" y="2395000"/>
            <a:ext cx="3122619" cy="260000"/>
          </a:xfrm>
          <a:prstGeom prst="rect">
            <a:avLst/>
          </a:prstGeom>
          <a:noFill/>
          <a:effectLst/>
        </p:spPr>
        <p:txBody>
          <a:bodyPr wrap="square" lIns="0" rIns="0" tIns="0" bIns="0" anchor="t">
            <a:spAutoFit/>
          </a:bodyPr>
          <a:lstStyle/>
          <a:p>
            <a:pPr algn="l">
              <a:lnSpc>
                <a:spcPct val="125000"/>
              </a:lnSpc>
            </a:pPr>
            <a:r>
              <a:rPr sz="1300" b="1" i="0">
                <a:solidFill>
                  <a:srgbClr val="14213A"/>
                </a:solidFill>
                <a:latin typeface="Arial"/>
              </a:rPr>
              <a:t>Alice   </a:t>
            </a:r>
            <a:r>
              <a:rPr sz="1300" b="1" i="0">
                <a:solidFill>
                  <a:srgbClr val="5A6B86"/>
                </a:solidFill>
                <a:latin typeface="Arial"/>
              </a:rPr>
              <a:t>holds the witness</a:t>
            </a:r>
          </a:p>
        </p:txBody>
      </p:sp>
      <p:sp>
        <p:nvSpPr>
          <p:cNvPr id="12" name="Rounded Rectangle 11"/>
          <p:cNvSpPr/>
          <p:nvPr/>
        </p:nvSpPr>
        <p:spPr>
          <a:xfrm>
            <a:off x="683875" y="2705000"/>
            <a:ext cx="398118" cy="230000"/>
          </a:xfrm>
          <a:prstGeom prst="roundRect">
            <a:avLst>
              <a:gd name="adj" fmla="val 50000"/>
            </a:avLst>
          </a:prstGeom>
          <a:solidFill>
            <a:srgbClr val="EEF3FA"/>
          </a:solidFill>
          <a:ln w="952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wrap="none" lIns="110000" rIns="110000" tIns="0" bIns="0"/>
          <a:lstStyle/>
          <a:p>
            <a:pPr algn="ctr">
              <a:lnSpc>
                <a:spcPct val="100000"/>
              </a:lnSpc>
            </a:pPr>
            <a:r>
              <a:rPr sz="850" b="0" i="0">
                <a:solidFill>
                  <a:srgbClr val="14213A"/>
                </a:solidFill>
                <a:latin typeface="Consolas"/>
              </a:rPr>
              <a:t>sk₁</a:t>
            </a:r>
          </a:p>
        </p:txBody>
      </p:sp>
      <p:sp>
        <p:nvSpPr>
          <p:cNvPr id="13" name="Rounded Rectangle 12"/>
          <p:cNvSpPr/>
          <p:nvPr/>
        </p:nvSpPr>
        <p:spPr>
          <a:xfrm>
            <a:off x="683875" y="2985000"/>
            <a:ext cx="754353" cy="230000"/>
          </a:xfrm>
          <a:prstGeom prst="roundRect">
            <a:avLst>
              <a:gd name="adj" fmla="val 50000"/>
            </a:avLst>
          </a:prstGeom>
          <a:solidFill>
            <a:srgbClr val="EEF3FA"/>
          </a:solidFill>
          <a:ln w="9525">
            <a:solidFill>
              <a:srgbClr val="E8590C"/>
            </a:solidFill>
          </a:ln>
          <a:effectLst/>
        </p:spPr>
        <p:style>
          <a:lnRef idx="1">
            <a:schemeClr val="accent1"/>
          </a:lnRef>
          <a:fillRef idx="3">
            <a:schemeClr val="accent1"/>
          </a:fillRef>
          <a:effectRef idx="2">
            <a:schemeClr val="accent1"/>
          </a:effectRef>
          <a:fontRef idx="minor">
            <a:schemeClr val="lt1"/>
          </a:fontRef>
        </p:style>
        <p:txBody>
          <a:bodyPr rtlCol="0" anchor="ctr" wrap="none" lIns="110000" rIns="110000" tIns="0" bIns="0"/>
          <a:lstStyle/>
          <a:p>
            <a:pPr algn="ctr">
              <a:lnSpc>
                <a:spcPct val="100000"/>
              </a:lnSpc>
            </a:pPr>
            <a:r>
              <a:rPr sz="850" b="0" i="0">
                <a:solidFill>
                  <a:srgbClr val="C2410C"/>
                </a:solidFill>
                <a:latin typeface="Consolas"/>
              </a:rPr>
              <a:t>witness y</a:t>
            </a:r>
          </a:p>
        </p:txBody>
      </p:sp>
      <p:sp>
        <p:nvSpPr>
          <p:cNvPr id="14" name="Rounded Rectangle 13"/>
          <p:cNvSpPr/>
          <p:nvPr/>
        </p:nvSpPr>
        <p:spPr>
          <a:xfrm>
            <a:off x="683875" y="3265000"/>
            <a:ext cx="813725" cy="230000"/>
          </a:xfrm>
          <a:prstGeom prst="roundRect">
            <a:avLst>
              <a:gd name="adj" fmla="val 50000"/>
            </a:avLst>
          </a:prstGeom>
          <a:solidFill>
            <a:srgbClr val="EEF3FA"/>
          </a:solidFill>
          <a:ln w="952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wrap="none" lIns="110000" rIns="110000" tIns="0" bIns="0"/>
          <a:lstStyle/>
          <a:p>
            <a:pPr algn="ctr">
              <a:lnSpc>
                <a:spcPct val="100000"/>
              </a:lnSpc>
            </a:pPr>
            <a:r>
              <a:rPr sz="850" b="0" i="0">
                <a:solidFill>
                  <a:srgbClr val="14213A"/>
                </a:solidFill>
                <a:latin typeface="Consolas"/>
              </a:rPr>
              <a:t>Y · 4416 B</a:t>
            </a:r>
          </a:p>
        </p:txBody>
      </p:sp>
      <p:sp>
        <p:nvSpPr>
          <p:cNvPr id="15" name="Rounded Rectangle 14"/>
          <p:cNvSpPr/>
          <p:nvPr/>
        </p:nvSpPr>
        <p:spPr>
          <a:xfrm>
            <a:off x="683875" y="3545000"/>
            <a:ext cx="1466823" cy="230000"/>
          </a:xfrm>
          <a:prstGeom prst="roundRect">
            <a:avLst>
              <a:gd name="adj" fmla="val 50000"/>
            </a:avLst>
          </a:prstGeom>
          <a:solidFill>
            <a:srgbClr val="EEF3FA"/>
          </a:solidFill>
          <a:ln w="952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wrap="none" lIns="110000" rIns="110000" tIns="0" bIns="0"/>
          <a:lstStyle/>
          <a:p>
            <a:pPr algn="ctr">
              <a:lnSpc>
                <a:spcPct val="100000"/>
              </a:lnSpc>
            </a:pPr>
            <a:r>
              <a:rPr sz="850" b="0" i="0">
                <a:solidFill>
                  <a:srgbClr val="14213A"/>
                </a:solidFill>
                <a:latin typeface="Consolas"/>
              </a:rPr>
              <a:t>σ̂₂ from Bob · 6736 B</a:t>
            </a:r>
          </a:p>
        </p:txBody>
      </p:sp>
      <p:sp>
        <p:nvSpPr>
          <p:cNvPr id="16" name="Rounded Rectangle 15"/>
          <p:cNvSpPr/>
          <p:nvPr/>
        </p:nvSpPr>
        <p:spPr>
          <a:xfrm>
            <a:off x="683875" y="3825000"/>
            <a:ext cx="813725" cy="230000"/>
          </a:xfrm>
          <a:prstGeom prst="roundRect">
            <a:avLst>
              <a:gd name="adj" fmla="val 50000"/>
            </a:avLst>
          </a:prstGeom>
          <a:solidFill>
            <a:srgbClr val="EEF3FA"/>
          </a:solidFill>
          <a:ln w="952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wrap="none" lIns="110000" rIns="110000" tIns="0" bIns="0"/>
          <a:lstStyle/>
          <a:p>
            <a:pPr algn="ctr">
              <a:lnSpc>
                <a:spcPct val="100000"/>
              </a:lnSpc>
            </a:pPr>
            <a:r>
              <a:rPr sz="850" b="0" i="0">
                <a:solidFill>
                  <a:srgbClr val="14213A"/>
                </a:solidFill>
                <a:latin typeface="Consolas"/>
              </a:rPr>
              <a:t>σ₂ adapted</a:t>
            </a:r>
          </a:p>
        </p:txBody>
      </p:sp>
      <p:sp>
        <p:nvSpPr>
          <p:cNvPr id="17" name="TextBox 16"/>
          <p:cNvSpPr txBox="1"/>
          <p:nvPr/>
        </p:nvSpPr>
        <p:spPr>
          <a:xfrm>
            <a:off x="683875" y="4215000"/>
            <a:ext cx="3122619" cy="700000"/>
          </a:xfrm>
          <a:prstGeom prst="rect">
            <a:avLst/>
          </a:prstGeom>
          <a:noFill/>
          <a:effectLst/>
        </p:spPr>
        <p:txBody>
          <a:bodyPr wrap="square" lIns="0" rIns="0" tIns="0" bIns="0" anchor="t">
            <a:spAutoFit/>
          </a:bodyPr>
          <a:lstStyle/>
          <a:p>
            <a:pPr algn="l">
              <a:lnSpc>
                <a:spcPct val="132000"/>
              </a:lnSpc>
            </a:pPr>
            <a:r>
              <a:rPr sz="1100" b="0" i="0">
                <a:solidFill>
                  <a:srgbClr val="5A6B86"/>
                </a:solidFill>
                <a:latin typeface="Arial"/>
              </a:rPr>
              <a:t>Knows y, so it completes Bob’s pre-signature and publishes. </a:t>
            </a:r>
            <a:r>
              <a:rPr sz="1100" b="1" i="0">
                <a:solidFill>
                  <a:srgbClr val="14213A"/>
                </a:solidFill>
                <a:latin typeface="Arial"/>
              </a:rPr>
              <a:t>It takes Bob’s coin.</a:t>
            </a:r>
          </a:p>
        </p:txBody>
      </p:sp>
      <p:sp>
        <p:nvSpPr>
          <p:cNvPr id="18" name="TextBox 17"/>
          <p:cNvSpPr txBox="1"/>
          <p:nvPr/>
        </p:nvSpPr>
        <p:spPr>
          <a:xfrm>
            <a:off x="683875" y="4925000"/>
            <a:ext cx="3122619" cy="260000"/>
          </a:xfrm>
          <a:prstGeom prst="rect">
            <a:avLst/>
          </a:prstGeom>
          <a:noFill/>
          <a:effectLst/>
        </p:spPr>
        <p:txBody>
          <a:bodyPr wrap="square" lIns="0" rIns="0" tIns="0" bIns="0" anchor="t">
            <a:spAutoFit/>
          </a:bodyPr>
          <a:lstStyle/>
          <a:p>
            <a:pPr algn="l">
              <a:lnSpc>
                <a:spcPct val="125000"/>
              </a:lnSpc>
            </a:pPr>
            <a:r>
              <a:rPr sz="950" b="0" i="0">
                <a:solidFill>
                  <a:srgbClr val="C2410C"/>
                </a:solidFill>
                <a:latin typeface="Consolas"/>
              </a:rPr>
              <a:t>σ₂ ← Adapt((Y, y), pk₂, σ̂₂, m₂)</a:t>
            </a:r>
          </a:p>
        </p:txBody>
      </p:sp>
      <p:sp>
        <p:nvSpPr>
          <p:cNvPr id="19" name="Rounded Rectangle 18"/>
          <p:cNvSpPr/>
          <p:nvPr/>
        </p:nvSpPr>
        <p:spPr>
          <a:xfrm>
            <a:off x="4116494" y="2685000"/>
            <a:ext cx="3959012" cy="900000"/>
          </a:xfrm>
          <a:prstGeom prst="roundRect">
            <a:avLst>
              <a:gd name="adj" fmla="val 12222"/>
            </a:avLst>
          </a:prstGeom>
          <a:solidFill>
            <a:srgbClr val="E6F6EA"/>
          </a:solidFill>
          <a:ln w="12700">
            <a:solidFill>
              <a:srgbClr val="2F9E44"/>
            </a:solidFill>
          </a:ln>
          <a:effectLst/>
        </p:spPr>
        <p:style>
          <a:lnRef idx="1">
            <a:schemeClr val="accent1"/>
          </a:lnRef>
          <a:fillRef idx="3">
            <a:schemeClr val="accent1"/>
          </a:fillRef>
          <a:effectRef idx="2">
            <a:schemeClr val="accent1"/>
          </a:effectRef>
          <a:fontRef idx="minor">
            <a:schemeClr val="lt1"/>
          </a:fontRef>
        </p:style>
        <p:txBody>
          <a:bodyPr rtlCol="0" anchor="t" wrap="square" lIns="160000" rIns="160000" tIns="120000" bIns="120000"/>
          <a:lstStyle/>
          <a:p>
            <a:pPr algn="ctr"/>
          </a:p>
        </p:txBody>
      </p:sp>
      <p:sp>
        <p:nvSpPr>
          <p:cNvPr id="20" name="TextBox 19"/>
          <p:cNvSpPr txBox="1"/>
          <p:nvPr/>
        </p:nvSpPr>
        <p:spPr>
          <a:xfrm>
            <a:off x="4276494" y="2825000"/>
            <a:ext cx="3639012" cy="250000"/>
          </a:xfrm>
          <a:prstGeom prst="rect">
            <a:avLst/>
          </a:prstGeom>
          <a:noFill/>
          <a:effectLst/>
        </p:spPr>
        <p:txBody>
          <a:bodyPr wrap="square" lIns="0" rIns="0" tIns="0" bIns="0" anchor="t">
            <a:spAutoFit/>
          </a:bodyPr>
          <a:lstStyle/>
          <a:p>
            <a:pPr algn="l">
              <a:lnSpc>
                <a:spcPct val="125000"/>
              </a:lnSpc>
            </a:pPr>
            <a:r>
              <a:rPr sz="1150" b="1" i="0">
                <a:solidFill>
                  <a:srgbClr val="14213A"/>
                </a:solidFill>
                <a:latin typeface="Arial"/>
              </a:rPr>
              <a:t>chain 2</a:t>
            </a:r>
          </a:p>
        </p:txBody>
      </p:sp>
      <p:sp>
        <p:nvSpPr>
          <p:cNvPr id="21" name="TextBox 20"/>
          <p:cNvSpPr txBox="1"/>
          <p:nvPr/>
        </p:nvSpPr>
        <p:spPr>
          <a:xfrm>
            <a:off x="4276494" y="2825000"/>
            <a:ext cx="3639012" cy="250000"/>
          </a:xfrm>
          <a:prstGeom prst="rect">
            <a:avLst/>
          </a:prstGeom>
          <a:noFill/>
          <a:effectLst/>
        </p:spPr>
        <p:txBody>
          <a:bodyPr wrap="square" lIns="0" rIns="0" tIns="0" bIns="0" anchor="t">
            <a:spAutoFit/>
          </a:bodyPr>
          <a:lstStyle/>
          <a:p>
            <a:pPr algn="r">
              <a:lnSpc>
                <a:spcPct val="125000"/>
              </a:lnSpc>
            </a:pPr>
            <a:r>
              <a:rPr sz="850" b="0" i="0">
                <a:solidFill>
                  <a:srgbClr val="2F9E44"/>
                </a:solidFill>
                <a:latin typeface="Consolas"/>
              </a:rPr>
              <a:t>SETTLED — Alice claimed</a:t>
            </a:r>
          </a:p>
        </p:txBody>
      </p:sp>
      <p:sp>
        <p:nvSpPr>
          <p:cNvPr id="22" name="TextBox 21"/>
          <p:cNvSpPr txBox="1"/>
          <p:nvPr/>
        </p:nvSpPr>
        <p:spPr>
          <a:xfrm>
            <a:off x="4276494" y="3115000"/>
            <a:ext cx="3639012" cy="400000"/>
          </a:xfrm>
          <a:prstGeom prst="rect">
            <a:avLst/>
          </a:prstGeom>
          <a:noFill/>
          <a:effectLst/>
        </p:spPr>
        <p:txBody>
          <a:bodyPr wrap="square" lIns="0" rIns="0" tIns="0" bIns="0" anchor="t">
            <a:spAutoFit/>
          </a:bodyPr>
          <a:lstStyle/>
          <a:p>
            <a:pPr algn="l">
              <a:lnSpc>
                <a:spcPct val="130000"/>
              </a:lnSpc>
            </a:pPr>
            <a:r>
              <a:rPr sz="900" b="0" i="0">
                <a:solidFill>
                  <a:srgbClr val="14213A"/>
                </a:solidFill>
                <a:latin typeface="Consolas"/>
              </a:rPr>
              <a:t>tx₂ + σ₂ · 11233 B published — pays Alice</a:t>
            </a:r>
          </a:p>
        </p:txBody>
      </p:sp>
      <p:sp>
        <p:nvSpPr>
          <p:cNvPr id="23" name="Rounded Rectangle 22"/>
          <p:cNvSpPr/>
          <p:nvPr/>
        </p:nvSpPr>
        <p:spPr>
          <a:xfrm>
            <a:off x="4116494" y="3785000"/>
            <a:ext cx="3959012" cy="900000"/>
          </a:xfrm>
          <a:prstGeom prst="roundRect">
            <a:avLst>
              <a:gd name="adj" fmla="val 12222"/>
            </a:avLst>
          </a:prstGeom>
          <a:solidFill>
            <a:srgbClr val="E6F6EA"/>
          </a:solidFill>
          <a:ln w="12700">
            <a:solidFill>
              <a:srgbClr val="2F9E44"/>
            </a:solidFill>
          </a:ln>
          <a:effectLst/>
        </p:spPr>
        <p:style>
          <a:lnRef idx="1">
            <a:schemeClr val="accent1"/>
          </a:lnRef>
          <a:fillRef idx="3">
            <a:schemeClr val="accent1"/>
          </a:fillRef>
          <a:effectRef idx="2">
            <a:schemeClr val="accent1"/>
          </a:effectRef>
          <a:fontRef idx="minor">
            <a:schemeClr val="lt1"/>
          </a:fontRef>
        </p:style>
        <p:txBody>
          <a:bodyPr rtlCol="0" anchor="t" wrap="square" lIns="160000" rIns="160000" tIns="120000" bIns="120000"/>
          <a:lstStyle/>
          <a:p>
            <a:pPr algn="ctr"/>
          </a:p>
        </p:txBody>
      </p:sp>
      <p:sp>
        <p:nvSpPr>
          <p:cNvPr id="24" name="TextBox 23"/>
          <p:cNvSpPr txBox="1"/>
          <p:nvPr/>
        </p:nvSpPr>
        <p:spPr>
          <a:xfrm>
            <a:off x="4276494" y="3925000"/>
            <a:ext cx="3639012" cy="250000"/>
          </a:xfrm>
          <a:prstGeom prst="rect">
            <a:avLst/>
          </a:prstGeom>
          <a:noFill/>
          <a:effectLst/>
        </p:spPr>
        <p:txBody>
          <a:bodyPr wrap="square" lIns="0" rIns="0" tIns="0" bIns="0" anchor="t">
            <a:spAutoFit/>
          </a:bodyPr>
          <a:lstStyle/>
          <a:p>
            <a:pPr algn="l">
              <a:lnSpc>
                <a:spcPct val="125000"/>
              </a:lnSpc>
            </a:pPr>
            <a:r>
              <a:rPr sz="1150" b="1" i="0">
                <a:solidFill>
                  <a:srgbClr val="14213A"/>
                </a:solidFill>
                <a:latin typeface="Arial"/>
              </a:rPr>
              <a:t>chain 1</a:t>
            </a:r>
          </a:p>
        </p:txBody>
      </p:sp>
      <p:sp>
        <p:nvSpPr>
          <p:cNvPr id="25" name="TextBox 24"/>
          <p:cNvSpPr txBox="1"/>
          <p:nvPr/>
        </p:nvSpPr>
        <p:spPr>
          <a:xfrm>
            <a:off x="4276494" y="3925000"/>
            <a:ext cx="3639012" cy="250000"/>
          </a:xfrm>
          <a:prstGeom prst="rect">
            <a:avLst/>
          </a:prstGeom>
          <a:noFill/>
          <a:effectLst/>
        </p:spPr>
        <p:txBody>
          <a:bodyPr wrap="square" lIns="0" rIns="0" tIns="0" bIns="0" anchor="t">
            <a:spAutoFit/>
          </a:bodyPr>
          <a:lstStyle/>
          <a:p>
            <a:pPr algn="r">
              <a:lnSpc>
                <a:spcPct val="125000"/>
              </a:lnSpc>
            </a:pPr>
            <a:r>
              <a:rPr sz="850" b="0" i="0">
                <a:solidFill>
                  <a:srgbClr val="2F9E44"/>
                </a:solidFill>
                <a:latin typeface="Consolas"/>
              </a:rPr>
              <a:t>SETTLED — Bob claimed</a:t>
            </a:r>
          </a:p>
        </p:txBody>
      </p:sp>
      <p:sp>
        <p:nvSpPr>
          <p:cNvPr id="26" name="TextBox 25"/>
          <p:cNvSpPr txBox="1"/>
          <p:nvPr/>
        </p:nvSpPr>
        <p:spPr>
          <a:xfrm>
            <a:off x="4276494" y="4215000"/>
            <a:ext cx="3639012" cy="400000"/>
          </a:xfrm>
          <a:prstGeom prst="rect">
            <a:avLst/>
          </a:prstGeom>
          <a:noFill/>
          <a:effectLst/>
        </p:spPr>
        <p:txBody>
          <a:bodyPr wrap="square" lIns="0" rIns="0" tIns="0" bIns="0" anchor="t">
            <a:spAutoFit/>
          </a:bodyPr>
          <a:lstStyle/>
          <a:p>
            <a:pPr algn="l">
              <a:lnSpc>
                <a:spcPct val="130000"/>
              </a:lnSpc>
            </a:pPr>
            <a:r>
              <a:rPr sz="900" b="0" i="0">
                <a:solidFill>
                  <a:srgbClr val="14213A"/>
                </a:solidFill>
                <a:latin typeface="Consolas"/>
              </a:rPr>
              <a:t>tx₁ + σ₁ · 11233 B published — pays Bob</a:t>
            </a:r>
          </a:p>
        </p:txBody>
      </p:sp>
      <p:sp>
        <p:nvSpPr>
          <p:cNvPr id="27" name="Rounded Rectangle 26"/>
          <p:cNvSpPr/>
          <p:nvPr/>
        </p:nvSpPr>
        <p:spPr>
          <a:xfrm rot="21240000">
            <a:off x="5396000" y="4765000"/>
            <a:ext cx="1400000" cy="430000"/>
          </a:xfrm>
          <a:prstGeom prst="roundRect">
            <a:avLst>
              <a:gd name="adj" fmla="val 25581"/>
            </a:avLst>
          </a:prstGeom>
          <a:solidFill>
            <a:srgbClr val="FDECEE"/>
          </a:solidFill>
          <a:ln w="38000">
            <a:solidFill>
              <a:srgbClr val="B02A3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25000"/>
              </a:lnSpc>
            </a:pPr>
            <a:r>
              <a:rPr sz="1600" b="1" i="0" spc="50">
                <a:solidFill>
                  <a:srgbClr val="B02A37"/>
                </a:solidFill>
                <a:latin typeface="Arial"/>
              </a:rPr>
              <a:t>REJECTED</a:t>
            </a:r>
          </a:p>
        </p:txBody>
      </p:sp>
      <p:sp>
        <p:nvSpPr>
          <p:cNvPr id="28" name="Rounded Rectangle 27"/>
          <p:cNvSpPr/>
          <p:nvPr/>
        </p:nvSpPr>
        <p:spPr>
          <a:xfrm>
            <a:off x="8225506" y="2265000"/>
            <a:ext cx="3442619" cy="3080000"/>
          </a:xfrm>
          <a:prstGeom prst="roundRect">
            <a:avLst>
              <a:gd name="adj" fmla="val 3571"/>
            </a:avLst>
          </a:prstGeom>
          <a:solidFill>
            <a:srgbClr val="FFFFFF"/>
          </a:solidFill>
          <a:ln w="12700">
            <a:solidFill>
              <a:srgbClr val="D8E0EC"/>
            </a:solidFill>
          </a:ln>
          <a:effectLst/>
        </p:spPr>
        <p:style>
          <a:lnRef idx="1">
            <a:schemeClr val="accent1"/>
          </a:lnRef>
          <a:fillRef idx="3">
            <a:schemeClr val="accent1"/>
          </a:fillRef>
          <a:effectRef idx="2">
            <a:schemeClr val="accent1"/>
          </a:effectRef>
          <a:fontRef idx="minor">
            <a:schemeClr val="lt1"/>
          </a:fontRef>
        </p:style>
        <p:txBody>
          <a:bodyPr rtlCol="0" anchor="t" wrap="square" lIns="160000" rIns="160000" tIns="120000" bIns="120000"/>
          <a:lstStyle/>
          <a:p>
            <a:pPr algn="ctr"/>
          </a:p>
        </p:txBody>
      </p:sp>
      <p:sp>
        <p:nvSpPr>
          <p:cNvPr id="29" name="TextBox 28"/>
          <p:cNvSpPr txBox="1"/>
          <p:nvPr/>
        </p:nvSpPr>
        <p:spPr>
          <a:xfrm>
            <a:off x="8385506" y="2395000"/>
            <a:ext cx="3122619" cy="260000"/>
          </a:xfrm>
          <a:prstGeom prst="rect">
            <a:avLst/>
          </a:prstGeom>
          <a:noFill/>
          <a:effectLst/>
        </p:spPr>
        <p:txBody>
          <a:bodyPr wrap="square" lIns="0" rIns="0" tIns="0" bIns="0" anchor="t">
            <a:spAutoFit/>
          </a:bodyPr>
          <a:lstStyle/>
          <a:p>
            <a:pPr algn="l">
              <a:lnSpc>
                <a:spcPct val="125000"/>
              </a:lnSpc>
            </a:pPr>
            <a:r>
              <a:rPr sz="1300" b="1" i="0">
                <a:solidFill>
                  <a:srgbClr val="14213A"/>
                </a:solidFill>
                <a:latin typeface="Arial"/>
              </a:rPr>
              <a:t>Bob   </a:t>
            </a:r>
            <a:r>
              <a:rPr sz="1300" b="1" i="0">
                <a:solidFill>
                  <a:srgbClr val="5A6B86"/>
                </a:solidFill>
                <a:latin typeface="Arial"/>
              </a:rPr>
              <a:t>learns the witness</a:t>
            </a:r>
          </a:p>
        </p:txBody>
      </p:sp>
      <p:sp>
        <p:nvSpPr>
          <p:cNvPr id="30" name="Rounded Rectangle 29"/>
          <p:cNvSpPr/>
          <p:nvPr/>
        </p:nvSpPr>
        <p:spPr>
          <a:xfrm>
            <a:off x="8385506" y="2705000"/>
            <a:ext cx="398118" cy="230000"/>
          </a:xfrm>
          <a:prstGeom prst="roundRect">
            <a:avLst>
              <a:gd name="adj" fmla="val 50000"/>
            </a:avLst>
          </a:prstGeom>
          <a:solidFill>
            <a:srgbClr val="EEF3FA"/>
          </a:solidFill>
          <a:ln w="952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wrap="none" lIns="110000" rIns="110000" tIns="0" bIns="0"/>
          <a:lstStyle/>
          <a:p>
            <a:pPr algn="ctr">
              <a:lnSpc>
                <a:spcPct val="100000"/>
              </a:lnSpc>
            </a:pPr>
            <a:r>
              <a:rPr sz="850" b="0" i="0">
                <a:solidFill>
                  <a:srgbClr val="14213A"/>
                </a:solidFill>
                <a:latin typeface="Consolas"/>
              </a:rPr>
              <a:t>sk₂</a:t>
            </a:r>
          </a:p>
        </p:txBody>
      </p:sp>
      <p:sp>
        <p:nvSpPr>
          <p:cNvPr id="31" name="Rounded Rectangle 30"/>
          <p:cNvSpPr/>
          <p:nvPr/>
        </p:nvSpPr>
        <p:spPr>
          <a:xfrm>
            <a:off x="8385506" y="2965000"/>
            <a:ext cx="279372" cy="230000"/>
          </a:xfrm>
          <a:prstGeom prst="roundRect">
            <a:avLst>
              <a:gd name="adj" fmla="val 50000"/>
            </a:avLst>
          </a:prstGeom>
          <a:solidFill>
            <a:srgbClr val="EEF3FA"/>
          </a:solidFill>
          <a:ln w="952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wrap="none" lIns="110000" rIns="110000" tIns="0" bIns="0"/>
          <a:lstStyle/>
          <a:p>
            <a:pPr algn="ctr">
              <a:lnSpc>
                <a:spcPct val="100000"/>
              </a:lnSpc>
            </a:pPr>
            <a:r>
              <a:rPr sz="850" b="0" i="0">
                <a:solidFill>
                  <a:srgbClr val="14213A"/>
                </a:solidFill>
                <a:latin typeface="Consolas"/>
              </a:rPr>
              <a:t>Y</a:t>
            </a:r>
          </a:p>
        </p:txBody>
      </p:sp>
      <p:sp>
        <p:nvSpPr>
          <p:cNvPr id="32" name="Rounded Rectangle 31"/>
          <p:cNvSpPr/>
          <p:nvPr/>
        </p:nvSpPr>
        <p:spPr>
          <a:xfrm>
            <a:off x="8385506" y="3225000"/>
            <a:ext cx="1229332" cy="230000"/>
          </a:xfrm>
          <a:prstGeom prst="roundRect">
            <a:avLst>
              <a:gd name="adj" fmla="val 50000"/>
            </a:avLst>
          </a:prstGeom>
          <a:solidFill>
            <a:srgbClr val="EEF3FA"/>
          </a:solidFill>
          <a:ln w="952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wrap="none" lIns="110000" rIns="110000" tIns="0" bIns="0"/>
          <a:lstStyle/>
          <a:p>
            <a:pPr algn="ctr">
              <a:lnSpc>
                <a:spcPct val="100000"/>
              </a:lnSpc>
            </a:pPr>
            <a:r>
              <a:rPr sz="850" b="0" i="0">
                <a:solidFill>
                  <a:srgbClr val="14213A"/>
                </a:solidFill>
                <a:latin typeface="Consolas"/>
              </a:rPr>
              <a:t>π · 30711–30760 B</a:t>
            </a:r>
          </a:p>
        </p:txBody>
      </p:sp>
      <p:sp>
        <p:nvSpPr>
          <p:cNvPr id="33" name="Rounded Rectangle 32"/>
          <p:cNvSpPr/>
          <p:nvPr/>
        </p:nvSpPr>
        <p:spPr>
          <a:xfrm>
            <a:off x="8385506" y="3485000"/>
            <a:ext cx="1585568" cy="230000"/>
          </a:xfrm>
          <a:prstGeom prst="roundRect">
            <a:avLst>
              <a:gd name="adj" fmla="val 50000"/>
            </a:avLst>
          </a:prstGeom>
          <a:solidFill>
            <a:srgbClr val="EEF3FA"/>
          </a:solidFill>
          <a:ln w="952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wrap="none" lIns="110000" rIns="110000" tIns="0" bIns="0"/>
          <a:lstStyle/>
          <a:p>
            <a:pPr algn="ctr">
              <a:lnSpc>
                <a:spcPct val="100000"/>
              </a:lnSpc>
            </a:pPr>
            <a:r>
              <a:rPr sz="850" b="0" i="0">
                <a:solidFill>
                  <a:srgbClr val="14213A"/>
                </a:solidFill>
                <a:latin typeface="Consolas"/>
              </a:rPr>
              <a:t>σ̂₁ from Alice · 6736 B</a:t>
            </a:r>
          </a:p>
        </p:txBody>
      </p:sp>
      <p:sp>
        <p:nvSpPr>
          <p:cNvPr id="34" name="Rounded Rectangle 33"/>
          <p:cNvSpPr/>
          <p:nvPr/>
        </p:nvSpPr>
        <p:spPr>
          <a:xfrm>
            <a:off x="8385506" y="3745000"/>
            <a:ext cx="1288705" cy="230000"/>
          </a:xfrm>
          <a:prstGeom prst="roundRect">
            <a:avLst>
              <a:gd name="adj" fmla="val 50000"/>
            </a:avLst>
          </a:prstGeom>
          <a:solidFill>
            <a:srgbClr val="EEF3FA"/>
          </a:solidFill>
          <a:ln w="952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wrap="none" lIns="110000" rIns="110000" tIns="0" bIns="0"/>
          <a:lstStyle/>
          <a:p>
            <a:pPr algn="ctr">
              <a:lnSpc>
                <a:spcPct val="100000"/>
              </a:lnSpc>
            </a:pPr>
            <a:r>
              <a:rPr sz="850" b="0" i="0">
                <a:solidFill>
                  <a:srgbClr val="14213A"/>
                </a:solidFill>
                <a:latin typeface="Consolas"/>
              </a:rPr>
              <a:t>σ̂₂ it made itself</a:t>
            </a:r>
          </a:p>
        </p:txBody>
      </p:sp>
      <p:sp>
        <p:nvSpPr>
          <p:cNvPr id="35" name="Rounded Rectangle 34"/>
          <p:cNvSpPr/>
          <p:nvPr/>
        </p:nvSpPr>
        <p:spPr>
          <a:xfrm>
            <a:off x="8385506" y="4005000"/>
            <a:ext cx="932470" cy="230000"/>
          </a:xfrm>
          <a:prstGeom prst="roundRect">
            <a:avLst>
              <a:gd name="adj" fmla="val 50000"/>
            </a:avLst>
          </a:prstGeom>
          <a:solidFill>
            <a:srgbClr val="EEF3FA"/>
          </a:solidFill>
          <a:ln w="9525">
            <a:solidFill>
              <a:srgbClr val="E8590C"/>
            </a:solidFill>
          </a:ln>
          <a:effectLst/>
        </p:spPr>
        <p:style>
          <a:lnRef idx="1">
            <a:schemeClr val="accent1"/>
          </a:lnRef>
          <a:fillRef idx="3">
            <a:schemeClr val="accent1"/>
          </a:fillRef>
          <a:effectRef idx="2">
            <a:schemeClr val="accent1"/>
          </a:effectRef>
          <a:fontRef idx="minor">
            <a:schemeClr val="lt1"/>
          </a:fontRef>
        </p:style>
        <p:txBody>
          <a:bodyPr rtlCol="0" anchor="ctr" wrap="none" lIns="110000" rIns="110000" tIns="0" bIns="0"/>
          <a:lstStyle/>
          <a:p>
            <a:pPr algn="ctr">
              <a:lnSpc>
                <a:spcPct val="100000"/>
              </a:lnSpc>
            </a:pPr>
            <a:r>
              <a:rPr sz="850" b="0" i="0">
                <a:solidFill>
                  <a:srgbClr val="C2410C"/>
                </a:solidFill>
                <a:latin typeface="Consolas"/>
              </a:rPr>
              <a:t>y′ extracted</a:t>
            </a:r>
          </a:p>
        </p:txBody>
      </p:sp>
      <p:sp>
        <p:nvSpPr>
          <p:cNvPr id="36" name="TextBox 35"/>
          <p:cNvSpPr txBox="1"/>
          <p:nvPr/>
        </p:nvSpPr>
        <p:spPr>
          <a:xfrm>
            <a:off x="8385506" y="4315000"/>
            <a:ext cx="3122619" cy="400000"/>
          </a:xfrm>
          <a:prstGeom prst="rect">
            <a:avLst/>
          </a:prstGeom>
          <a:noFill/>
          <a:effectLst/>
        </p:spPr>
        <p:txBody>
          <a:bodyPr wrap="square" lIns="0" rIns="0" tIns="0" bIns="0" anchor="t">
            <a:spAutoFit/>
          </a:bodyPr>
          <a:lstStyle/>
          <a:p>
            <a:pPr algn="l">
              <a:lnSpc>
                <a:spcPct val="130000"/>
              </a:lnSpc>
            </a:pPr>
            <a:r>
              <a:rPr sz="1050" b="0" i="0">
                <a:solidFill>
                  <a:srgbClr val="5A6B86"/>
                </a:solidFill>
                <a:latin typeface="Arial"/>
              </a:rPr>
              <a:t>Tries to spend the pre-signature it is holding — </a:t>
            </a:r>
            <a:r>
              <a:rPr sz="1050" b="1" i="0">
                <a:solidFill>
                  <a:srgbClr val="14213A"/>
                </a:solidFill>
                <a:latin typeface="Arial"/>
              </a:rPr>
              <a:t>ordinary Verify refuses it</a:t>
            </a:r>
            <a:r>
              <a:rPr sz="1050" b="0" i="0">
                <a:solidFill>
                  <a:srgbClr val="5A6B86"/>
                </a:solidFill>
                <a:latin typeface="Arial"/>
              </a:rPr>
              <a:t>.</a:t>
            </a:r>
          </a:p>
        </p:txBody>
      </p:sp>
      <p:sp>
        <p:nvSpPr>
          <p:cNvPr id="37" name="TextBox 36"/>
          <p:cNvSpPr txBox="1"/>
          <p:nvPr/>
        </p:nvSpPr>
        <p:spPr>
          <a:xfrm>
            <a:off x="8385506" y="4705000"/>
            <a:ext cx="3122619" cy="240000"/>
          </a:xfrm>
          <a:prstGeom prst="rect">
            <a:avLst/>
          </a:prstGeom>
          <a:noFill/>
          <a:effectLst/>
        </p:spPr>
        <p:txBody>
          <a:bodyPr wrap="square" lIns="0" rIns="0" tIns="0" bIns="0" anchor="t">
            <a:spAutoFit/>
          </a:bodyPr>
          <a:lstStyle/>
          <a:p>
            <a:pPr algn="l">
              <a:lnSpc>
                <a:spcPct val="125000"/>
              </a:lnSpc>
            </a:pPr>
            <a:r>
              <a:rPr sz="900" b="0" i="0">
                <a:solidFill>
                  <a:srgbClr val="C2410C"/>
                </a:solidFill>
                <a:latin typeface="Consolas"/>
              </a:rPr>
              <a:t>Verify(σ̂₁, m₁, pk₁) → ⊥</a:t>
            </a:r>
          </a:p>
        </p:txBody>
      </p:sp>
      <p:sp>
        <p:nvSpPr>
          <p:cNvPr id="38" name="TextBox 37"/>
          <p:cNvSpPr txBox="1"/>
          <p:nvPr/>
        </p:nvSpPr>
        <p:spPr>
          <a:xfrm>
            <a:off x="8385506" y="4955000"/>
            <a:ext cx="3122619" cy="300000"/>
          </a:xfrm>
          <a:prstGeom prst="rect">
            <a:avLst/>
          </a:prstGeom>
          <a:noFill/>
          <a:effectLst/>
        </p:spPr>
        <p:txBody>
          <a:bodyPr wrap="square" lIns="0" rIns="0" tIns="0" bIns="0" anchor="t">
            <a:spAutoFit/>
          </a:bodyPr>
          <a:lstStyle/>
          <a:p>
            <a:pPr algn="l">
              <a:lnSpc>
                <a:spcPct val="125000"/>
              </a:lnSpc>
            </a:pPr>
            <a:r>
              <a:rPr sz="1000" b="0" i="0">
                <a:solidFill>
                  <a:srgbClr val="5A6B86"/>
                </a:solidFill>
                <a:latin typeface="Arial"/>
              </a:rPr>
              <a:t>Needs </a:t>
            </a:r>
            <a:r>
              <a:rPr sz="1000" b="1" i="0">
                <a:solidFill>
                  <a:srgbClr val="14213A"/>
                </a:solidFill>
                <a:latin typeface="Arial"/>
              </a:rPr>
              <a:t>nothing further from Alice</a:t>
            </a:r>
            <a:r>
              <a:rPr sz="1000" b="0" i="0">
                <a:solidFill>
                  <a:srgbClr val="5A6B86"/>
                </a:solidFill>
                <a:latin typeface="Arial"/>
              </a:rPr>
              <a:t>: it reads σ₂ off chain 2 and adapts σ̂₁ with what comes out.</a:t>
            </a:r>
          </a:p>
        </p:txBody>
      </p:sp>
      <p:sp>
        <p:nvSpPr>
          <p:cNvPr id="39" name="Rectangle 38"/>
          <p:cNvSpPr/>
          <p:nvPr/>
        </p:nvSpPr>
        <p:spPr>
          <a:xfrm>
            <a:off x="523875" y="5470000"/>
            <a:ext cx="2688562" cy="38000"/>
          </a:xfrm>
          <a:prstGeom prst="rect">
            <a:avLst/>
          </a:prstGeom>
          <a:solidFill>
            <a:srgbClr val="2F9E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523875" y="5580000"/>
            <a:ext cx="2688562" cy="230000"/>
          </a:xfrm>
          <a:prstGeom prst="rect">
            <a:avLst/>
          </a:prstGeom>
          <a:noFill/>
          <a:effectLst/>
        </p:spPr>
        <p:txBody>
          <a:bodyPr wrap="square" lIns="0" rIns="0" tIns="0" bIns="0" anchor="t">
            <a:spAutoFit/>
          </a:bodyPr>
          <a:lstStyle/>
          <a:p>
            <a:pPr algn="l">
              <a:lnSpc>
                <a:spcPct val="125000"/>
              </a:lnSpc>
            </a:pPr>
            <a:r>
              <a:rPr sz="850" b="1" i="0" spc="90">
                <a:solidFill>
                  <a:srgbClr val="2F9E44"/>
                </a:solidFill>
                <a:latin typeface="Consolas"/>
              </a:rPr>
              <a:t>1 · ABORT GATE</a:t>
            </a:r>
          </a:p>
        </p:txBody>
      </p:sp>
      <p:sp>
        <p:nvSpPr>
          <p:cNvPr id="41" name="TextBox 40"/>
          <p:cNvSpPr txBox="1"/>
          <p:nvPr/>
        </p:nvSpPr>
        <p:spPr>
          <a:xfrm>
            <a:off x="523875" y="5830000"/>
            <a:ext cx="2688562" cy="620000"/>
          </a:xfrm>
          <a:prstGeom prst="rect">
            <a:avLst/>
          </a:prstGeom>
          <a:noFill/>
          <a:effectLst/>
        </p:spPr>
        <p:txBody>
          <a:bodyPr wrap="square" lIns="0" rIns="0" tIns="0" bIns="0" anchor="t">
            <a:spAutoFit/>
          </a:bodyPr>
          <a:lstStyle/>
          <a:p>
            <a:pPr algn="l">
              <a:lnSpc>
                <a:spcPct val="130000"/>
              </a:lnSpc>
            </a:pPr>
            <a:r>
              <a:rPr sz="1000" b="0" i="0">
                <a:solidFill>
                  <a:srgbClr val="5A6B86"/>
                </a:solidFill>
                <a:latin typeface="Arial"/>
              </a:rPr>
              <a:t>Bob pre-signed only after π and PreVerify(σ̂₁) passed. Neither pre-signature is spendable by anyone.</a:t>
            </a:r>
          </a:p>
        </p:txBody>
      </p:sp>
      <p:sp>
        <p:nvSpPr>
          <p:cNvPr id="42" name="Rectangle 41"/>
          <p:cNvSpPr/>
          <p:nvPr/>
        </p:nvSpPr>
        <p:spPr>
          <a:xfrm>
            <a:off x="3342438" y="5470000"/>
            <a:ext cx="2688562" cy="38000"/>
          </a:xfrm>
          <a:prstGeom prst="rect">
            <a:avLst/>
          </a:prstGeom>
          <a:solidFill>
            <a:srgbClr val="2F9E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3342438" y="5580000"/>
            <a:ext cx="2688562" cy="230000"/>
          </a:xfrm>
          <a:prstGeom prst="rect">
            <a:avLst/>
          </a:prstGeom>
          <a:noFill/>
          <a:effectLst/>
        </p:spPr>
        <p:txBody>
          <a:bodyPr wrap="square" lIns="0" rIns="0" tIns="0" bIns="0" anchor="t">
            <a:spAutoFit/>
          </a:bodyPr>
          <a:lstStyle/>
          <a:p>
            <a:pPr algn="l">
              <a:lnSpc>
                <a:spcPct val="125000"/>
              </a:lnSpc>
            </a:pPr>
            <a:r>
              <a:rPr sz="850" b="1" i="0" spc="90">
                <a:solidFill>
                  <a:srgbClr val="2F9E44"/>
                </a:solidFill>
                <a:latin typeface="Consolas"/>
              </a:rPr>
              <a:t>2 · THE TRIPWIRE</a:t>
            </a:r>
          </a:p>
        </p:txBody>
      </p:sp>
      <p:sp>
        <p:nvSpPr>
          <p:cNvPr id="44" name="TextBox 43"/>
          <p:cNvSpPr txBox="1"/>
          <p:nvPr/>
        </p:nvSpPr>
        <p:spPr>
          <a:xfrm>
            <a:off x="3342438" y="5830000"/>
            <a:ext cx="2688562" cy="620000"/>
          </a:xfrm>
          <a:prstGeom prst="rect">
            <a:avLst/>
          </a:prstGeom>
          <a:noFill/>
          <a:effectLst/>
        </p:spPr>
        <p:txBody>
          <a:bodyPr wrap="square" lIns="0" rIns="0" tIns="0" bIns="0" anchor="t">
            <a:spAutoFit/>
          </a:bodyPr>
          <a:lstStyle/>
          <a:p>
            <a:pPr algn="l">
              <a:lnSpc>
                <a:spcPct val="130000"/>
              </a:lnSpc>
            </a:pPr>
            <a:r>
              <a:rPr sz="1000" b="0" i="0">
                <a:solidFill>
                  <a:srgbClr val="5A6B86"/>
                </a:solidFill>
                <a:latin typeface="Arial"/>
              </a:rPr>
              <a:t>A pre-signature is not a signature — that is what stops Bob claiming early.</a:t>
            </a:r>
          </a:p>
        </p:txBody>
      </p:sp>
      <p:sp>
        <p:nvSpPr>
          <p:cNvPr id="45" name="Rectangle 44"/>
          <p:cNvSpPr/>
          <p:nvPr/>
        </p:nvSpPr>
        <p:spPr>
          <a:xfrm>
            <a:off x="6161000" y="5470000"/>
            <a:ext cx="2688562" cy="38000"/>
          </a:xfrm>
          <a:prstGeom prst="rect">
            <a:avLst/>
          </a:prstGeom>
          <a:solidFill>
            <a:srgbClr val="2F9E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6161000" y="5580000"/>
            <a:ext cx="2688562" cy="230000"/>
          </a:xfrm>
          <a:prstGeom prst="rect">
            <a:avLst/>
          </a:prstGeom>
          <a:noFill/>
          <a:effectLst/>
        </p:spPr>
        <p:txBody>
          <a:bodyPr wrap="square" lIns="0" rIns="0" tIns="0" bIns="0" anchor="t">
            <a:spAutoFit/>
          </a:bodyPr>
          <a:lstStyle/>
          <a:p>
            <a:pPr algn="l">
              <a:lnSpc>
                <a:spcPct val="125000"/>
              </a:lnSpc>
            </a:pPr>
            <a:r>
              <a:rPr sz="850" b="1" i="0" spc="90">
                <a:solidFill>
                  <a:srgbClr val="2F9E44"/>
                </a:solidFill>
                <a:latin typeface="Consolas"/>
              </a:rPr>
              <a:t>3 · PUBLISH</a:t>
            </a:r>
          </a:p>
        </p:txBody>
      </p:sp>
      <p:sp>
        <p:nvSpPr>
          <p:cNvPr id="47" name="TextBox 46"/>
          <p:cNvSpPr txBox="1"/>
          <p:nvPr/>
        </p:nvSpPr>
        <p:spPr>
          <a:xfrm>
            <a:off x="6161000" y="5830000"/>
            <a:ext cx="2688562" cy="620000"/>
          </a:xfrm>
          <a:prstGeom prst="rect">
            <a:avLst/>
          </a:prstGeom>
          <a:noFill/>
          <a:effectLst/>
        </p:spPr>
        <p:txBody>
          <a:bodyPr wrap="square" lIns="0" rIns="0" tIns="0" bIns="0" anchor="t">
            <a:spAutoFit/>
          </a:bodyPr>
          <a:lstStyle/>
          <a:p>
            <a:pPr algn="l">
              <a:lnSpc>
                <a:spcPct val="130000"/>
              </a:lnSpc>
            </a:pPr>
            <a:r>
              <a:rPr sz="1000" b="0" i="0">
                <a:solidFill>
                  <a:srgbClr val="5A6B86"/>
                </a:solidFill>
                <a:latin typeface="Arial"/>
              </a:rPr>
              <a:t>On chain it is an ordinary payment: no script, no hash lock, nothing to see.</a:t>
            </a:r>
          </a:p>
        </p:txBody>
      </p:sp>
      <p:sp>
        <p:nvSpPr>
          <p:cNvPr id="48" name="Rectangle 47"/>
          <p:cNvSpPr/>
          <p:nvPr/>
        </p:nvSpPr>
        <p:spPr>
          <a:xfrm>
            <a:off x="8979562" y="5470000"/>
            <a:ext cx="2688562" cy="380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TextBox 48"/>
          <p:cNvSpPr txBox="1"/>
          <p:nvPr/>
        </p:nvSpPr>
        <p:spPr>
          <a:xfrm>
            <a:off x="8979562" y="5580000"/>
            <a:ext cx="2688562" cy="230000"/>
          </a:xfrm>
          <a:prstGeom prst="rect">
            <a:avLst/>
          </a:prstGeom>
          <a:noFill/>
          <a:effectLst/>
        </p:spPr>
        <p:txBody>
          <a:bodyPr wrap="square" lIns="0" rIns="0" tIns="0" bIns="0" anchor="t">
            <a:spAutoFit/>
          </a:bodyPr>
          <a:lstStyle/>
          <a:p>
            <a:pPr algn="l">
              <a:lnSpc>
                <a:spcPct val="125000"/>
              </a:lnSpc>
            </a:pPr>
            <a:r>
              <a:rPr sz="850" b="1" i="0" spc="90">
                <a:solidFill>
                  <a:srgbClr val="E8590C"/>
                </a:solidFill>
                <a:latin typeface="Consolas"/>
              </a:rPr>
              <a:t>4 · LEAK, THEN CLAIM</a:t>
            </a:r>
          </a:p>
        </p:txBody>
      </p:sp>
      <p:sp>
        <p:nvSpPr>
          <p:cNvPr id="50" name="TextBox 49"/>
          <p:cNvSpPr txBox="1"/>
          <p:nvPr/>
        </p:nvSpPr>
        <p:spPr>
          <a:xfrm>
            <a:off x="8979562" y="5830000"/>
            <a:ext cx="2688562" cy="620000"/>
          </a:xfrm>
          <a:prstGeom prst="rect">
            <a:avLst/>
          </a:prstGeom>
          <a:noFill/>
          <a:effectLst/>
        </p:spPr>
        <p:txBody>
          <a:bodyPr wrap="square" lIns="0" rIns="0" tIns="0" bIns="0" anchor="t">
            <a:spAutoFit/>
          </a:bodyPr>
          <a:lstStyle/>
          <a:p>
            <a:pPr algn="l">
              <a:lnSpc>
                <a:spcPct val="130000"/>
              </a:lnSpc>
            </a:pPr>
            <a:r>
              <a:rPr sz="1000" b="0" i="0">
                <a:solidFill>
                  <a:srgbClr val="5A6B86"/>
                </a:solidFill>
                <a:latin typeface="Arial"/>
              </a:rPr>
              <a:t>Ext returns y′; Bob adapts σ̂₁ with that value and publishes. Both settle, or neither does.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11003145" y="640000"/>
            <a:ext cx="664980" cy="230000"/>
          </a:xfrm>
          <a:prstGeom prst="roundRect">
            <a:avLst>
              <a:gd name="adj" fmla="val 50000"/>
            </a:avLst>
          </a:prstGeom>
          <a:noFill/>
          <a:ln w="9525">
            <a:solidFill>
              <a:srgbClr val="D8E0EC"/>
            </a:solidFill>
          </a:ln>
          <a:effectLst/>
        </p:spPr>
        <p:style>
          <a:lnRef idx="1">
            <a:schemeClr val="accent1"/>
          </a:lnRef>
          <a:fillRef idx="3">
            <a:schemeClr val="accent1"/>
          </a:fillRef>
          <a:effectRef idx="2">
            <a:schemeClr val="accent1"/>
          </a:effectRef>
          <a:fontRef idx="minor">
            <a:schemeClr val="lt1"/>
          </a:fontRef>
        </p:style>
        <p:txBody>
          <a:bodyPr rtlCol="0" anchor="ctr" wrap="none" lIns="95000" rIns="95000" tIns="0" bIns="0"/>
          <a:lstStyle/>
          <a:p>
            <a:pPr algn="ctr">
              <a:lnSpc>
                <a:spcPct val="100000"/>
              </a:lnSpc>
            </a:pPr>
            <a:r>
              <a:rPr sz="850" b="0" i="0">
                <a:solidFill>
                  <a:srgbClr val="5A6B86"/>
                </a:solidFill>
                <a:latin typeface="Consolas"/>
              </a:rPr>
              <a:t>Takeaway</a:t>
            </a:r>
          </a:p>
        </p:txBody>
      </p:sp>
      <p:sp>
        <p:nvSpPr>
          <p:cNvPr id="3" name="Rounded Rectangle 2"/>
          <p:cNvSpPr/>
          <p:nvPr/>
        </p:nvSpPr>
        <p:spPr>
          <a:xfrm>
            <a:off x="10357538" y="640000"/>
            <a:ext cx="605608" cy="230000"/>
          </a:xfrm>
          <a:prstGeom prst="roundRect">
            <a:avLst>
              <a:gd name="adj" fmla="val 50000"/>
            </a:avLst>
          </a:prstGeom>
          <a:solidFill>
            <a:srgbClr val="FDECE1"/>
          </a:solidFill>
          <a:ln w="9525">
            <a:solidFill>
              <a:srgbClr val="E8590C"/>
            </a:solidFill>
          </a:ln>
          <a:effectLst/>
        </p:spPr>
        <p:style>
          <a:lnRef idx="1">
            <a:schemeClr val="accent1"/>
          </a:lnRef>
          <a:fillRef idx="3">
            <a:schemeClr val="accent1"/>
          </a:fillRef>
          <a:effectRef idx="2">
            <a:schemeClr val="accent1"/>
          </a:effectRef>
          <a:fontRef idx="minor">
            <a:schemeClr val="lt1"/>
          </a:fontRef>
        </p:style>
        <p:txBody>
          <a:bodyPr rtlCol="0" anchor="ctr" wrap="none" lIns="95000" rIns="95000" tIns="0" bIns="0"/>
          <a:lstStyle/>
          <a:p>
            <a:pPr algn="ctr">
              <a:lnSpc>
                <a:spcPct val="100000"/>
              </a:lnSpc>
            </a:pPr>
            <a:r>
              <a:rPr sz="850" b="0" i="0">
                <a:solidFill>
                  <a:srgbClr val="C2410C"/>
                </a:solidFill>
                <a:latin typeface="Consolas"/>
              </a:rPr>
              <a:t>Results</a:t>
            </a:r>
          </a:p>
        </p:txBody>
      </p:sp>
      <p:sp>
        <p:nvSpPr>
          <p:cNvPr id="4" name="Rounded Rectangle 3"/>
          <p:cNvSpPr/>
          <p:nvPr/>
        </p:nvSpPr>
        <p:spPr>
          <a:xfrm>
            <a:off x="9771302" y="640000"/>
            <a:ext cx="546235" cy="230000"/>
          </a:xfrm>
          <a:prstGeom prst="roundRect">
            <a:avLst>
              <a:gd name="adj" fmla="val 50000"/>
            </a:avLst>
          </a:prstGeom>
          <a:noFill/>
          <a:ln w="9525">
            <a:solidFill>
              <a:srgbClr val="D8E0EC"/>
            </a:solidFill>
          </a:ln>
          <a:effectLst/>
        </p:spPr>
        <p:style>
          <a:lnRef idx="1">
            <a:schemeClr val="accent1"/>
          </a:lnRef>
          <a:fillRef idx="3">
            <a:schemeClr val="accent1"/>
          </a:fillRef>
          <a:effectRef idx="2">
            <a:schemeClr val="accent1"/>
          </a:effectRef>
          <a:fontRef idx="minor">
            <a:schemeClr val="lt1"/>
          </a:fontRef>
        </p:style>
        <p:txBody>
          <a:bodyPr rtlCol="0" anchor="ctr" wrap="none" lIns="95000" rIns="95000" tIns="0" bIns="0"/>
          <a:lstStyle/>
          <a:p>
            <a:pPr algn="ctr">
              <a:lnSpc>
                <a:spcPct val="100000"/>
              </a:lnSpc>
            </a:pPr>
            <a:r>
              <a:rPr sz="850" b="0" i="0">
                <a:solidFill>
                  <a:srgbClr val="5A6B86"/>
                </a:solidFill>
                <a:latin typeface="Consolas"/>
              </a:rPr>
              <a:t>Method</a:t>
            </a:r>
          </a:p>
        </p:txBody>
      </p:sp>
      <p:sp>
        <p:nvSpPr>
          <p:cNvPr id="5" name="Rounded Rectangle 4"/>
          <p:cNvSpPr/>
          <p:nvPr/>
        </p:nvSpPr>
        <p:spPr>
          <a:xfrm>
            <a:off x="9363185" y="640000"/>
            <a:ext cx="368118" cy="230000"/>
          </a:xfrm>
          <a:prstGeom prst="roundRect">
            <a:avLst>
              <a:gd name="adj" fmla="val 50000"/>
            </a:avLst>
          </a:prstGeom>
          <a:noFill/>
          <a:ln w="9525">
            <a:solidFill>
              <a:srgbClr val="D8E0EC"/>
            </a:solidFill>
          </a:ln>
          <a:effectLst/>
        </p:spPr>
        <p:style>
          <a:lnRef idx="1">
            <a:schemeClr val="accent1"/>
          </a:lnRef>
          <a:fillRef idx="3">
            <a:schemeClr val="accent1"/>
          </a:fillRef>
          <a:effectRef idx="2">
            <a:schemeClr val="accent1"/>
          </a:effectRef>
          <a:fontRef idx="minor">
            <a:schemeClr val="lt1"/>
          </a:fontRef>
        </p:style>
        <p:txBody>
          <a:bodyPr rtlCol="0" anchor="ctr" wrap="none" lIns="95000" rIns="95000" tIns="0" bIns="0"/>
          <a:lstStyle/>
          <a:p>
            <a:pPr algn="ctr">
              <a:lnSpc>
                <a:spcPct val="100000"/>
              </a:lnSpc>
            </a:pPr>
            <a:r>
              <a:rPr sz="850" b="0" i="0">
                <a:solidFill>
                  <a:srgbClr val="5A6B86"/>
                </a:solidFill>
                <a:latin typeface="Consolas"/>
              </a:rPr>
              <a:t>Why</a:t>
            </a:r>
          </a:p>
        </p:txBody>
      </p:sp>
      <p:sp>
        <p:nvSpPr>
          <p:cNvPr id="6" name="TextBox 5"/>
          <p:cNvSpPr txBox="1"/>
          <p:nvPr/>
        </p:nvSpPr>
        <p:spPr>
          <a:xfrm>
            <a:off x="10768125" y="6550000"/>
            <a:ext cx="900000" cy="220000"/>
          </a:xfrm>
          <a:prstGeom prst="rect">
            <a:avLst/>
          </a:prstGeom>
          <a:noFill/>
          <a:effectLst/>
        </p:spPr>
        <p:txBody>
          <a:bodyPr wrap="square" lIns="0" rIns="0" tIns="0" bIns="0" anchor="t">
            <a:spAutoFit/>
          </a:bodyPr>
          <a:lstStyle/>
          <a:p>
            <a:pPr algn="r">
              <a:lnSpc>
                <a:spcPct val="125000"/>
              </a:lnSpc>
            </a:pPr>
            <a:r>
              <a:rPr sz="850" b="0" i="0">
                <a:solidFill>
                  <a:srgbClr val="5A6B86"/>
                </a:solidFill>
                <a:latin typeface="Consolas"/>
              </a:rPr>
              <a:t>6 / 10</a:t>
            </a:r>
          </a:p>
        </p:txBody>
      </p:sp>
      <p:sp>
        <p:nvSpPr>
          <p:cNvPr id="7" name="TextBox 6"/>
          <p:cNvSpPr txBox="1"/>
          <p:nvPr/>
        </p:nvSpPr>
        <p:spPr>
          <a:xfrm>
            <a:off x="523875" y="1295000"/>
            <a:ext cx="11144250" cy="210000"/>
          </a:xfrm>
          <a:prstGeom prst="rect">
            <a:avLst/>
          </a:prstGeom>
          <a:noFill/>
          <a:effectLst/>
        </p:spPr>
        <p:txBody>
          <a:bodyPr wrap="square" lIns="0" rIns="0" tIns="0" bIns="0" anchor="t">
            <a:spAutoFit/>
          </a:bodyPr>
          <a:lstStyle/>
          <a:p>
            <a:pPr algn="l">
              <a:lnSpc>
                <a:spcPct val="125000"/>
              </a:lnSpc>
            </a:pPr>
            <a:r>
              <a:rPr sz="950" b="0" i="0" spc="170">
                <a:solidFill>
                  <a:srgbClr val="5A6B86"/>
                </a:solidFill>
                <a:latin typeface="Consolas"/>
              </a:rPr>
              <a:t>COST IN TIME · SIMPLIFIED DILITHIUM-III · PAIRED, INTERLEAVED MEASUREMENTS</a:t>
            </a:r>
          </a:p>
        </p:txBody>
      </p:sp>
      <p:sp>
        <p:nvSpPr>
          <p:cNvPr id="8" name="TextBox 7"/>
          <p:cNvSpPr txBox="1"/>
          <p:nvPr/>
        </p:nvSpPr>
        <p:spPr>
          <a:xfrm>
            <a:off x="523875" y="1495000"/>
            <a:ext cx="11144250" cy="610000"/>
          </a:xfrm>
          <a:prstGeom prst="rect">
            <a:avLst/>
          </a:prstGeom>
          <a:noFill/>
          <a:effectLst/>
        </p:spPr>
        <p:txBody>
          <a:bodyPr wrap="square" lIns="0" rIns="0" tIns="0" bIns="0" anchor="b">
            <a:spAutoFit/>
          </a:bodyPr>
          <a:lstStyle/>
          <a:p>
            <a:pPr algn="l">
              <a:lnSpc>
                <a:spcPct val="108000"/>
              </a:lnSpc>
            </a:pPr>
            <a:r>
              <a:rPr sz="2500" b="1" i="0">
                <a:solidFill>
                  <a:srgbClr val="7800A2"/>
                </a:solidFill>
                <a:latin typeface="Arial"/>
              </a:rPr>
              <a:t>The adaptor layer is </a:t>
            </a:r>
            <a:r>
              <a:rPr sz="2500" b="1" i="0">
                <a:solidFill>
                  <a:srgbClr val="1F6FEB"/>
                </a:solidFill>
                <a:latin typeface="Arial"/>
              </a:rPr>
              <a:t>nearly free</a:t>
            </a:r>
            <a:r>
              <a:rPr sz="2500" b="1" i="0">
                <a:solidFill>
                  <a:srgbClr val="7800A2"/>
                </a:solidFill>
                <a:latin typeface="Arial"/>
              </a:rPr>
              <a:t>. The </a:t>
            </a:r>
            <a:r>
              <a:rPr sz="2500" b="1" i="0">
                <a:solidFill>
                  <a:srgbClr val="C2410C"/>
                </a:solidFill>
                <a:latin typeface="Arial"/>
              </a:rPr>
              <a:t>proof</a:t>
            </a:r>
            <a:r>
              <a:rPr sz="2500" b="1" i="0">
                <a:solidFill>
                  <a:srgbClr val="7800A2"/>
                </a:solidFill>
                <a:latin typeface="Arial"/>
              </a:rPr>
              <a:t> is not.</a:t>
            </a:r>
          </a:p>
        </p:txBody>
      </p:sp>
      <p:cxnSp>
        <p:nvCxnSpPr>
          <p:cNvPr id="9" name="Connector 8"/>
          <p:cNvCxnSpPr/>
          <p:nvPr/>
        </p:nvCxnSpPr>
        <p:spPr>
          <a:xfrm>
            <a:off x="523875" y="2165000"/>
            <a:ext cx="11144250" cy="0"/>
          </a:xfrm>
          <a:prstGeom prst="line">
            <a:avLst/>
          </a:prstGeom>
          <a:ln w="25400">
            <a:solidFill>
              <a:srgbClr val="660066"/>
            </a:solidFill>
            <a:prstDash val="sysDot"/>
          </a:ln>
          <a:effectLst/>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523875" y="2265000"/>
            <a:ext cx="2668562" cy="1150000"/>
          </a:xfrm>
          <a:prstGeom prst="roundRect">
            <a:avLst>
              <a:gd name="adj" fmla="val 9565"/>
            </a:avLst>
          </a:prstGeom>
          <a:solidFill>
            <a:srgbClr val="FFFFFF"/>
          </a:solidFill>
          <a:ln w="12700">
            <a:solidFill>
              <a:srgbClr val="D8E0EC"/>
            </a:solidFill>
          </a:ln>
          <a:effectLst/>
        </p:spPr>
        <p:style>
          <a:lnRef idx="1">
            <a:schemeClr val="accent1"/>
          </a:lnRef>
          <a:fillRef idx="3">
            <a:schemeClr val="accent1"/>
          </a:fillRef>
          <a:effectRef idx="2">
            <a:schemeClr val="accent1"/>
          </a:effectRef>
          <a:fontRef idx="minor">
            <a:schemeClr val="lt1"/>
          </a:fontRef>
        </p:style>
        <p:txBody>
          <a:bodyPr rtlCol="0" anchor="ctr" wrap="square" lIns="160000" rIns="160000" tIns="120000" bIns="120000"/>
          <a:lstStyle/>
          <a:p>
            <a:pPr algn="l">
              <a:lnSpc>
                <a:spcPct val="105000"/>
              </a:lnSpc>
            </a:pPr>
            <a:r>
              <a:rPr sz="2600" b="1" i="0">
                <a:solidFill>
                  <a:srgbClr val="C2410C"/>
                </a:solidFill>
                <a:latin typeface="Arial"/>
              </a:rPr>
              <a:t>+6.6%</a:t>
            </a:r>
          </a:p>
          <a:p>
            <a:pPr algn="l">
              <a:lnSpc>
                <a:spcPct val="125000"/>
              </a:lnSpc>
              <a:spcBef>
                <a:spcPts val="500"/>
              </a:spcBef>
            </a:pPr>
            <a:r>
              <a:rPr sz="1100" b="0" i="0">
                <a:solidFill>
                  <a:srgbClr val="5A6B86"/>
                </a:solidFill>
                <a:latin typeface="Arial"/>
              </a:rPr>
              <a:t>PreSign over Sign</a:t>
            </a:r>
          </a:p>
        </p:txBody>
      </p:sp>
      <p:sp>
        <p:nvSpPr>
          <p:cNvPr id="11" name="Rounded Rectangle 10"/>
          <p:cNvSpPr/>
          <p:nvPr/>
        </p:nvSpPr>
        <p:spPr>
          <a:xfrm>
            <a:off x="3342438" y="2265000"/>
            <a:ext cx="2668562" cy="1150000"/>
          </a:xfrm>
          <a:prstGeom prst="roundRect">
            <a:avLst>
              <a:gd name="adj" fmla="val 9565"/>
            </a:avLst>
          </a:prstGeom>
          <a:solidFill>
            <a:srgbClr val="FFFFFF"/>
          </a:solidFill>
          <a:ln w="12700">
            <a:solidFill>
              <a:srgbClr val="D8E0EC"/>
            </a:solidFill>
          </a:ln>
          <a:effectLst/>
        </p:spPr>
        <p:style>
          <a:lnRef idx="1">
            <a:schemeClr val="accent1"/>
          </a:lnRef>
          <a:fillRef idx="3">
            <a:schemeClr val="accent1"/>
          </a:fillRef>
          <a:effectRef idx="2">
            <a:schemeClr val="accent1"/>
          </a:effectRef>
          <a:fontRef idx="minor">
            <a:schemeClr val="lt1"/>
          </a:fontRef>
        </p:style>
        <p:txBody>
          <a:bodyPr rtlCol="0" anchor="ctr" wrap="square" lIns="160000" rIns="160000" tIns="120000" bIns="120000"/>
          <a:lstStyle/>
          <a:p>
            <a:pPr algn="l">
              <a:lnSpc>
                <a:spcPct val="105000"/>
              </a:lnSpc>
            </a:pPr>
            <a:r>
              <a:rPr sz="2600" b="1" i="0">
                <a:solidFill>
                  <a:srgbClr val="C2410C"/>
                </a:solidFill>
                <a:latin typeface="Arial"/>
              </a:rPr>
              <a:t>+4.0%</a:t>
            </a:r>
          </a:p>
          <a:p>
            <a:pPr algn="l">
              <a:lnSpc>
                <a:spcPct val="125000"/>
              </a:lnSpc>
              <a:spcBef>
                <a:spcPts val="500"/>
              </a:spcBef>
            </a:pPr>
            <a:r>
              <a:rPr sz="1100" b="0" i="0">
                <a:solidFill>
                  <a:srgbClr val="5A6B86"/>
                </a:solidFill>
                <a:latin typeface="Arial"/>
              </a:rPr>
              <a:t>PreVerify over Verify</a:t>
            </a:r>
          </a:p>
        </p:txBody>
      </p:sp>
      <p:sp>
        <p:nvSpPr>
          <p:cNvPr id="12" name="Rounded Rectangle 11"/>
          <p:cNvSpPr/>
          <p:nvPr/>
        </p:nvSpPr>
        <p:spPr>
          <a:xfrm>
            <a:off x="523875" y="3565000"/>
            <a:ext cx="2668562" cy="1150000"/>
          </a:xfrm>
          <a:prstGeom prst="roundRect">
            <a:avLst>
              <a:gd name="adj" fmla="val 9565"/>
            </a:avLst>
          </a:prstGeom>
          <a:solidFill>
            <a:srgbClr val="FFFFFF"/>
          </a:solidFill>
          <a:ln w="12700">
            <a:solidFill>
              <a:srgbClr val="D8E0EC"/>
            </a:solidFill>
          </a:ln>
          <a:effectLst/>
        </p:spPr>
        <p:style>
          <a:lnRef idx="1">
            <a:schemeClr val="accent1"/>
          </a:lnRef>
          <a:fillRef idx="3">
            <a:schemeClr val="accent1"/>
          </a:fillRef>
          <a:effectRef idx="2">
            <a:schemeClr val="accent1"/>
          </a:effectRef>
          <a:fontRef idx="minor">
            <a:schemeClr val="lt1"/>
          </a:fontRef>
        </p:style>
        <p:txBody>
          <a:bodyPr rtlCol="0" anchor="ctr" wrap="square" lIns="160000" rIns="160000" tIns="120000" bIns="120000"/>
          <a:lstStyle/>
          <a:p>
            <a:pPr algn="l">
              <a:lnSpc>
                <a:spcPct val="105000"/>
              </a:lnSpc>
            </a:pPr>
            <a:r>
              <a:rPr sz="2600" b="1" i="0">
                <a:solidFill>
                  <a:srgbClr val="C2410C"/>
                </a:solidFill>
                <a:latin typeface="Arial"/>
              </a:rPr>
              <a:t>+6.9%</a:t>
            </a:r>
          </a:p>
          <a:p>
            <a:pPr algn="l">
              <a:lnSpc>
                <a:spcPct val="125000"/>
              </a:lnSpc>
              <a:spcBef>
                <a:spcPts val="500"/>
              </a:spcBef>
            </a:pPr>
            <a:r>
              <a:rPr sz="1100" b="0" i="0">
                <a:solidFill>
                  <a:srgbClr val="5A6B86"/>
                </a:solidFill>
                <a:latin typeface="Arial"/>
              </a:rPr>
              <a:t>Adapt over Verify</a:t>
            </a:r>
          </a:p>
        </p:txBody>
      </p:sp>
      <p:sp>
        <p:nvSpPr>
          <p:cNvPr id="13" name="Rounded Rectangle 12"/>
          <p:cNvSpPr/>
          <p:nvPr/>
        </p:nvSpPr>
        <p:spPr>
          <a:xfrm>
            <a:off x="3342438" y="3565000"/>
            <a:ext cx="2668562" cy="1150000"/>
          </a:xfrm>
          <a:prstGeom prst="roundRect">
            <a:avLst>
              <a:gd name="adj" fmla="val 9565"/>
            </a:avLst>
          </a:prstGeom>
          <a:solidFill>
            <a:srgbClr val="FFFFFF"/>
          </a:solidFill>
          <a:ln w="12700">
            <a:solidFill>
              <a:srgbClr val="D8E0EC"/>
            </a:solidFill>
          </a:ln>
          <a:effectLst/>
        </p:spPr>
        <p:style>
          <a:lnRef idx="1">
            <a:schemeClr val="accent1"/>
          </a:lnRef>
          <a:fillRef idx="3">
            <a:schemeClr val="accent1"/>
          </a:fillRef>
          <a:effectRef idx="2">
            <a:schemeClr val="accent1"/>
          </a:effectRef>
          <a:fontRef idx="minor">
            <a:schemeClr val="lt1"/>
          </a:fontRef>
        </p:style>
        <p:txBody>
          <a:bodyPr rtlCol="0" anchor="ctr" wrap="square" lIns="160000" rIns="160000" tIns="120000" bIns="120000"/>
          <a:lstStyle/>
          <a:p>
            <a:pPr algn="l">
              <a:lnSpc>
                <a:spcPct val="105000"/>
              </a:lnSpc>
            </a:pPr>
            <a:r>
              <a:rPr sz="2600" b="1" i="0">
                <a:solidFill>
                  <a:srgbClr val="2F9E44"/>
                </a:solidFill>
                <a:latin typeface="Arial"/>
              </a:rPr>
              <a:t>cheapest</a:t>
            </a:r>
          </a:p>
          <a:p>
            <a:pPr algn="l">
              <a:lnSpc>
                <a:spcPct val="125000"/>
              </a:lnSpc>
              <a:spcBef>
                <a:spcPts val="500"/>
              </a:spcBef>
            </a:pPr>
            <a:r>
              <a:rPr sz="1100" b="0" i="0">
                <a:solidFill>
                  <a:srgbClr val="5A6B86"/>
                </a:solidFill>
                <a:latin typeface="Arial"/>
              </a:rPr>
              <a:t>Extract — no basic analogue</a:t>
            </a:r>
          </a:p>
        </p:txBody>
      </p:sp>
      <p:sp>
        <p:nvSpPr>
          <p:cNvPr id="14" name="Rectangle 13"/>
          <p:cNvSpPr/>
          <p:nvPr/>
        </p:nvSpPr>
        <p:spPr>
          <a:xfrm>
            <a:off x="523875" y="4885000"/>
            <a:ext cx="38000" cy="900000"/>
          </a:xfrm>
          <a:prstGeom prst="rect">
            <a:avLst/>
          </a:prstGeom>
          <a:solidFill>
            <a:srgbClr val="B02A3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73875" y="4885000"/>
            <a:ext cx="5337125" cy="900000"/>
          </a:xfrm>
          <a:prstGeom prst="rect">
            <a:avLst/>
          </a:prstGeom>
          <a:noFill/>
          <a:effectLst/>
        </p:spPr>
        <p:txBody>
          <a:bodyPr wrap="square" lIns="0" rIns="0" tIns="0" bIns="0" anchor="t">
            <a:spAutoFit/>
          </a:bodyPr>
          <a:lstStyle/>
          <a:p>
            <a:pPr algn="l">
              <a:lnSpc>
                <a:spcPct val="130000"/>
              </a:lnSpc>
            </a:pPr>
            <a:r>
              <a:rPr sz="1050" b="0" i="0">
                <a:solidFill>
                  <a:srgbClr val="5A6B86"/>
                </a:solidFill>
                <a:latin typeface="Arial"/>
              </a:rPr>
              <a:t>Rejection attempts are </a:t>
            </a:r>
            <a:r>
              <a:rPr sz="1050" b="1" i="0">
                <a:solidFill>
                  <a:srgbClr val="B02A37"/>
                </a:solidFill>
                <a:latin typeface="Arial"/>
              </a:rPr>
              <a:t>counted</a:t>
            </a:r>
            <a:r>
              <a:rPr sz="1050" b="0" i="0">
                <a:solidFill>
                  <a:srgbClr val="5A6B86"/>
                </a:solidFill>
                <a:latin typeface="Arial"/>
              </a:rPr>
              <a:t>, never inferred from timing: 2.615 per Sign against 2.724 per PreSign, and the run aborts unless every timed call matches theory.</a:t>
            </a:r>
          </a:p>
        </p:txBody>
      </p:sp>
      <p:sp>
        <p:nvSpPr>
          <p:cNvPr id="16" name="Rounded Rectangle 15"/>
          <p:cNvSpPr/>
          <p:nvPr/>
        </p:nvSpPr>
        <p:spPr>
          <a:xfrm>
            <a:off x="6181000" y="2265000"/>
            <a:ext cx="5487125" cy="3150000"/>
          </a:xfrm>
          <a:prstGeom prst="roundRect">
            <a:avLst>
              <a:gd name="adj" fmla="val 3492"/>
            </a:avLst>
          </a:prstGeom>
          <a:solidFill>
            <a:srgbClr val="FFFFFF"/>
          </a:solidFill>
          <a:ln w="12700">
            <a:solidFill>
              <a:srgbClr val="D8E0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7" name="Picture 16" descr="fig_timing.png"/>
          <p:cNvPicPr>
            <a:picLocks noChangeAspect="1"/>
          </p:cNvPicPr>
          <p:nvPr/>
        </p:nvPicPr>
        <p:blipFill>
          <a:blip r:embed="rId3"/>
          <a:stretch>
            <a:fillRect/>
          </a:stretch>
        </p:blipFill>
        <p:spPr>
          <a:xfrm>
            <a:off x="6486416" y="2375000"/>
            <a:ext cx="4876292" cy="2930000"/>
          </a:xfrm>
          <a:prstGeom prst="rect">
            <a:avLst/>
          </a:prstGeom>
        </p:spPr>
      </p:pic>
      <p:sp>
        <p:nvSpPr>
          <p:cNvPr id="18" name="Rectangle 17"/>
          <p:cNvSpPr/>
          <p:nvPr/>
        </p:nvSpPr>
        <p:spPr>
          <a:xfrm>
            <a:off x="6181000" y="5615000"/>
            <a:ext cx="38000" cy="700000"/>
          </a:xfrm>
          <a:prstGeom prst="rect">
            <a:avLst/>
          </a:prstGeom>
          <a:solidFill>
            <a:srgbClr val="B02A3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331000" y="5615000"/>
            <a:ext cx="5337125" cy="700000"/>
          </a:xfrm>
          <a:prstGeom prst="rect">
            <a:avLst/>
          </a:prstGeom>
          <a:noFill/>
          <a:effectLst/>
        </p:spPr>
        <p:txBody>
          <a:bodyPr wrap="square" lIns="0" rIns="0" tIns="0" bIns="0" anchor="t">
            <a:spAutoFit/>
          </a:bodyPr>
          <a:lstStyle/>
          <a:p>
            <a:pPr algn="l">
              <a:lnSpc>
                <a:spcPct val="130000"/>
              </a:lnSpc>
            </a:pPr>
            <a:r>
              <a:rPr sz="1050" b="0" i="0">
                <a:solidFill>
                  <a:srgbClr val="5A6B86"/>
                </a:solidFill>
                <a:latin typeface="Arial"/>
              </a:rPr>
              <a:t>In a whole swap the </a:t>
            </a:r>
            <a:r>
              <a:rPr sz="1050" b="1" i="0">
                <a:solidFill>
                  <a:srgbClr val="B02A37"/>
                </a:solidFill>
                <a:latin typeface="Arial"/>
              </a:rPr>
              <a:t>proof</a:t>
            </a:r>
            <a:r>
              <a:rPr sz="1050" b="0" i="0">
                <a:solidFill>
                  <a:srgbClr val="5A6B86"/>
                </a:solidFill>
                <a:latin typeface="Arial"/>
              </a:rPr>
              <a:t> takes </a:t>
            </a:r>
            <a:r>
              <a:rPr sz="1050" b="1" i="0">
                <a:solidFill>
                  <a:srgbClr val="B02A37"/>
                </a:solidFill>
                <a:latin typeface="Arial"/>
              </a:rPr>
              <a:t>98.6%</a:t>
            </a:r>
            <a:r>
              <a:rPr sz="1050" b="0" i="0">
                <a:solidFill>
                  <a:srgbClr val="5A6B86"/>
                </a:solidFill>
                <a:latin typeface="Arial"/>
              </a:rPr>
              <a:t> of end-to-end time — the signature is not the bottleneck.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11003145" y="640000"/>
            <a:ext cx="664980" cy="230000"/>
          </a:xfrm>
          <a:prstGeom prst="roundRect">
            <a:avLst>
              <a:gd name="adj" fmla="val 50000"/>
            </a:avLst>
          </a:prstGeom>
          <a:noFill/>
          <a:ln w="9525">
            <a:solidFill>
              <a:srgbClr val="D8E0EC"/>
            </a:solidFill>
          </a:ln>
          <a:effectLst/>
        </p:spPr>
        <p:style>
          <a:lnRef idx="1">
            <a:schemeClr val="accent1"/>
          </a:lnRef>
          <a:fillRef idx="3">
            <a:schemeClr val="accent1"/>
          </a:fillRef>
          <a:effectRef idx="2">
            <a:schemeClr val="accent1"/>
          </a:effectRef>
          <a:fontRef idx="minor">
            <a:schemeClr val="lt1"/>
          </a:fontRef>
        </p:style>
        <p:txBody>
          <a:bodyPr rtlCol="0" anchor="ctr" wrap="none" lIns="95000" rIns="95000" tIns="0" bIns="0"/>
          <a:lstStyle/>
          <a:p>
            <a:pPr algn="ctr">
              <a:lnSpc>
                <a:spcPct val="100000"/>
              </a:lnSpc>
            </a:pPr>
            <a:r>
              <a:rPr sz="850" b="0" i="0">
                <a:solidFill>
                  <a:srgbClr val="5A6B86"/>
                </a:solidFill>
                <a:latin typeface="Consolas"/>
              </a:rPr>
              <a:t>Takeaway</a:t>
            </a:r>
          </a:p>
        </p:txBody>
      </p:sp>
      <p:sp>
        <p:nvSpPr>
          <p:cNvPr id="3" name="Rounded Rectangle 2"/>
          <p:cNvSpPr/>
          <p:nvPr/>
        </p:nvSpPr>
        <p:spPr>
          <a:xfrm>
            <a:off x="10357538" y="640000"/>
            <a:ext cx="605608" cy="230000"/>
          </a:xfrm>
          <a:prstGeom prst="roundRect">
            <a:avLst>
              <a:gd name="adj" fmla="val 50000"/>
            </a:avLst>
          </a:prstGeom>
          <a:solidFill>
            <a:srgbClr val="FDECE1"/>
          </a:solidFill>
          <a:ln w="9525">
            <a:solidFill>
              <a:srgbClr val="E8590C"/>
            </a:solidFill>
          </a:ln>
          <a:effectLst/>
        </p:spPr>
        <p:style>
          <a:lnRef idx="1">
            <a:schemeClr val="accent1"/>
          </a:lnRef>
          <a:fillRef idx="3">
            <a:schemeClr val="accent1"/>
          </a:fillRef>
          <a:effectRef idx="2">
            <a:schemeClr val="accent1"/>
          </a:effectRef>
          <a:fontRef idx="minor">
            <a:schemeClr val="lt1"/>
          </a:fontRef>
        </p:style>
        <p:txBody>
          <a:bodyPr rtlCol="0" anchor="ctr" wrap="none" lIns="95000" rIns="95000" tIns="0" bIns="0"/>
          <a:lstStyle/>
          <a:p>
            <a:pPr algn="ctr">
              <a:lnSpc>
                <a:spcPct val="100000"/>
              </a:lnSpc>
            </a:pPr>
            <a:r>
              <a:rPr sz="850" b="0" i="0">
                <a:solidFill>
                  <a:srgbClr val="C2410C"/>
                </a:solidFill>
                <a:latin typeface="Consolas"/>
              </a:rPr>
              <a:t>Results</a:t>
            </a:r>
          </a:p>
        </p:txBody>
      </p:sp>
      <p:sp>
        <p:nvSpPr>
          <p:cNvPr id="4" name="Rounded Rectangle 3"/>
          <p:cNvSpPr/>
          <p:nvPr/>
        </p:nvSpPr>
        <p:spPr>
          <a:xfrm>
            <a:off x="9771302" y="640000"/>
            <a:ext cx="546235" cy="230000"/>
          </a:xfrm>
          <a:prstGeom prst="roundRect">
            <a:avLst>
              <a:gd name="adj" fmla="val 50000"/>
            </a:avLst>
          </a:prstGeom>
          <a:noFill/>
          <a:ln w="9525">
            <a:solidFill>
              <a:srgbClr val="D8E0EC"/>
            </a:solidFill>
          </a:ln>
          <a:effectLst/>
        </p:spPr>
        <p:style>
          <a:lnRef idx="1">
            <a:schemeClr val="accent1"/>
          </a:lnRef>
          <a:fillRef idx="3">
            <a:schemeClr val="accent1"/>
          </a:fillRef>
          <a:effectRef idx="2">
            <a:schemeClr val="accent1"/>
          </a:effectRef>
          <a:fontRef idx="minor">
            <a:schemeClr val="lt1"/>
          </a:fontRef>
        </p:style>
        <p:txBody>
          <a:bodyPr rtlCol="0" anchor="ctr" wrap="none" lIns="95000" rIns="95000" tIns="0" bIns="0"/>
          <a:lstStyle/>
          <a:p>
            <a:pPr algn="ctr">
              <a:lnSpc>
                <a:spcPct val="100000"/>
              </a:lnSpc>
            </a:pPr>
            <a:r>
              <a:rPr sz="850" b="0" i="0">
                <a:solidFill>
                  <a:srgbClr val="5A6B86"/>
                </a:solidFill>
                <a:latin typeface="Consolas"/>
              </a:rPr>
              <a:t>Method</a:t>
            </a:r>
          </a:p>
        </p:txBody>
      </p:sp>
      <p:sp>
        <p:nvSpPr>
          <p:cNvPr id="5" name="Rounded Rectangle 4"/>
          <p:cNvSpPr/>
          <p:nvPr/>
        </p:nvSpPr>
        <p:spPr>
          <a:xfrm>
            <a:off x="9363185" y="640000"/>
            <a:ext cx="368118" cy="230000"/>
          </a:xfrm>
          <a:prstGeom prst="roundRect">
            <a:avLst>
              <a:gd name="adj" fmla="val 50000"/>
            </a:avLst>
          </a:prstGeom>
          <a:noFill/>
          <a:ln w="9525">
            <a:solidFill>
              <a:srgbClr val="D8E0EC"/>
            </a:solidFill>
          </a:ln>
          <a:effectLst/>
        </p:spPr>
        <p:style>
          <a:lnRef idx="1">
            <a:schemeClr val="accent1"/>
          </a:lnRef>
          <a:fillRef idx="3">
            <a:schemeClr val="accent1"/>
          </a:fillRef>
          <a:effectRef idx="2">
            <a:schemeClr val="accent1"/>
          </a:effectRef>
          <a:fontRef idx="minor">
            <a:schemeClr val="lt1"/>
          </a:fontRef>
        </p:style>
        <p:txBody>
          <a:bodyPr rtlCol="0" anchor="ctr" wrap="none" lIns="95000" rIns="95000" tIns="0" bIns="0"/>
          <a:lstStyle/>
          <a:p>
            <a:pPr algn="ctr">
              <a:lnSpc>
                <a:spcPct val="100000"/>
              </a:lnSpc>
            </a:pPr>
            <a:r>
              <a:rPr sz="850" b="0" i="0">
                <a:solidFill>
                  <a:srgbClr val="5A6B86"/>
                </a:solidFill>
                <a:latin typeface="Consolas"/>
              </a:rPr>
              <a:t>Why</a:t>
            </a:r>
          </a:p>
        </p:txBody>
      </p:sp>
      <p:sp>
        <p:nvSpPr>
          <p:cNvPr id="6" name="TextBox 5"/>
          <p:cNvSpPr txBox="1"/>
          <p:nvPr/>
        </p:nvSpPr>
        <p:spPr>
          <a:xfrm>
            <a:off x="10768125" y="6550000"/>
            <a:ext cx="900000" cy="220000"/>
          </a:xfrm>
          <a:prstGeom prst="rect">
            <a:avLst/>
          </a:prstGeom>
          <a:noFill/>
          <a:effectLst/>
        </p:spPr>
        <p:txBody>
          <a:bodyPr wrap="square" lIns="0" rIns="0" tIns="0" bIns="0" anchor="t">
            <a:spAutoFit/>
          </a:bodyPr>
          <a:lstStyle/>
          <a:p>
            <a:pPr algn="r">
              <a:lnSpc>
                <a:spcPct val="125000"/>
              </a:lnSpc>
            </a:pPr>
            <a:r>
              <a:rPr sz="850" b="0" i="0">
                <a:solidFill>
                  <a:srgbClr val="5A6B86"/>
                </a:solidFill>
                <a:latin typeface="Consolas"/>
              </a:rPr>
              <a:t>7 / 10</a:t>
            </a:r>
          </a:p>
        </p:txBody>
      </p:sp>
      <p:sp>
        <p:nvSpPr>
          <p:cNvPr id="7" name="TextBox 6"/>
          <p:cNvSpPr txBox="1"/>
          <p:nvPr/>
        </p:nvSpPr>
        <p:spPr>
          <a:xfrm>
            <a:off x="523875" y="1295000"/>
            <a:ext cx="11144250" cy="210000"/>
          </a:xfrm>
          <a:prstGeom prst="rect">
            <a:avLst/>
          </a:prstGeom>
          <a:noFill/>
          <a:effectLst/>
        </p:spPr>
        <p:txBody>
          <a:bodyPr wrap="square" lIns="0" rIns="0" tIns="0" bIns="0" anchor="t">
            <a:spAutoFit/>
          </a:bodyPr>
          <a:lstStyle/>
          <a:p>
            <a:pPr algn="l">
              <a:lnSpc>
                <a:spcPct val="125000"/>
              </a:lnSpc>
            </a:pPr>
            <a:r>
              <a:rPr sz="950" b="0" i="0" spc="170">
                <a:solidFill>
                  <a:srgbClr val="5A6B86"/>
                </a:solidFill>
                <a:latin typeface="Consolas"/>
              </a:rPr>
              <a:t>RESULT 2 · COMMUNICATION · THE PRICE OF POST-QUANTUM</a:t>
            </a:r>
          </a:p>
        </p:txBody>
      </p:sp>
      <p:sp>
        <p:nvSpPr>
          <p:cNvPr id="8" name="TextBox 7"/>
          <p:cNvSpPr txBox="1"/>
          <p:nvPr/>
        </p:nvSpPr>
        <p:spPr>
          <a:xfrm>
            <a:off x="523875" y="1495000"/>
            <a:ext cx="11144250" cy="610000"/>
          </a:xfrm>
          <a:prstGeom prst="rect">
            <a:avLst/>
          </a:prstGeom>
          <a:noFill/>
          <a:effectLst/>
        </p:spPr>
        <p:txBody>
          <a:bodyPr wrap="square" lIns="0" rIns="0" tIns="0" bIns="0" anchor="b">
            <a:spAutoFit/>
          </a:bodyPr>
          <a:lstStyle/>
          <a:p>
            <a:pPr algn="l">
              <a:lnSpc>
                <a:spcPct val="108000"/>
              </a:lnSpc>
            </a:pPr>
            <a:r>
              <a:rPr sz="2500" b="1" i="0">
                <a:solidFill>
                  <a:srgbClr val="7800A2"/>
                </a:solidFill>
                <a:latin typeface="Arial"/>
              </a:rPr>
              <a:t>The cost is not adaptor computation — it is </a:t>
            </a:r>
            <a:r>
              <a:rPr sz="2500" b="1" i="0">
                <a:solidFill>
                  <a:srgbClr val="C2410C"/>
                </a:solidFill>
                <a:latin typeface="Arial"/>
              </a:rPr>
              <a:t>bytes on the wire</a:t>
            </a:r>
          </a:p>
        </p:txBody>
      </p:sp>
      <p:cxnSp>
        <p:nvCxnSpPr>
          <p:cNvPr id="9" name="Connector 8"/>
          <p:cNvCxnSpPr/>
          <p:nvPr/>
        </p:nvCxnSpPr>
        <p:spPr>
          <a:xfrm>
            <a:off x="523875" y="2165000"/>
            <a:ext cx="11144250" cy="0"/>
          </a:xfrm>
          <a:prstGeom prst="line">
            <a:avLst/>
          </a:prstGeom>
          <a:ln w="25400">
            <a:solidFill>
              <a:srgbClr val="660066"/>
            </a:solidFill>
            <a:prstDash val="sysDot"/>
          </a:ln>
          <a:effectLst/>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523875" y="2305000"/>
            <a:ext cx="130000" cy="130000"/>
          </a:xfrm>
          <a:prstGeom prst="roundRect">
            <a:avLst>
              <a:gd name="adj" fmla="val 23076"/>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713875" y="2265000"/>
            <a:ext cx="2600000" cy="220000"/>
          </a:xfrm>
          <a:prstGeom prst="rect">
            <a:avLst/>
          </a:prstGeom>
          <a:noFill/>
          <a:effectLst/>
        </p:spPr>
        <p:txBody>
          <a:bodyPr wrap="none" lIns="0" rIns="0" tIns="0" bIns="0" anchor="t">
            <a:spAutoFit/>
          </a:bodyPr>
          <a:lstStyle/>
          <a:p>
            <a:pPr algn="l">
              <a:lnSpc>
                <a:spcPct val="125000"/>
              </a:lnSpc>
            </a:pPr>
            <a:r>
              <a:rPr sz="1000" b="0" i="0">
                <a:solidFill>
                  <a:srgbClr val="5A6B86"/>
                </a:solidFill>
                <a:latin typeface="Arial"/>
              </a:rPr>
              <a:t>classical ECDSA adaptor</a:t>
            </a:r>
          </a:p>
        </p:txBody>
      </p:sp>
      <p:sp>
        <p:nvSpPr>
          <p:cNvPr id="12" name="Rounded Rectangle 11"/>
          <p:cNvSpPr/>
          <p:nvPr/>
        </p:nvSpPr>
        <p:spPr>
          <a:xfrm>
            <a:off x="2668055" y="2305000"/>
            <a:ext cx="130000" cy="130000"/>
          </a:xfrm>
          <a:prstGeom prst="roundRect">
            <a:avLst>
              <a:gd name="adj" fmla="val 23076"/>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2858055" y="2265000"/>
            <a:ext cx="2600000" cy="220000"/>
          </a:xfrm>
          <a:prstGeom prst="rect">
            <a:avLst/>
          </a:prstGeom>
          <a:noFill/>
          <a:effectLst/>
        </p:spPr>
        <p:txBody>
          <a:bodyPr wrap="none" lIns="0" rIns="0" tIns="0" bIns="0" anchor="t">
            <a:spAutoFit/>
          </a:bodyPr>
          <a:lstStyle/>
          <a:p>
            <a:pPr algn="l">
              <a:lnSpc>
                <a:spcPct val="125000"/>
              </a:lnSpc>
            </a:pPr>
            <a:r>
              <a:rPr sz="1000" b="0" i="0">
                <a:solidFill>
                  <a:srgbClr val="5A6B86"/>
                </a:solidFill>
                <a:latin typeface="Arial"/>
              </a:rPr>
              <a:t>LAS</a:t>
            </a:r>
          </a:p>
        </p:txBody>
      </p:sp>
      <p:sp>
        <p:nvSpPr>
          <p:cNvPr id="14" name="TextBox 13"/>
          <p:cNvSpPr txBox="1"/>
          <p:nvPr/>
        </p:nvSpPr>
        <p:spPr>
          <a:xfrm>
            <a:off x="3339035" y="2265000"/>
            <a:ext cx="4000000" cy="220000"/>
          </a:xfrm>
          <a:prstGeom prst="rect">
            <a:avLst/>
          </a:prstGeom>
          <a:noFill/>
          <a:effectLst/>
        </p:spPr>
        <p:txBody>
          <a:bodyPr wrap="square" lIns="0" rIns="0" tIns="0" bIns="0" anchor="t">
            <a:spAutoFit/>
          </a:bodyPr>
          <a:lstStyle/>
          <a:p>
            <a:pPr algn="l">
              <a:lnSpc>
                <a:spcPct val="125000"/>
              </a:lnSpc>
            </a:pPr>
            <a:r>
              <a:rPr sz="1000" b="0" i="0">
                <a:solidFill>
                  <a:srgbClr val="5A6B86"/>
                </a:solidFill>
                <a:latin typeface="Arial"/>
              </a:rPr>
              <a:t>one shared byte scale · Simplified Dilithium-II</a:t>
            </a:r>
          </a:p>
        </p:txBody>
      </p:sp>
      <p:sp>
        <p:nvSpPr>
          <p:cNvPr id="15" name="TextBox 14"/>
          <p:cNvSpPr txBox="1"/>
          <p:nvPr/>
        </p:nvSpPr>
        <p:spPr>
          <a:xfrm>
            <a:off x="523875" y="2540000"/>
            <a:ext cx="1450000" cy="320000"/>
          </a:xfrm>
          <a:prstGeom prst="rect">
            <a:avLst/>
          </a:prstGeom>
          <a:noFill/>
          <a:effectLst/>
        </p:spPr>
        <p:txBody>
          <a:bodyPr wrap="square" lIns="0" rIns="0" tIns="0" bIns="0" anchor="t">
            <a:spAutoFit/>
          </a:bodyPr>
          <a:lstStyle/>
          <a:p>
            <a:pPr algn="r">
              <a:lnSpc>
                <a:spcPct val="120000"/>
              </a:lnSpc>
            </a:pPr>
            <a:r>
              <a:rPr sz="1000" b="0" i="0">
                <a:solidFill>
                  <a:srgbClr val="5A6B86"/>
                </a:solidFill>
                <a:latin typeface="Arial"/>
              </a:rPr>
              <a:t>classical
signature</a:t>
            </a:r>
          </a:p>
        </p:txBody>
      </p:sp>
      <p:sp>
        <p:nvSpPr>
          <p:cNvPr id="16" name="Rounded Rectangle 15"/>
          <p:cNvSpPr/>
          <p:nvPr/>
        </p:nvSpPr>
        <p:spPr>
          <a:xfrm>
            <a:off x="2100000" y="2560000"/>
            <a:ext cx="6000000" cy="300000"/>
          </a:xfrm>
          <a:prstGeom prst="roundRect">
            <a:avLst>
              <a:gd name="adj" fmla="val 18333"/>
            </a:avLst>
          </a:prstGeom>
          <a:solidFill>
            <a:srgbClr val="EEF3FA"/>
          </a:solidFill>
          <a:ln w="12700">
            <a:solidFill>
              <a:srgbClr val="D8E0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a:off x="2100000" y="2560000"/>
            <a:ext cx="82800" cy="300000"/>
          </a:xfrm>
          <a:prstGeom prst="roundRect">
            <a:avLst>
              <a:gd name="adj" fmla="val 50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230000" y="2590000"/>
            <a:ext cx="3438125" cy="300000"/>
          </a:xfrm>
          <a:prstGeom prst="rect">
            <a:avLst/>
          </a:prstGeom>
          <a:noFill/>
          <a:effectLst/>
        </p:spPr>
        <p:txBody>
          <a:bodyPr wrap="square" lIns="0" rIns="0" tIns="0" bIns="0" anchor="t">
            <a:spAutoFit/>
          </a:bodyPr>
          <a:lstStyle/>
          <a:p>
            <a:pPr algn="l">
              <a:lnSpc>
                <a:spcPct val="125000"/>
              </a:lnSpc>
            </a:pPr>
            <a:r>
              <a:rPr sz="1050" b="0" i="0">
                <a:solidFill>
                  <a:srgbClr val="14213A"/>
                </a:solidFill>
                <a:latin typeface="Consolas"/>
              </a:rPr>
              <a:t>64 B</a:t>
            </a:r>
          </a:p>
        </p:txBody>
      </p:sp>
      <p:sp>
        <p:nvSpPr>
          <p:cNvPr id="19" name="TextBox 18"/>
          <p:cNvSpPr txBox="1"/>
          <p:nvPr/>
        </p:nvSpPr>
        <p:spPr>
          <a:xfrm>
            <a:off x="523875" y="2920000"/>
            <a:ext cx="1450000" cy="320000"/>
          </a:xfrm>
          <a:prstGeom prst="rect">
            <a:avLst/>
          </a:prstGeom>
          <a:noFill/>
          <a:effectLst/>
        </p:spPr>
        <p:txBody>
          <a:bodyPr wrap="square" lIns="0" rIns="0" tIns="0" bIns="0" anchor="t">
            <a:spAutoFit/>
          </a:bodyPr>
          <a:lstStyle/>
          <a:p>
            <a:pPr algn="r">
              <a:lnSpc>
                <a:spcPct val="120000"/>
              </a:lnSpc>
            </a:pPr>
            <a:r>
              <a:rPr sz="1000" b="0" i="0">
                <a:solidFill>
                  <a:srgbClr val="5A6B86"/>
                </a:solidFill>
                <a:latin typeface="Arial"/>
              </a:rPr>
              <a:t>LAS
signature</a:t>
            </a:r>
          </a:p>
        </p:txBody>
      </p:sp>
      <p:sp>
        <p:nvSpPr>
          <p:cNvPr id="20" name="Rounded Rectangle 19"/>
          <p:cNvSpPr/>
          <p:nvPr/>
        </p:nvSpPr>
        <p:spPr>
          <a:xfrm>
            <a:off x="2100000" y="2940000"/>
            <a:ext cx="6000000" cy="300000"/>
          </a:xfrm>
          <a:prstGeom prst="roundRect">
            <a:avLst>
              <a:gd name="adj" fmla="val 18333"/>
            </a:avLst>
          </a:prstGeom>
          <a:solidFill>
            <a:srgbClr val="EEF3FA"/>
          </a:solidFill>
          <a:ln w="12700">
            <a:solidFill>
              <a:srgbClr val="D8E0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ounded Rectangle 20"/>
          <p:cNvSpPr/>
          <p:nvPr/>
        </p:nvSpPr>
        <p:spPr>
          <a:xfrm>
            <a:off x="2100000" y="2940000"/>
            <a:ext cx="6000000" cy="300000"/>
          </a:xfrm>
          <a:prstGeom prst="roundRect">
            <a:avLst>
              <a:gd name="adj" fmla="val 15000"/>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8230000" y="2970000"/>
            <a:ext cx="3438125" cy="300000"/>
          </a:xfrm>
          <a:prstGeom prst="rect">
            <a:avLst/>
          </a:prstGeom>
          <a:noFill/>
          <a:effectLst/>
        </p:spPr>
        <p:txBody>
          <a:bodyPr wrap="square" lIns="0" rIns="0" tIns="0" bIns="0" anchor="t">
            <a:spAutoFit/>
          </a:bodyPr>
          <a:lstStyle/>
          <a:p>
            <a:pPr algn="l">
              <a:lnSpc>
                <a:spcPct val="125000"/>
              </a:lnSpc>
            </a:pPr>
            <a:r>
              <a:rPr sz="1050" b="0" i="0">
                <a:solidFill>
                  <a:srgbClr val="14213A"/>
                </a:solidFill>
                <a:latin typeface="Consolas"/>
              </a:rPr>
              <a:t>4640 B</a:t>
            </a:r>
            <a:r>
              <a:rPr sz="1050" b="0" i="0">
                <a:solidFill>
                  <a:srgbClr val="14213A"/>
                </a:solidFill>
                <a:latin typeface="Arial"/>
              </a:rPr>
              <a:t>  </a:t>
            </a:r>
            <a:r>
              <a:rPr sz="1050" b="0" i="0">
                <a:solidFill>
                  <a:srgbClr val="5A6B86"/>
                </a:solidFill>
                <a:latin typeface="Arial"/>
              </a:rPr>
              <a:t>≈ 72× classical</a:t>
            </a:r>
          </a:p>
        </p:txBody>
      </p:sp>
      <p:sp>
        <p:nvSpPr>
          <p:cNvPr id="23" name="TextBox 22"/>
          <p:cNvSpPr txBox="1"/>
          <p:nvPr/>
        </p:nvSpPr>
        <p:spPr>
          <a:xfrm>
            <a:off x="523875" y="3300000"/>
            <a:ext cx="1450000" cy="320000"/>
          </a:xfrm>
          <a:prstGeom prst="rect">
            <a:avLst/>
          </a:prstGeom>
          <a:noFill/>
          <a:effectLst/>
        </p:spPr>
        <p:txBody>
          <a:bodyPr wrap="square" lIns="0" rIns="0" tIns="0" bIns="0" anchor="t">
            <a:spAutoFit/>
          </a:bodyPr>
          <a:lstStyle/>
          <a:p>
            <a:pPr algn="r">
              <a:lnSpc>
                <a:spcPct val="120000"/>
              </a:lnSpc>
            </a:pPr>
            <a:r>
              <a:rPr sz="1000" b="0" i="0">
                <a:solidFill>
                  <a:srgbClr val="5A6B86"/>
                </a:solidFill>
                <a:latin typeface="Arial"/>
              </a:rPr>
              <a:t>classical
public key</a:t>
            </a:r>
          </a:p>
        </p:txBody>
      </p:sp>
      <p:sp>
        <p:nvSpPr>
          <p:cNvPr id="24" name="Rounded Rectangle 23"/>
          <p:cNvSpPr/>
          <p:nvPr/>
        </p:nvSpPr>
        <p:spPr>
          <a:xfrm>
            <a:off x="2100000" y="3320000"/>
            <a:ext cx="6000000" cy="300000"/>
          </a:xfrm>
          <a:prstGeom prst="roundRect">
            <a:avLst>
              <a:gd name="adj" fmla="val 18333"/>
            </a:avLst>
          </a:prstGeom>
          <a:solidFill>
            <a:srgbClr val="EEF3FA"/>
          </a:solidFill>
          <a:ln w="12700">
            <a:solidFill>
              <a:srgbClr val="D8E0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ounded Rectangle 24"/>
          <p:cNvSpPr/>
          <p:nvPr/>
        </p:nvSpPr>
        <p:spPr>
          <a:xfrm>
            <a:off x="2100000" y="3320000"/>
            <a:ext cx="42600" cy="300000"/>
          </a:xfrm>
          <a:prstGeom prst="roundRect">
            <a:avLst>
              <a:gd name="adj" fmla="val 50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8230000" y="3350000"/>
            <a:ext cx="3438125" cy="300000"/>
          </a:xfrm>
          <a:prstGeom prst="rect">
            <a:avLst/>
          </a:prstGeom>
          <a:noFill/>
          <a:effectLst/>
        </p:spPr>
        <p:txBody>
          <a:bodyPr wrap="square" lIns="0" rIns="0" tIns="0" bIns="0" anchor="t">
            <a:spAutoFit/>
          </a:bodyPr>
          <a:lstStyle/>
          <a:p>
            <a:pPr algn="l">
              <a:lnSpc>
                <a:spcPct val="125000"/>
              </a:lnSpc>
            </a:pPr>
            <a:r>
              <a:rPr sz="1050" b="0" i="0">
                <a:solidFill>
                  <a:srgbClr val="14213A"/>
                </a:solidFill>
                <a:latin typeface="Consolas"/>
              </a:rPr>
              <a:t>33 B</a:t>
            </a:r>
          </a:p>
        </p:txBody>
      </p:sp>
      <p:sp>
        <p:nvSpPr>
          <p:cNvPr id="27" name="TextBox 26"/>
          <p:cNvSpPr txBox="1"/>
          <p:nvPr/>
        </p:nvSpPr>
        <p:spPr>
          <a:xfrm>
            <a:off x="523875" y="3680000"/>
            <a:ext cx="1450000" cy="320000"/>
          </a:xfrm>
          <a:prstGeom prst="rect">
            <a:avLst/>
          </a:prstGeom>
          <a:noFill/>
          <a:effectLst/>
        </p:spPr>
        <p:txBody>
          <a:bodyPr wrap="square" lIns="0" rIns="0" tIns="0" bIns="0" anchor="t">
            <a:spAutoFit/>
          </a:bodyPr>
          <a:lstStyle/>
          <a:p>
            <a:pPr algn="r">
              <a:lnSpc>
                <a:spcPct val="120000"/>
              </a:lnSpc>
            </a:pPr>
            <a:r>
              <a:rPr sz="1000" b="0" i="0">
                <a:solidFill>
                  <a:srgbClr val="5A6B86"/>
                </a:solidFill>
                <a:latin typeface="Arial"/>
              </a:rPr>
              <a:t>LAS
public key</a:t>
            </a:r>
          </a:p>
        </p:txBody>
      </p:sp>
      <p:sp>
        <p:nvSpPr>
          <p:cNvPr id="28" name="Rounded Rectangle 27"/>
          <p:cNvSpPr/>
          <p:nvPr/>
        </p:nvSpPr>
        <p:spPr>
          <a:xfrm>
            <a:off x="2100000" y="3700000"/>
            <a:ext cx="6000000" cy="300000"/>
          </a:xfrm>
          <a:prstGeom prst="roundRect">
            <a:avLst>
              <a:gd name="adj" fmla="val 18333"/>
            </a:avLst>
          </a:prstGeom>
          <a:solidFill>
            <a:srgbClr val="EEF3FA"/>
          </a:solidFill>
          <a:ln w="12700">
            <a:solidFill>
              <a:srgbClr val="D8E0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ounded Rectangle 28"/>
          <p:cNvSpPr/>
          <p:nvPr/>
        </p:nvSpPr>
        <p:spPr>
          <a:xfrm>
            <a:off x="2100000" y="3700000"/>
            <a:ext cx="3807000" cy="300000"/>
          </a:xfrm>
          <a:prstGeom prst="roundRect">
            <a:avLst>
              <a:gd name="adj" fmla="val 15000"/>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8230000" y="3730000"/>
            <a:ext cx="3438125" cy="300000"/>
          </a:xfrm>
          <a:prstGeom prst="rect">
            <a:avLst/>
          </a:prstGeom>
          <a:noFill/>
          <a:effectLst/>
        </p:spPr>
        <p:txBody>
          <a:bodyPr wrap="square" lIns="0" rIns="0" tIns="0" bIns="0" anchor="t">
            <a:spAutoFit/>
          </a:bodyPr>
          <a:lstStyle/>
          <a:p>
            <a:pPr algn="l">
              <a:lnSpc>
                <a:spcPct val="125000"/>
              </a:lnSpc>
            </a:pPr>
            <a:r>
              <a:rPr sz="1050" b="0" i="0">
                <a:solidFill>
                  <a:srgbClr val="14213A"/>
                </a:solidFill>
                <a:latin typeface="Consolas"/>
              </a:rPr>
              <a:t>2944 B</a:t>
            </a:r>
            <a:r>
              <a:rPr sz="1050" b="0" i="0">
                <a:solidFill>
                  <a:srgbClr val="14213A"/>
                </a:solidFill>
                <a:latin typeface="Arial"/>
              </a:rPr>
              <a:t>  </a:t>
            </a:r>
            <a:r>
              <a:rPr sz="1050" b="0" i="0">
                <a:solidFill>
                  <a:srgbClr val="5A6B86"/>
                </a:solidFill>
                <a:latin typeface="Arial"/>
              </a:rPr>
              <a:t>≈ 89× classical</a:t>
            </a:r>
          </a:p>
        </p:txBody>
      </p:sp>
      <p:sp>
        <p:nvSpPr>
          <p:cNvPr id="31" name="Rounded Rectangle 30"/>
          <p:cNvSpPr/>
          <p:nvPr/>
        </p:nvSpPr>
        <p:spPr>
          <a:xfrm>
            <a:off x="523875" y="4230000"/>
            <a:ext cx="5487125" cy="1420000"/>
          </a:xfrm>
          <a:prstGeom prst="roundRect">
            <a:avLst>
              <a:gd name="adj" fmla="val 7746"/>
            </a:avLst>
          </a:prstGeom>
          <a:solidFill>
            <a:srgbClr val="FFFFFF"/>
          </a:solidFill>
          <a:ln w="12700">
            <a:solidFill>
              <a:srgbClr val="D8E0EC"/>
            </a:solidFill>
          </a:ln>
          <a:effectLst/>
        </p:spPr>
        <p:style>
          <a:lnRef idx="1">
            <a:schemeClr val="accent1"/>
          </a:lnRef>
          <a:fillRef idx="3">
            <a:schemeClr val="accent1"/>
          </a:fillRef>
          <a:effectRef idx="2">
            <a:schemeClr val="accent1"/>
          </a:effectRef>
          <a:fontRef idx="minor">
            <a:schemeClr val="lt1"/>
          </a:fontRef>
        </p:style>
        <p:txBody>
          <a:bodyPr rtlCol="0" anchor="t" wrap="square" lIns="160000" rIns="160000" tIns="120000" bIns="120000"/>
          <a:lstStyle/>
          <a:p>
            <a:pPr algn="l">
              <a:lnSpc>
                <a:spcPct val="125000"/>
              </a:lnSpc>
            </a:pPr>
            <a:r>
              <a:rPr sz="1200" b="1" i="0">
                <a:solidFill>
                  <a:srgbClr val="14213A"/>
                </a:solidFill>
                <a:latin typeface="Arial"/>
              </a:rPr>
              <a:t>Inside a LAS signature (6736 B at the target set)</a:t>
            </a:r>
          </a:p>
        </p:txBody>
      </p:sp>
      <p:sp>
        <p:nvSpPr>
          <p:cNvPr id="32" name="Rounded Rectangle 31"/>
          <p:cNvSpPr/>
          <p:nvPr/>
        </p:nvSpPr>
        <p:spPr>
          <a:xfrm>
            <a:off x="683875" y="4710000"/>
            <a:ext cx="5130955" cy="300000"/>
          </a:xfrm>
          <a:prstGeom prst="roundRect">
            <a:avLst>
              <a:gd name="adj" fmla="val 16666"/>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ounded Rectangle 32"/>
          <p:cNvSpPr/>
          <p:nvPr/>
        </p:nvSpPr>
        <p:spPr>
          <a:xfrm>
            <a:off x="5834830" y="4710000"/>
            <a:ext cx="60000" cy="300000"/>
          </a:xfrm>
          <a:prstGeom prst="roundRect">
            <a:avLst>
              <a:gd name="adj" fmla="val 50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683875" y="5080000"/>
            <a:ext cx="5167125" cy="480000"/>
          </a:xfrm>
          <a:prstGeom prst="rect">
            <a:avLst/>
          </a:prstGeom>
          <a:noFill/>
          <a:effectLst/>
        </p:spPr>
        <p:txBody>
          <a:bodyPr wrap="square" lIns="0" rIns="0" tIns="0" bIns="0" anchor="t">
            <a:spAutoFit/>
          </a:bodyPr>
          <a:lstStyle/>
          <a:p>
            <a:pPr algn="l">
              <a:lnSpc>
                <a:spcPct val="130000"/>
              </a:lnSpc>
            </a:pPr>
            <a:r>
              <a:rPr sz="1050" b="1" i="0">
                <a:solidFill>
                  <a:srgbClr val="C2410C"/>
                </a:solidFill>
                <a:latin typeface="Arial"/>
              </a:rPr>
              <a:t>response z — 99.3%</a:t>
            </a:r>
            <a:r>
              <a:rPr sz="1050" b="0" i="0">
                <a:solidFill>
                  <a:srgbClr val="5A6B86"/>
                </a:solidFill>
                <a:latin typeface="Arial"/>
              </a:rPr>
              <a:t>   ·   </a:t>
            </a:r>
            <a:r>
              <a:rPr sz="1050" b="1" i="0">
                <a:solidFill>
                  <a:srgbClr val="1F6FEB"/>
                </a:solidFill>
                <a:latin typeface="Arial"/>
              </a:rPr>
              <a:t>challenge digest c̃ — 0.7%</a:t>
            </a:r>
            <a:r>
              <a:rPr sz="1050" b="0" i="0">
                <a:solidFill>
                  <a:srgbClr val="5A6B86"/>
                </a:solidFill>
                <a:latin typeface="Arial"/>
              </a:rPr>
              <a:t>
The challenge travels only as its digest, so </a:t>
            </a:r>
            <a:r>
              <a:rPr sz="1050" b="1" i="0">
                <a:solidFill>
                  <a:srgbClr val="14213A"/>
                </a:solidFill>
                <a:latin typeface="Arial"/>
              </a:rPr>
              <a:t>optimising LAS means optimising z</a:t>
            </a:r>
            <a:r>
              <a:rPr sz="1050" b="0" i="0">
                <a:solidFill>
                  <a:srgbClr val="5A6B86"/>
                </a:solidFill>
                <a:latin typeface="Arial"/>
              </a:rPr>
              <a:t>.</a:t>
            </a:r>
          </a:p>
        </p:txBody>
      </p:sp>
      <p:sp>
        <p:nvSpPr>
          <p:cNvPr id="35" name="Rounded Rectangle 34"/>
          <p:cNvSpPr/>
          <p:nvPr/>
        </p:nvSpPr>
        <p:spPr>
          <a:xfrm>
            <a:off x="6181000" y="4230000"/>
            <a:ext cx="5487125" cy="1420000"/>
          </a:xfrm>
          <a:prstGeom prst="roundRect">
            <a:avLst>
              <a:gd name="adj" fmla="val 7746"/>
            </a:avLst>
          </a:prstGeom>
          <a:solidFill>
            <a:srgbClr val="FDECE1"/>
          </a:solidFill>
          <a:ln w="12700">
            <a:solidFill>
              <a:srgbClr val="E8590C"/>
            </a:solidFill>
          </a:ln>
          <a:effectLst/>
        </p:spPr>
        <p:style>
          <a:lnRef idx="1">
            <a:schemeClr val="accent1"/>
          </a:lnRef>
          <a:fillRef idx="3">
            <a:schemeClr val="accent1"/>
          </a:fillRef>
          <a:effectRef idx="2">
            <a:schemeClr val="accent1"/>
          </a:effectRef>
          <a:fontRef idx="minor">
            <a:schemeClr val="lt1"/>
          </a:fontRef>
        </p:style>
        <p:txBody>
          <a:bodyPr rtlCol="0" anchor="t" wrap="square" lIns="160000" rIns="160000" tIns="120000" bIns="120000"/>
          <a:lstStyle/>
          <a:p>
            <a:pPr algn="l">
              <a:lnSpc>
                <a:spcPct val="125000"/>
              </a:lnSpc>
            </a:pPr>
            <a:r>
              <a:rPr sz="1200" b="1" i="0">
                <a:solidFill>
                  <a:srgbClr val="14213A"/>
                </a:solidFill>
                <a:latin typeface="Arial"/>
              </a:rPr>
              <a:t>And an adaptor swap adds one public object</a:t>
            </a:r>
          </a:p>
          <a:p>
            <a:pPr algn="l">
              <a:lnSpc>
                <a:spcPct val="130000"/>
              </a:lnSpc>
              <a:spcBef>
                <a:spcPts val="600"/>
              </a:spcBef>
            </a:pPr>
            <a:r>
              <a:rPr sz="1100" b="0" i="0">
                <a:solidFill>
                  <a:srgbClr val="14213A"/>
                </a:solidFill>
                <a:latin typeface="Arial"/>
              </a:rPr>
              <a:t>The statement </a:t>
            </a:r>
            <a:r>
              <a:rPr sz="1100" b="1" i="0">
                <a:solidFill>
                  <a:srgbClr val="14213A"/>
                </a:solidFill>
                <a:latin typeface="Arial"/>
              </a:rPr>
              <a:t>Y</a:t>
            </a:r>
            <a:r>
              <a:rPr sz="1100" b="0" i="0">
                <a:solidFill>
                  <a:srgbClr val="14213A"/>
                </a:solidFill>
                <a:latin typeface="Arial"/>
              </a:rPr>
              <a:t> — 4416 B, exactly the size of a public key — plus a signature-sized pre-signature.</a:t>
            </a:r>
          </a:p>
          <a:p>
            <a:pPr algn="l">
              <a:lnSpc>
                <a:spcPct val="130000"/>
              </a:lnSpc>
              <a:spcBef>
                <a:spcPts val="500"/>
              </a:spcBef>
            </a:pPr>
            <a:r>
              <a:rPr sz="1100" b="0" i="0">
                <a:solidFill>
                  <a:srgbClr val="5A6B86"/>
                </a:solidFill>
                <a:latin typeface="Arial"/>
              </a:rPr>
              <a:t>Those are the only objects an adaptor scheme sends that a basic signature does not.</a:t>
            </a:r>
          </a:p>
        </p:txBody>
      </p:sp>
      <p:sp>
        <p:nvSpPr>
          <p:cNvPr id="36" name="Rectangle 35"/>
          <p:cNvSpPr/>
          <p:nvPr/>
        </p:nvSpPr>
        <p:spPr>
          <a:xfrm>
            <a:off x="523875" y="5810000"/>
            <a:ext cx="38000" cy="600000"/>
          </a:xfrm>
          <a:prstGeom prst="rect">
            <a:avLst/>
          </a:prstGeom>
          <a:solidFill>
            <a:srgbClr val="B02A3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673875" y="5810000"/>
            <a:ext cx="10994250" cy="600000"/>
          </a:xfrm>
          <a:prstGeom prst="rect">
            <a:avLst/>
          </a:prstGeom>
          <a:noFill/>
          <a:effectLst/>
        </p:spPr>
        <p:txBody>
          <a:bodyPr wrap="square" lIns="0" rIns="0" tIns="0" bIns="0" anchor="t">
            <a:spAutoFit/>
          </a:bodyPr>
          <a:lstStyle/>
          <a:p>
            <a:pPr algn="l">
              <a:lnSpc>
                <a:spcPct val="130000"/>
              </a:lnSpc>
            </a:pPr>
            <a:r>
              <a:rPr sz="1050" b="1" i="0">
                <a:solidFill>
                  <a:srgbClr val="B02A37"/>
                </a:solidFill>
                <a:latin typeface="Arial"/>
              </a:rPr>
              <a:t>Fairness:</a:t>
            </a:r>
            <a:r>
              <a:rPr sz="1050" b="0" i="0">
                <a:solidFill>
                  <a:srgbClr val="5A6B86"/>
                </a:solidFill>
                <a:latin typeface="Arial"/>
              </a:rPr>
              <a:t> the classical baseline is a functionality-matched ECDSA adaptor signature (not plain ECDSA), compared at Simplified Dilithium-II — an engineering match to ≈128-bit, </a:t>
            </a:r>
            <a:r>
              <a:rPr sz="1050" b="1" i="0">
                <a:solidFill>
                  <a:srgbClr val="B02A37"/>
                </a:solidFill>
                <a:latin typeface="Arial"/>
              </a:rPr>
              <a:t>not</a:t>
            </a:r>
            <a:r>
              <a:rPr sz="1050" b="0" i="0">
                <a:solidFill>
                  <a:srgbClr val="5A6B86"/>
                </a:solidFill>
                <a:latin typeface="Arial"/>
              </a:rPr>
              <a:t> a formal security-equivalence claim.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11003145" y="640000"/>
            <a:ext cx="664980" cy="230000"/>
          </a:xfrm>
          <a:prstGeom prst="roundRect">
            <a:avLst>
              <a:gd name="adj" fmla="val 50000"/>
            </a:avLst>
          </a:prstGeom>
          <a:noFill/>
          <a:ln w="9525">
            <a:solidFill>
              <a:srgbClr val="D8E0EC"/>
            </a:solidFill>
          </a:ln>
          <a:effectLst/>
        </p:spPr>
        <p:style>
          <a:lnRef idx="1">
            <a:schemeClr val="accent1"/>
          </a:lnRef>
          <a:fillRef idx="3">
            <a:schemeClr val="accent1"/>
          </a:fillRef>
          <a:effectRef idx="2">
            <a:schemeClr val="accent1"/>
          </a:effectRef>
          <a:fontRef idx="minor">
            <a:schemeClr val="lt1"/>
          </a:fontRef>
        </p:style>
        <p:txBody>
          <a:bodyPr rtlCol="0" anchor="ctr" wrap="none" lIns="95000" rIns="95000" tIns="0" bIns="0"/>
          <a:lstStyle/>
          <a:p>
            <a:pPr algn="ctr">
              <a:lnSpc>
                <a:spcPct val="100000"/>
              </a:lnSpc>
            </a:pPr>
            <a:r>
              <a:rPr sz="850" b="0" i="0">
                <a:solidFill>
                  <a:srgbClr val="5A6B86"/>
                </a:solidFill>
                <a:latin typeface="Consolas"/>
              </a:rPr>
              <a:t>Takeaway</a:t>
            </a:r>
          </a:p>
        </p:txBody>
      </p:sp>
      <p:sp>
        <p:nvSpPr>
          <p:cNvPr id="3" name="Rounded Rectangle 2"/>
          <p:cNvSpPr/>
          <p:nvPr/>
        </p:nvSpPr>
        <p:spPr>
          <a:xfrm>
            <a:off x="10357538" y="640000"/>
            <a:ext cx="605608" cy="230000"/>
          </a:xfrm>
          <a:prstGeom prst="roundRect">
            <a:avLst>
              <a:gd name="adj" fmla="val 50000"/>
            </a:avLst>
          </a:prstGeom>
          <a:solidFill>
            <a:srgbClr val="FDECE1"/>
          </a:solidFill>
          <a:ln w="9525">
            <a:solidFill>
              <a:srgbClr val="E8590C"/>
            </a:solidFill>
          </a:ln>
          <a:effectLst/>
        </p:spPr>
        <p:style>
          <a:lnRef idx="1">
            <a:schemeClr val="accent1"/>
          </a:lnRef>
          <a:fillRef idx="3">
            <a:schemeClr val="accent1"/>
          </a:fillRef>
          <a:effectRef idx="2">
            <a:schemeClr val="accent1"/>
          </a:effectRef>
          <a:fontRef idx="minor">
            <a:schemeClr val="lt1"/>
          </a:fontRef>
        </p:style>
        <p:txBody>
          <a:bodyPr rtlCol="0" anchor="ctr" wrap="none" lIns="95000" rIns="95000" tIns="0" bIns="0"/>
          <a:lstStyle/>
          <a:p>
            <a:pPr algn="ctr">
              <a:lnSpc>
                <a:spcPct val="100000"/>
              </a:lnSpc>
            </a:pPr>
            <a:r>
              <a:rPr sz="850" b="0" i="0">
                <a:solidFill>
                  <a:srgbClr val="C2410C"/>
                </a:solidFill>
                <a:latin typeface="Consolas"/>
              </a:rPr>
              <a:t>Results</a:t>
            </a:r>
          </a:p>
        </p:txBody>
      </p:sp>
      <p:sp>
        <p:nvSpPr>
          <p:cNvPr id="4" name="Rounded Rectangle 3"/>
          <p:cNvSpPr/>
          <p:nvPr/>
        </p:nvSpPr>
        <p:spPr>
          <a:xfrm>
            <a:off x="9771302" y="640000"/>
            <a:ext cx="546235" cy="230000"/>
          </a:xfrm>
          <a:prstGeom prst="roundRect">
            <a:avLst>
              <a:gd name="adj" fmla="val 50000"/>
            </a:avLst>
          </a:prstGeom>
          <a:noFill/>
          <a:ln w="9525">
            <a:solidFill>
              <a:srgbClr val="D8E0EC"/>
            </a:solidFill>
          </a:ln>
          <a:effectLst/>
        </p:spPr>
        <p:style>
          <a:lnRef idx="1">
            <a:schemeClr val="accent1"/>
          </a:lnRef>
          <a:fillRef idx="3">
            <a:schemeClr val="accent1"/>
          </a:fillRef>
          <a:effectRef idx="2">
            <a:schemeClr val="accent1"/>
          </a:effectRef>
          <a:fontRef idx="minor">
            <a:schemeClr val="lt1"/>
          </a:fontRef>
        </p:style>
        <p:txBody>
          <a:bodyPr rtlCol="0" anchor="ctr" wrap="none" lIns="95000" rIns="95000" tIns="0" bIns="0"/>
          <a:lstStyle/>
          <a:p>
            <a:pPr algn="ctr">
              <a:lnSpc>
                <a:spcPct val="100000"/>
              </a:lnSpc>
            </a:pPr>
            <a:r>
              <a:rPr sz="850" b="0" i="0">
                <a:solidFill>
                  <a:srgbClr val="5A6B86"/>
                </a:solidFill>
                <a:latin typeface="Consolas"/>
              </a:rPr>
              <a:t>Method</a:t>
            </a:r>
          </a:p>
        </p:txBody>
      </p:sp>
      <p:sp>
        <p:nvSpPr>
          <p:cNvPr id="5" name="Rounded Rectangle 4"/>
          <p:cNvSpPr/>
          <p:nvPr/>
        </p:nvSpPr>
        <p:spPr>
          <a:xfrm>
            <a:off x="9363185" y="640000"/>
            <a:ext cx="368118" cy="230000"/>
          </a:xfrm>
          <a:prstGeom prst="roundRect">
            <a:avLst>
              <a:gd name="adj" fmla="val 50000"/>
            </a:avLst>
          </a:prstGeom>
          <a:noFill/>
          <a:ln w="9525">
            <a:solidFill>
              <a:srgbClr val="D8E0EC"/>
            </a:solidFill>
          </a:ln>
          <a:effectLst/>
        </p:spPr>
        <p:style>
          <a:lnRef idx="1">
            <a:schemeClr val="accent1"/>
          </a:lnRef>
          <a:fillRef idx="3">
            <a:schemeClr val="accent1"/>
          </a:fillRef>
          <a:effectRef idx="2">
            <a:schemeClr val="accent1"/>
          </a:effectRef>
          <a:fontRef idx="minor">
            <a:schemeClr val="lt1"/>
          </a:fontRef>
        </p:style>
        <p:txBody>
          <a:bodyPr rtlCol="0" anchor="ctr" wrap="none" lIns="95000" rIns="95000" tIns="0" bIns="0"/>
          <a:lstStyle/>
          <a:p>
            <a:pPr algn="ctr">
              <a:lnSpc>
                <a:spcPct val="100000"/>
              </a:lnSpc>
            </a:pPr>
            <a:r>
              <a:rPr sz="850" b="0" i="0">
                <a:solidFill>
                  <a:srgbClr val="5A6B86"/>
                </a:solidFill>
                <a:latin typeface="Consolas"/>
              </a:rPr>
              <a:t>Why</a:t>
            </a:r>
          </a:p>
        </p:txBody>
      </p:sp>
      <p:sp>
        <p:nvSpPr>
          <p:cNvPr id="6" name="TextBox 5"/>
          <p:cNvSpPr txBox="1"/>
          <p:nvPr/>
        </p:nvSpPr>
        <p:spPr>
          <a:xfrm>
            <a:off x="10768125" y="6550000"/>
            <a:ext cx="900000" cy="220000"/>
          </a:xfrm>
          <a:prstGeom prst="rect">
            <a:avLst/>
          </a:prstGeom>
          <a:noFill/>
          <a:effectLst/>
        </p:spPr>
        <p:txBody>
          <a:bodyPr wrap="square" lIns="0" rIns="0" tIns="0" bIns="0" anchor="t">
            <a:spAutoFit/>
          </a:bodyPr>
          <a:lstStyle/>
          <a:p>
            <a:pPr algn="r">
              <a:lnSpc>
                <a:spcPct val="125000"/>
              </a:lnSpc>
            </a:pPr>
            <a:r>
              <a:rPr sz="850" b="0" i="0">
                <a:solidFill>
                  <a:srgbClr val="5A6B86"/>
                </a:solidFill>
                <a:latin typeface="Consolas"/>
              </a:rPr>
              <a:t>8 / 10</a:t>
            </a:r>
          </a:p>
        </p:txBody>
      </p:sp>
      <p:sp>
        <p:nvSpPr>
          <p:cNvPr id="7" name="TextBox 6"/>
          <p:cNvSpPr txBox="1"/>
          <p:nvPr/>
        </p:nvSpPr>
        <p:spPr>
          <a:xfrm>
            <a:off x="523875" y="1295000"/>
            <a:ext cx="11144250" cy="210000"/>
          </a:xfrm>
          <a:prstGeom prst="rect">
            <a:avLst/>
          </a:prstGeom>
          <a:noFill/>
          <a:effectLst/>
        </p:spPr>
        <p:txBody>
          <a:bodyPr wrap="square" lIns="0" rIns="0" tIns="0" bIns="0" anchor="t">
            <a:spAutoFit/>
          </a:bodyPr>
          <a:lstStyle/>
          <a:p>
            <a:pPr algn="l">
              <a:lnSpc>
                <a:spcPct val="125000"/>
              </a:lnSpc>
            </a:pPr>
            <a:r>
              <a:rPr sz="950" b="0" i="0" spc="170">
                <a:solidFill>
                  <a:srgbClr val="5A6B86"/>
                </a:solidFill>
                <a:latin typeface="Consolas"/>
              </a:rPr>
              <a:t>DEMONSTRATION 2 OF 2 · A REAL BITCOIN CORE V31.1 NODE, ON REGTEST</a:t>
            </a:r>
          </a:p>
        </p:txBody>
      </p:sp>
      <p:sp>
        <p:nvSpPr>
          <p:cNvPr id="8" name="TextBox 7"/>
          <p:cNvSpPr txBox="1"/>
          <p:nvPr/>
        </p:nvSpPr>
        <p:spPr>
          <a:xfrm>
            <a:off x="523875" y="1495000"/>
            <a:ext cx="11144250" cy="610000"/>
          </a:xfrm>
          <a:prstGeom prst="rect">
            <a:avLst/>
          </a:prstGeom>
          <a:noFill/>
          <a:effectLst/>
        </p:spPr>
        <p:txBody>
          <a:bodyPr wrap="square" lIns="0" rIns="0" tIns="0" bIns="0" anchor="b">
            <a:spAutoFit/>
          </a:bodyPr>
          <a:lstStyle/>
          <a:p>
            <a:pPr algn="l">
              <a:lnSpc>
                <a:spcPct val="108000"/>
              </a:lnSpc>
            </a:pPr>
            <a:r>
              <a:rPr sz="2200" b="1" i="0">
                <a:solidFill>
                  <a:srgbClr val="7800A2"/>
                </a:solidFill>
                <a:latin typeface="Arial"/>
              </a:rPr>
              <a:t>It </a:t>
            </a:r>
            <a:r>
              <a:rPr sz="2200" b="1" i="0">
                <a:solidFill>
                  <a:srgbClr val="1F6FEB"/>
                </a:solidFill>
                <a:latin typeface="Arial"/>
              </a:rPr>
              <a:t>fits</a:t>
            </a:r>
            <a:r>
              <a:rPr sz="2200" b="1" i="0">
                <a:solidFill>
                  <a:srgbClr val="7800A2"/>
                </a:solidFill>
                <a:latin typeface="Arial"/>
              </a:rPr>
              <a:t> the size limits. It fails the </a:t>
            </a:r>
            <a:r>
              <a:rPr sz="2200" b="1" i="0">
                <a:solidFill>
                  <a:srgbClr val="C2410C"/>
                </a:solidFill>
                <a:latin typeface="Arial"/>
              </a:rPr>
              <a:t>verification rules</a:t>
            </a:r>
            <a:r>
              <a:rPr sz="2200" b="1" i="0">
                <a:solidFill>
                  <a:srgbClr val="7800A2"/>
                </a:solidFill>
                <a:latin typeface="Arial"/>
              </a:rPr>
              <a:t> — so I changed one.</a:t>
            </a:r>
          </a:p>
        </p:txBody>
      </p:sp>
      <p:cxnSp>
        <p:nvCxnSpPr>
          <p:cNvPr id="9" name="Connector 8"/>
          <p:cNvCxnSpPr/>
          <p:nvPr/>
        </p:nvCxnSpPr>
        <p:spPr>
          <a:xfrm>
            <a:off x="523875" y="2165000"/>
            <a:ext cx="11144250" cy="0"/>
          </a:xfrm>
          <a:prstGeom prst="line">
            <a:avLst/>
          </a:prstGeom>
          <a:ln w="25400">
            <a:solidFill>
              <a:srgbClr val="660066"/>
            </a:solidFill>
            <a:prstDash val="sysDot"/>
          </a:ln>
          <a:effectLst/>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523875" y="2265000"/>
            <a:ext cx="4669894" cy="1500000"/>
          </a:xfrm>
          <a:prstGeom prst="roundRect">
            <a:avLst>
              <a:gd name="adj" fmla="val 7333"/>
            </a:avLst>
          </a:prstGeom>
          <a:solidFill>
            <a:srgbClr val="E8F1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t" wrap="square" lIns="160000" rIns="160000" tIns="120000" bIns="120000"/>
          <a:lstStyle/>
          <a:p>
            <a:pPr algn="l">
              <a:lnSpc>
                <a:spcPct val="125000"/>
              </a:lnSpc>
            </a:pPr>
            <a:r>
              <a:rPr sz="1250" b="1" i="0">
                <a:solidFill>
                  <a:srgbClr val="14213A"/>
                </a:solidFill>
                <a:latin typeface="Arial"/>
              </a:rPr>
              <a:t>1 · Carriage, stock node</a:t>
            </a:r>
          </a:p>
          <a:p>
            <a:pPr algn="l">
              <a:lnSpc>
                <a:spcPct val="130000"/>
              </a:lnSpc>
              <a:spcBef>
                <a:spcPts val="600"/>
              </a:spcBef>
            </a:pPr>
            <a:r>
              <a:rPr sz="1050" b="0" i="0">
                <a:solidFill>
                  <a:srgbClr val="14213A"/>
                </a:solidFill>
                <a:latin typeface="Arial"/>
              </a:rPr>
              <a:t>A lattice-carrying spend: </a:t>
            </a:r>
            <a:r>
              <a:rPr sz="1050" b="1" i="0">
                <a:solidFill>
                  <a:srgbClr val="14213A"/>
                </a:solidFill>
                <a:latin typeface="Arial"/>
              </a:rPr>
              <a:t>2,939 vB</a:t>
            </a:r>
            <a:r>
              <a:rPr sz="1050" b="0" i="0">
                <a:solidFill>
                  <a:srgbClr val="14213A"/>
                </a:solidFill>
                <a:latin typeface="Arial"/>
              </a:rPr>
              <a:t>, refused by default relay policy (</a:t>
            </a:r>
            <a:r>
              <a:rPr sz="1050" b="0" i="0">
                <a:solidFill>
                  <a:srgbClr val="14213A"/>
                </a:solidFill>
                <a:latin typeface="Consolas"/>
              </a:rPr>
              <a:t>bad-witness-nonstandard</a:t>
            </a:r>
            <a:r>
              <a:rPr sz="1050" b="0" i="0">
                <a:solidFill>
                  <a:srgbClr val="14213A"/>
                </a:solidFill>
                <a:latin typeface="Arial"/>
              </a:rPr>
              <a:t>) — yet consensus-valid, and </a:t>
            </a:r>
            <a:r>
              <a:rPr sz="1050" b="1" i="0">
                <a:solidFill>
                  <a:srgbClr val="14213A"/>
                </a:solidFill>
                <a:latin typeface="Arial"/>
              </a:rPr>
              <a:t>mined</a:t>
            </a:r>
            <a:r>
              <a:rPr sz="1050" b="0" i="0">
                <a:solidFill>
                  <a:srgbClr val="14213A"/>
                </a:solidFill>
                <a:latin typeface="Arial"/>
              </a:rPr>
              <a:t>.</a:t>
            </a:r>
          </a:p>
          <a:p>
            <a:pPr algn="l">
              <a:lnSpc>
                <a:spcPct val="130000"/>
              </a:lnSpc>
              <a:spcBef>
                <a:spcPts val="500"/>
              </a:spcBef>
            </a:pPr>
            <a:r>
              <a:rPr sz="1000" b="0" i="0">
                <a:solidFill>
                  <a:srgbClr val="5A6B86"/>
                </a:solidFill>
                <a:latin typeface="Arial"/>
              </a:rPr>
              <a:t>Standardness and validity are different questions; only the second decides feasibility.</a:t>
            </a:r>
          </a:p>
        </p:txBody>
      </p:sp>
      <p:sp>
        <p:nvSpPr>
          <p:cNvPr id="11" name="Rounded Rectangle 10"/>
          <p:cNvSpPr/>
          <p:nvPr/>
        </p:nvSpPr>
        <p:spPr>
          <a:xfrm>
            <a:off x="523875" y="3885000"/>
            <a:ext cx="4669894" cy="1900000"/>
          </a:xfrm>
          <a:prstGeom prst="roundRect">
            <a:avLst>
              <a:gd name="adj" fmla="val 5789"/>
            </a:avLst>
          </a:prstGeom>
          <a:solidFill>
            <a:srgbClr val="E6F6EA"/>
          </a:solidFill>
          <a:ln w="12700">
            <a:solidFill>
              <a:srgbClr val="2F9E44"/>
            </a:solidFill>
          </a:ln>
          <a:effectLst/>
        </p:spPr>
        <p:style>
          <a:lnRef idx="1">
            <a:schemeClr val="accent1"/>
          </a:lnRef>
          <a:fillRef idx="3">
            <a:schemeClr val="accent1"/>
          </a:fillRef>
          <a:effectRef idx="2">
            <a:schemeClr val="accent1"/>
          </a:effectRef>
          <a:fontRef idx="minor">
            <a:schemeClr val="lt1"/>
          </a:fontRef>
        </p:style>
        <p:txBody>
          <a:bodyPr rtlCol="0" anchor="t" wrap="square" lIns="160000" rIns="160000" tIns="120000" bIns="120000"/>
          <a:lstStyle/>
          <a:p>
            <a:pPr algn="l">
              <a:lnSpc>
                <a:spcPct val="125000"/>
              </a:lnSpc>
            </a:pPr>
            <a:r>
              <a:rPr sz="1250" b="1" i="0">
                <a:solidFill>
                  <a:srgbClr val="14213A"/>
                </a:solidFill>
                <a:latin typeface="Arial"/>
              </a:rPr>
              <a:t>2 · Verification, patched node</a:t>
            </a:r>
          </a:p>
          <a:p>
            <a:pPr algn="l">
              <a:lnSpc>
                <a:spcPct val="130000"/>
              </a:lnSpc>
              <a:spcBef>
                <a:spcPts val="600"/>
              </a:spcBef>
            </a:pPr>
            <a:r>
              <a:rPr sz="1050" b="0" i="0">
                <a:solidFill>
                  <a:srgbClr val="14213A"/>
                </a:solidFill>
                <a:latin typeface="Arial"/>
              </a:rPr>
              <a:t>One of the reserved </a:t>
            </a:r>
            <a:r>
              <a:rPr sz="1050" b="0" i="0">
                <a:solidFill>
                  <a:srgbClr val="14213A"/>
                </a:solidFill>
                <a:latin typeface="Consolas"/>
              </a:rPr>
              <a:t>OP_SUCCESS</a:t>
            </a:r>
            <a:r>
              <a:rPr sz="1050" b="0" i="0">
                <a:solidFill>
                  <a:srgbClr val="14213A"/>
                </a:solidFill>
                <a:latin typeface="Arial"/>
              </a:rPr>
              <a:t> opcodes, </a:t>
            </a:r>
            <a:r>
              <a:rPr sz="1050" b="0" i="0">
                <a:solidFill>
                  <a:srgbClr val="14213A"/>
                </a:solidFill>
                <a:latin typeface="Consolas"/>
              </a:rPr>
              <a:t>0xbb</a:t>
            </a:r>
            <a:r>
              <a:rPr sz="1050" b="0" i="0">
                <a:solidFill>
                  <a:srgbClr val="14213A"/>
                </a:solidFill>
                <a:latin typeface="Arial"/>
              </a:rPr>
              <a:t>, defined as lattice verification — so a spend can be authorised by a LAS signature alone.</a:t>
            </a:r>
          </a:p>
          <a:p>
            <a:pPr algn="l">
              <a:lnSpc>
                <a:spcPct val="130000"/>
              </a:lnSpc>
              <a:spcBef>
                <a:spcPts val="500"/>
              </a:spcBef>
            </a:pPr>
            <a:r>
              <a:rPr sz="1000" b="0" i="0">
                <a:solidFill>
                  <a:srgbClr val="5A6B86"/>
                </a:solidFill>
                <a:latin typeface="Arial"/>
              </a:rPr>
              <a:t>A </a:t>
            </a:r>
            <a:r>
              <a:rPr sz="1000" b="1" i="0">
                <a:solidFill>
                  <a:srgbClr val="14213A"/>
                </a:solidFill>
                <a:latin typeface="Arial"/>
              </a:rPr>
              <a:t>whole two-leg swap</a:t>
            </a:r>
            <a:r>
              <a:rPr sz="1000" b="0" i="0">
                <a:solidFill>
                  <a:srgbClr val="5A6B86"/>
                </a:solidFill>
                <a:latin typeface="Arial"/>
              </a:rPr>
              <a:t> settles on it: the adapted signature comes back out of the </a:t>
            </a:r>
            <a:r>
              <a:rPr sz="1000" b="1" i="0">
                <a:solidFill>
                  <a:srgbClr val="14213A"/>
                </a:solidFill>
                <a:latin typeface="Arial"/>
              </a:rPr>
              <a:t>mined</a:t>
            </a:r>
            <a:r>
              <a:rPr sz="1000" b="0" i="0">
                <a:solidFill>
                  <a:srgbClr val="5A6B86"/>
                </a:solidFill>
                <a:latin typeface="Arial"/>
              </a:rPr>
              <a:t> transaction, and </a:t>
            </a:r>
            <a:r>
              <a:rPr sz="1000" b="1" i="0">
                <a:solidFill>
                  <a:srgbClr val="14213A"/>
                </a:solidFill>
                <a:latin typeface="Arial"/>
              </a:rPr>
              <a:t>Extract</a:t>
            </a:r>
            <a:r>
              <a:rPr sz="1000" b="0" i="0">
                <a:solidFill>
                  <a:srgbClr val="5A6B86"/>
                </a:solidFill>
                <a:latin typeface="Arial"/>
              </a:rPr>
              <a:t> recovers the secret. Verdicts are </a:t>
            </a:r>
            <a:r>
              <a:rPr sz="1000" b="1" i="0">
                <a:solidFill>
                  <a:srgbClr val="14213A"/>
                </a:solidFill>
                <a:latin typeface="Arial"/>
              </a:rPr>
              <a:t>consensus</a:t>
            </a:r>
            <a:r>
              <a:rPr sz="1000" b="0" i="0">
                <a:solidFill>
                  <a:srgbClr val="5A6B86"/>
                </a:solidFill>
                <a:latin typeface="Arial"/>
              </a:rPr>
              <a:t>, not policy.</a:t>
            </a:r>
          </a:p>
        </p:txBody>
      </p:sp>
      <p:sp>
        <p:nvSpPr>
          <p:cNvPr id="12" name="Rectangle 11"/>
          <p:cNvSpPr/>
          <p:nvPr/>
        </p:nvSpPr>
        <p:spPr>
          <a:xfrm>
            <a:off x="523875" y="5880000"/>
            <a:ext cx="38000" cy="550000"/>
          </a:xfrm>
          <a:prstGeom prst="rect">
            <a:avLst/>
          </a:prstGeom>
          <a:solidFill>
            <a:srgbClr val="B02A3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73875" y="5880000"/>
            <a:ext cx="4519894" cy="550000"/>
          </a:xfrm>
          <a:prstGeom prst="rect">
            <a:avLst/>
          </a:prstGeom>
          <a:noFill/>
          <a:effectLst/>
        </p:spPr>
        <p:txBody>
          <a:bodyPr wrap="square" lIns="0" rIns="0" tIns="0" bIns="0" anchor="t">
            <a:spAutoFit/>
          </a:bodyPr>
          <a:lstStyle/>
          <a:p>
            <a:pPr algn="l">
              <a:lnSpc>
                <a:spcPct val="130000"/>
              </a:lnSpc>
            </a:pPr>
            <a:r>
              <a:rPr sz="950" b="1" i="0">
                <a:solidFill>
                  <a:srgbClr val="B02A37"/>
                </a:solidFill>
                <a:latin typeface="Arial"/>
              </a:rPr>
              <a:t>Honest limits:</a:t>
            </a:r>
            <a:r>
              <a:rPr sz="950" b="0" i="0">
                <a:solidFill>
                  <a:srgbClr val="5A6B86"/>
                </a:solidFill>
                <a:latin typeface="Arial"/>
              </a:rPr>
              <a:t> a patched node is not Bitcoin, so “cannot settle on Bitcoin as it stands” still holds; and the security of the new rule is </a:t>
            </a:r>
            <a:r>
              <a:rPr sz="950" b="1" i="0">
                <a:solidFill>
                  <a:srgbClr val="B02A37"/>
                </a:solidFill>
                <a:latin typeface="Arial"/>
              </a:rPr>
              <a:t>not</a:t>
            </a:r>
            <a:r>
              <a:rPr sz="950" b="0" i="0">
                <a:solidFill>
                  <a:srgbClr val="5A6B86"/>
                </a:solidFill>
                <a:latin typeface="Arial"/>
              </a:rPr>
              <a:t> analysed.</a:t>
            </a:r>
          </a:p>
        </p:txBody>
      </p:sp>
      <p:sp>
        <p:nvSpPr>
          <p:cNvPr id="14" name="Rounded Rectangle 13"/>
          <p:cNvSpPr/>
          <p:nvPr/>
        </p:nvSpPr>
        <p:spPr>
          <a:xfrm>
            <a:off x="5363769" y="2265000"/>
            <a:ext cx="6304356" cy="760000"/>
          </a:xfrm>
          <a:prstGeom prst="roundRect">
            <a:avLst>
              <a:gd name="adj" fmla="val 14473"/>
            </a:avLst>
          </a:prstGeom>
          <a:solidFill>
            <a:srgbClr val="FFFFFF"/>
          </a:solidFill>
          <a:ln w="12700">
            <a:solidFill>
              <a:srgbClr val="D8E0EC"/>
            </a:solidFill>
          </a:ln>
          <a:effectLst/>
        </p:spPr>
        <p:style>
          <a:lnRef idx="1">
            <a:schemeClr val="accent1"/>
          </a:lnRef>
          <a:fillRef idx="3">
            <a:schemeClr val="accent1"/>
          </a:fillRef>
          <a:effectRef idx="2">
            <a:schemeClr val="accent1"/>
          </a:effectRef>
          <a:fontRef idx="minor">
            <a:schemeClr val="lt1"/>
          </a:fontRef>
        </p:style>
        <p:txBody>
          <a:bodyPr rtlCol="0" anchor="ctr" wrap="square" lIns="160000" rIns="160000" tIns="120000" bIns="120000"/>
          <a:lstStyle/>
          <a:p>
            <a:pPr algn="ctr">
              <a:lnSpc>
                <a:spcPct val="130000"/>
              </a:lnSpc>
            </a:pPr>
            <a:r>
              <a:rPr sz="1050" b="0" i="0">
                <a:solidFill>
                  <a:srgbClr val="5A6B86"/>
                </a:solidFill>
                <a:latin typeface="Arial"/>
              </a:rPr>
              <a:t>the </a:t>
            </a:r>
            <a:r>
              <a:rPr sz="1050" b="1" i="0">
                <a:solidFill>
                  <a:srgbClr val="14213A"/>
                </a:solidFill>
                <a:latin typeface="Arial"/>
              </a:rPr>
              <a:t>same spend</a:t>
            </a:r>
            <a:r>
              <a:rPr sz="1050" b="0" i="0">
                <a:solidFill>
                  <a:srgbClr val="5A6B86"/>
                </a:solidFill>
                <a:latin typeface="Arial"/>
              </a:rPr>
              <a:t>, byte for byte — </a:t>
            </a:r>
            <a:r>
              <a:rPr sz="1050" b="1" i="0">
                <a:solidFill>
                  <a:srgbClr val="14213A"/>
                </a:solidFill>
                <a:latin typeface="Arial"/>
              </a:rPr>
              <a:t>2,917 vB</a:t>
            </a:r>
            <a:r>
              <a:rPr sz="1050" b="0" i="0">
                <a:solidFill>
                  <a:srgbClr val="5A6B86"/>
                </a:solidFill>
                <a:latin typeface="Arial"/>
              </a:rPr>
              <a:t>, 24 witness items, </a:t>
            </a:r>
            <a:r>
              <a:rPr sz="1050" b="1" i="0">
                <a:solidFill>
                  <a:srgbClr val="14213A"/>
                </a:solidFill>
                <a:latin typeface="Arial"/>
              </a:rPr>
              <a:t>no elliptic-curve signature at all</a:t>
            </a:r>
            <a:r>
              <a:rPr sz="1050" b="0" i="0">
                <a:solidFill>
                  <a:srgbClr val="5A6B86"/>
                </a:solidFill>
                <a:latin typeface="Arial"/>
              </a:rPr>
              <a:t> — put to two clients of the same release</a:t>
            </a:r>
          </a:p>
        </p:txBody>
      </p:sp>
      <p:cxnSp>
        <p:nvCxnSpPr>
          <p:cNvPr id="15" name="Connector 14"/>
          <p:cNvCxnSpPr/>
          <p:nvPr/>
        </p:nvCxnSpPr>
        <p:spPr>
          <a:xfrm>
            <a:off x="8515947" y="3025000"/>
            <a:ext cx="0" cy="130000"/>
          </a:xfrm>
          <a:prstGeom prst="line">
            <a:avLst/>
          </a:prstGeom>
          <a:ln w="19050">
            <a:solidFill>
              <a:srgbClr val="D8E0EC"/>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939858" y="3155000"/>
            <a:ext cx="3152178" cy="0"/>
          </a:xfrm>
          <a:prstGeom prst="line">
            <a:avLst/>
          </a:prstGeom>
          <a:ln w="19050">
            <a:solidFill>
              <a:srgbClr val="D8E0EC"/>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939858" y="3155000"/>
            <a:ext cx="0" cy="170000"/>
          </a:xfrm>
          <a:prstGeom prst="line">
            <a:avLst/>
          </a:prstGeom>
          <a:ln w="19050">
            <a:solidFill>
              <a:srgbClr val="D8E0EC"/>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0092036" y="3155000"/>
            <a:ext cx="0" cy="170000"/>
          </a:xfrm>
          <a:prstGeom prst="line">
            <a:avLst/>
          </a:prstGeom>
          <a:ln w="19050">
            <a:solidFill>
              <a:srgbClr val="D8E0EC"/>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363769" y="3405000"/>
            <a:ext cx="3077178" cy="2100000"/>
          </a:xfrm>
          <a:prstGeom prst="roundRect">
            <a:avLst>
              <a:gd name="adj" fmla="val 5238"/>
            </a:avLst>
          </a:prstGeom>
          <a:solidFill>
            <a:srgbClr val="FFFFFF"/>
          </a:solidFill>
          <a:ln w="12700">
            <a:solidFill>
              <a:srgbClr val="E8590C"/>
            </a:solidFill>
          </a:ln>
          <a:effectLst/>
        </p:spPr>
        <p:style>
          <a:lnRef idx="1">
            <a:schemeClr val="accent1"/>
          </a:lnRef>
          <a:fillRef idx="3">
            <a:schemeClr val="accent1"/>
          </a:fillRef>
          <a:effectRef idx="2">
            <a:schemeClr val="accent1"/>
          </a:effectRef>
          <a:fontRef idx="minor">
            <a:schemeClr val="lt1"/>
          </a:fontRef>
        </p:style>
        <p:txBody>
          <a:bodyPr rtlCol="0" anchor="t" wrap="square" lIns="160000" rIns="160000" tIns="120000" bIns="120000"/>
          <a:lstStyle/>
          <a:p>
            <a:pPr algn="ctr"/>
          </a:p>
        </p:txBody>
      </p:sp>
      <p:sp>
        <p:nvSpPr>
          <p:cNvPr id="20" name="TextBox 19"/>
          <p:cNvSpPr txBox="1"/>
          <p:nvPr/>
        </p:nvSpPr>
        <p:spPr>
          <a:xfrm>
            <a:off x="5523769" y="3535000"/>
            <a:ext cx="2757178" cy="250000"/>
          </a:xfrm>
          <a:prstGeom prst="rect">
            <a:avLst/>
          </a:prstGeom>
          <a:noFill/>
          <a:effectLst/>
        </p:spPr>
        <p:txBody>
          <a:bodyPr wrap="square" lIns="0" rIns="0" tIns="0" bIns="0" anchor="t">
            <a:spAutoFit/>
          </a:bodyPr>
          <a:lstStyle/>
          <a:p>
            <a:pPr algn="l">
              <a:lnSpc>
                <a:spcPct val="125000"/>
              </a:lnSpc>
            </a:pPr>
            <a:r>
              <a:rPr sz="1150" b="1" i="0">
                <a:solidFill>
                  <a:srgbClr val="14213A"/>
                </a:solidFill>
                <a:latin typeface="Arial"/>
              </a:rPr>
              <a:t>patched Core v31.1</a:t>
            </a:r>
          </a:p>
        </p:txBody>
      </p:sp>
      <p:sp>
        <p:nvSpPr>
          <p:cNvPr id="21" name="TextBox 20"/>
          <p:cNvSpPr txBox="1"/>
          <p:nvPr/>
        </p:nvSpPr>
        <p:spPr>
          <a:xfrm>
            <a:off x="5523769" y="3795000"/>
            <a:ext cx="2757178" cy="240000"/>
          </a:xfrm>
          <a:prstGeom prst="rect">
            <a:avLst/>
          </a:prstGeom>
          <a:noFill/>
          <a:effectLst/>
        </p:spPr>
        <p:txBody>
          <a:bodyPr wrap="square" lIns="0" rIns="0" tIns="0" bIns="0" anchor="t">
            <a:spAutoFit/>
          </a:bodyPr>
          <a:lstStyle/>
          <a:p>
            <a:pPr algn="l">
              <a:lnSpc>
                <a:spcPct val="125000"/>
              </a:lnSpc>
            </a:pPr>
            <a:r>
              <a:rPr sz="950" b="0" i="0">
                <a:solidFill>
                  <a:srgbClr val="5A6B86"/>
                </a:solidFill>
                <a:latin typeface="Consolas"/>
              </a:rPr>
              <a:t>0xbb verifies the LAS signature</a:t>
            </a:r>
          </a:p>
        </p:txBody>
      </p:sp>
      <p:sp>
        <p:nvSpPr>
          <p:cNvPr id="22" name="Rounded Rectangle 21"/>
          <p:cNvSpPr/>
          <p:nvPr/>
        </p:nvSpPr>
        <p:spPr>
          <a:xfrm>
            <a:off x="5523769" y="4105000"/>
            <a:ext cx="2757178" cy="620000"/>
          </a:xfrm>
          <a:prstGeom prst="roundRect">
            <a:avLst>
              <a:gd name="adj" fmla="val 12903"/>
            </a:avLst>
          </a:prstGeom>
          <a:solidFill>
            <a:srgbClr val="E6F6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5623769" y="4195000"/>
            <a:ext cx="2557178" cy="230000"/>
          </a:xfrm>
          <a:prstGeom prst="rect">
            <a:avLst/>
          </a:prstGeom>
          <a:noFill/>
          <a:effectLst/>
        </p:spPr>
        <p:txBody>
          <a:bodyPr wrap="square" lIns="0" rIns="0" tIns="0" bIns="0" anchor="t">
            <a:spAutoFit/>
          </a:bodyPr>
          <a:lstStyle/>
          <a:p>
            <a:pPr algn="l">
              <a:lnSpc>
                <a:spcPct val="125000"/>
              </a:lnSpc>
            </a:pPr>
            <a:r>
              <a:rPr sz="900" b="1" i="0" spc="50">
                <a:solidFill>
                  <a:srgbClr val="2F9E44"/>
                </a:solidFill>
                <a:latin typeface="Consolas"/>
              </a:rPr>
              <a:t>ACCEPTED · MINED</a:t>
            </a:r>
          </a:p>
        </p:txBody>
      </p:sp>
      <p:sp>
        <p:nvSpPr>
          <p:cNvPr id="24" name="TextBox 23"/>
          <p:cNvSpPr txBox="1"/>
          <p:nvPr/>
        </p:nvSpPr>
        <p:spPr>
          <a:xfrm>
            <a:off x="5623769" y="4425000"/>
            <a:ext cx="2557178" cy="240000"/>
          </a:xfrm>
          <a:prstGeom prst="rect">
            <a:avLst/>
          </a:prstGeom>
          <a:noFill/>
          <a:effectLst/>
        </p:spPr>
        <p:txBody>
          <a:bodyPr wrap="square" lIns="0" rIns="0" tIns="0" bIns="0" anchor="t">
            <a:spAutoFit/>
          </a:bodyPr>
          <a:lstStyle/>
          <a:p>
            <a:pPr algn="l">
              <a:lnSpc>
                <a:spcPct val="125000"/>
              </a:lnSpc>
            </a:pPr>
            <a:r>
              <a:rPr sz="1000" b="0" i="0">
                <a:solidFill>
                  <a:srgbClr val="14213A"/>
                </a:solidFill>
                <a:latin typeface="Arial"/>
              </a:rPr>
              <a:t>the valid spend</a:t>
            </a:r>
          </a:p>
        </p:txBody>
      </p:sp>
      <p:sp>
        <p:nvSpPr>
          <p:cNvPr id="25" name="Rounded Rectangle 24"/>
          <p:cNvSpPr/>
          <p:nvPr/>
        </p:nvSpPr>
        <p:spPr>
          <a:xfrm>
            <a:off x="5523769" y="4805000"/>
            <a:ext cx="2757178" cy="620000"/>
          </a:xfrm>
          <a:prstGeom prst="roundRect">
            <a:avLst>
              <a:gd name="adj" fmla="val 12903"/>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5623769" y="4895000"/>
            <a:ext cx="2557178" cy="230000"/>
          </a:xfrm>
          <a:prstGeom prst="rect">
            <a:avLst/>
          </a:prstGeom>
          <a:noFill/>
          <a:effectLst/>
        </p:spPr>
        <p:txBody>
          <a:bodyPr wrap="square" lIns="0" rIns="0" tIns="0" bIns="0" anchor="t">
            <a:spAutoFit/>
          </a:bodyPr>
          <a:lstStyle/>
          <a:p>
            <a:pPr algn="l">
              <a:lnSpc>
                <a:spcPct val="125000"/>
              </a:lnSpc>
            </a:pPr>
            <a:r>
              <a:rPr sz="900" b="1" i="0" spc="50">
                <a:solidFill>
                  <a:srgbClr val="B02A37"/>
                </a:solidFill>
                <a:latin typeface="Consolas"/>
              </a:rPr>
              <a:t>REJECTED ×9</a:t>
            </a:r>
          </a:p>
        </p:txBody>
      </p:sp>
      <p:sp>
        <p:nvSpPr>
          <p:cNvPr id="27" name="TextBox 26"/>
          <p:cNvSpPr txBox="1"/>
          <p:nvPr/>
        </p:nvSpPr>
        <p:spPr>
          <a:xfrm>
            <a:off x="5623769" y="5125000"/>
            <a:ext cx="2557178" cy="240000"/>
          </a:xfrm>
          <a:prstGeom prst="rect">
            <a:avLst/>
          </a:prstGeom>
          <a:noFill/>
          <a:effectLst/>
        </p:spPr>
        <p:txBody>
          <a:bodyPr wrap="square" lIns="0" rIns="0" tIns="0" bIns="0" anchor="t">
            <a:spAutoFit/>
          </a:bodyPr>
          <a:lstStyle/>
          <a:p>
            <a:pPr algn="l">
              <a:lnSpc>
                <a:spcPct val="125000"/>
              </a:lnSpc>
            </a:pPr>
            <a:r>
              <a:rPr sz="1000" b="0" i="0">
                <a:solidFill>
                  <a:srgbClr val="14213A"/>
                </a:solidFill>
                <a:latin typeface="Arial"/>
              </a:rPr>
              <a:t>every negative control</a:t>
            </a:r>
          </a:p>
        </p:txBody>
      </p:sp>
      <p:sp>
        <p:nvSpPr>
          <p:cNvPr id="28" name="Rounded Rectangle 27"/>
          <p:cNvSpPr/>
          <p:nvPr/>
        </p:nvSpPr>
        <p:spPr>
          <a:xfrm>
            <a:off x="8590947" y="3405000"/>
            <a:ext cx="3077178" cy="2100000"/>
          </a:xfrm>
          <a:prstGeom prst="roundRect">
            <a:avLst>
              <a:gd name="adj" fmla="val 5238"/>
            </a:avLst>
          </a:prstGeom>
          <a:solidFill>
            <a:srgbClr val="FFFFFF"/>
          </a:solidFill>
          <a:ln w="12700">
            <a:solidFill>
              <a:srgbClr val="D8E0EC"/>
            </a:solidFill>
          </a:ln>
          <a:effectLst/>
        </p:spPr>
        <p:style>
          <a:lnRef idx="1">
            <a:schemeClr val="accent1"/>
          </a:lnRef>
          <a:fillRef idx="3">
            <a:schemeClr val="accent1"/>
          </a:fillRef>
          <a:effectRef idx="2">
            <a:schemeClr val="accent1"/>
          </a:effectRef>
          <a:fontRef idx="minor">
            <a:schemeClr val="lt1"/>
          </a:fontRef>
        </p:style>
        <p:txBody>
          <a:bodyPr rtlCol="0" anchor="t" wrap="square" lIns="160000" rIns="160000" tIns="120000" bIns="120000"/>
          <a:lstStyle/>
          <a:p>
            <a:pPr algn="ctr"/>
          </a:p>
        </p:txBody>
      </p:sp>
      <p:sp>
        <p:nvSpPr>
          <p:cNvPr id="29" name="TextBox 28"/>
          <p:cNvSpPr txBox="1"/>
          <p:nvPr/>
        </p:nvSpPr>
        <p:spPr>
          <a:xfrm>
            <a:off x="8750947" y="3535000"/>
            <a:ext cx="2757178" cy="250000"/>
          </a:xfrm>
          <a:prstGeom prst="rect">
            <a:avLst/>
          </a:prstGeom>
          <a:noFill/>
          <a:effectLst/>
        </p:spPr>
        <p:txBody>
          <a:bodyPr wrap="square" lIns="0" rIns="0" tIns="0" bIns="0" anchor="t">
            <a:spAutoFit/>
          </a:bodyPr>
          <a:lstStyle/>
          <a:p>
            <a:pPr algn="l">
              <a:lnSpc>
                <a:spcPct val="125000"/>
              </a:lnSpc>
            </a:pPr>
            <a:r>
              <a:rPr sz="1150" b="1" i="0">
                <a:solidFill>
                  <a:srgbClr val="14213A"/>
                </a:solidFill>
                <a:latin typeface="Arial"/>
              </a:rPr>
              <a:t>stock Core v31.1</a:t>
            </a:r>
          </a:p>
        </p:txBody>
      </p:sp>
      <p:sp>
        <p:nvSpPr>
          <p:cNvPr id="30" name="TextBox 29"/>
          <p:cNvSpPr txBox="1"/>
          <p:nvPr/>
        </p:nvSpPr>
        <p:spPr>
          <a:xfrm>
            <a:off x="8750947" y="3795000"/>
            <a:ext cx="2757178" cy="240000"/>
          </a:xfrm>
          <a:prstGeom prst="rect">
            <a:avLst/>
          </a:prstGeom>
          <a:noFill/>
          <a:effectLst/>
        </p:spPr>
        <p:txBody>
          <a:bodyPr wrap="square" lIns="0" rIns="0" tIns="0" bIns="0" anchor="t">
            <a:spAutoFit/>
          </a:bodyPr>
          <a:lstStyle/>
          <a:p>
            <a:pPr algn="l">
              <a:lnSpc>
                <a:spcPct val="125000"/>
              </a:lnSpc>
            </a:pPr>
            <a:r>
              <a:rPr sz="950" b="0" i="0">
                <a:solidFill>
                  <a:srgbClr val="5A6B86"/>
                </a:solidFill>
                <a:latin typeface="Consolas"/>
              </a:rPr>
              <a:t>0xbb is still OP_SUCCESS</a:t>
            </a:r>
          </a:p>
        </p:txBody>
      </p:sp>
      <p:sp>
        <p:nvSpPr>
          <p:cNvPr id="31" name="Rounded Rectangle 30"/>
          <p:cNvSpPr/>
          <p:nvPr/>
        </p:nvSpPr>
        <p:spPr>
          <a:xfrm>
            <a:off x="8750947" y="4105000"/>
            <a:ext cx="2757178" cy="620000"/>
          </a:xfrm>
          <a:prstGeom prst="roundRect">
            <a:avLst>
              <a:gd name="adj" fmla="val 12903"/>
            </a:avLst>
          </a:prstGeom>
          <a:solidFill>
            <a:srgbClr val="E6F6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8850947" y="4195000"/>
            <a:ext cx="2557178" cy="230000"/>
          </a:xfrm>
          <a:prstGeom prst="rect">
            <a:avLst/>
          </a:prstGeom>
          <a:noFill/>
          <a:effectLst/>
        </p:spPr>
        <p:txBody>
          <a:bodyPr wrap="square" lIns="0" rIns="0" tIns="0" bIns="0" anchor="t">
            <a:spAutoFit/>
          </a:bodyPr>
          <a:lstStyle/>
          <a:p>
            <a:pPr algn="l">
              <a:lnSpc>
                <a:spcPct val="125000"/>
              </a:lnSpc>
            </a:pPr>
            <a:r>
              <a:rPr sz="900" b="1" i="0" spc="50">
                <a:solidFill>
                  <a:srgbClr val="2F9E44"/>
                </a:solidFill>
                <a:latin typeface="Consolas"/>
              </a:rPr>
              <a:t>ACCEPTED</a:t>
            </a:r>
          </a:p>
        </p:txBody>
      </p:sp>
      <p:sp>
        <p:nvSpPr>
          <p:cNvPr id="33" name="TextBox 32"/>
          <p:cNvSpPr txBox="1"/>
          <p:nvPr/>
        </p:nvSpPr>
        <p:spPr>
          <a:xfrm>
            <a:off x="8850947" y="4425000"/>
            <a:ext cx="2557178" cy="240000"/>
          </a:xfrm>
          <a:prstGeom prst="rect">
            <a:avLst/>
          </a:prstGeom>
          <a:noFill/>
          <a:effectLst/>
        </p:spPr>
        <p:txBody>
          <a:bodyPr wrap="square" lIns="0" rIns="0" tIns="0" bIns="0" anchor="t">
            <a:spAutoFit/>
          </a:bodyPr>
          <a:lstStyle/>
          <a:p>
            <a:pPr algn="l">
              <a:lnSpc>
                <a:spcPct val="125000"/>
              </a:lnSpc>
            </a:pPr>
            <a:r>
              <a:rPr sz="1000" b="0" i="0">
                <a:solidFill>
                  <a:srgbClr val="14213A"/>
                </a:solidFill>
                <a:latin typeface="Arial"/>
              </a:rPr>
              <a:t>the valid spend — same block</a:t>
            </a:r>
          </a:p>
        </p:txBody>
      </p:sp>
      <p:sp>
        <p:nvSpPr>
          <p:cNvPr id="34" name="Rounded Rectangle 33"/>
          <p:cNvSpPr/>
          <p:nvPr/>
        </p:nvSpPr>
        <p:spPr>
          <a:xfrm>
            <a:off x="8750947" y="4805000"/>
            <a:ext cx="2757178" cy="620000"/>
          </a:xfrm>
          <a:prstGeom prst="roundRect">
            <a:avLst>
              <a:gd name="adj" fmla="val 12903"/>
            </a:avLst>
          </a:prstGeom>
          <a:solidFill>
            <a:srgbClr val="E6F6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8850947" y="4895000"/>
            <a:ext cx="2557178" cy="230000"/>
          </a:xfrm>
          <a:prstGeom prst="rect">
            <a:avLst/>
          </a:prstGeom>
          <a:noFill/>
          <a:effectLst/>
        </p:spPr>
        <p:txBody>
          <a:bodyPr wrap="square" lIns="0" rIns="0" tIns="0" bIns="0" anchor="t">
            <a:spAutoFit/>
          </a:bodyPr>
          <a:lstStyle/>
          <a:p>
            <a:pPr algn="l">
              <a:lnSpc>
                <a:spcPct val="125000"/>
              </a:lnSpc>
            </a:pPr>
            <a:r>
              <a:rPr sz="900" b="1" i="0" spc="50">
                <a:solidFill>
                  <a:srgbClr val="2F9E44"/>
                </a:solidFill>
                <a:latin typeface="Consolas"/>
              </a:rPr>
              <a:t>ACCEPTED ×9</a:t>
            </a:r>
          </a:p>
        </p:txBody>
      </p:sp>
      <p:sp>
        <p:nvSpPr>
          <p:cNvPr id="36" name="TextBox 35"/>
          <p:cNvSpPr txBox="1"/>
          <p:nvPr/>
        </p:nvSpPr>
        <p:spPr>
          <a:xfrm>
            <a:off x="8850947" y="5125000"/>
            <a:ext cx="2557178" cy="240000"/>
          </a:xfrm>
          <a:prstGeom prst="rect">
            <a:avLst/>
          </a:prstGeom>
          <a:noFill/>
          <a:effectLst/>
        </p:spPr>
        <p:txBody>
          <a:bodyPr wrap="square" lIns="0" rIns="0" tIns="0" bIns="0" anchor="t">
            <a:spAutoFit/>
          </a:bodyPr>
          <a:lstStyle/>
          <a:p>
            <a:pPr algn="l">
              <a:lnSpc>
                <a:spcPct val="125000"/>
              </a:lnSpc>
            </a:pPr>
            <a:r>
              <a:rPr sz="1000" b="0" i="0">
                <a:solidFill>
                  <a:srgbClr val="14213A"/>
                </a:solidFill>
                <a:latin typeface="Arial"/>
              </a:rPr>
              <a:t>every negative control</a:t>
            </a:r>
          </a:p>
        </p:txBody>
      </p:sp>
      <p:sp>
        <p:nvSpPr>
          <p:cNvPr id="37" name="TextBox 36"/>
          <p:cNvSpPr txBox="1"/>
          <p:nvPr/>
        </p:nvSpPr>
        <p:spPr>
          <a:xfrm>
            <a:off x="5363769" y="5685000"/>
            <a:ext cx="6304356" cy="700000"/>
          </a:xfrm>
          <a:prstGeom prst="rect">
            <a:avLst/>
          </a:prstGeom>
          <a:noFill/>
          <a:effectLst/>
        </p:spPr>
        <p:txBody>
          <a:bodyPr wrap="square" lIns="0" rIns="0" tIns="0" bIns="0" anchor="t">
            <a:spAutoFit/>
          </a:bodyPr>
          <a:lstStyle/>
          <a:p>
            <a:pPr algn="ctr">
              <a:lnSpc>
                <a:spcPct val="130000"/>
              </a:lnSpc>
            </a:pPr>
            <a:r>
              <a:rPr sz="1050" b="0" i="0">
                <a:solidFill>
                  <a:srgbClr val="5A6B86"/>
                </a:solidFill>
                <a:latin typeface="Arial"/>
              </a:rPr>
              <a:t>Both clients accept the honest spend. Only the patched one can tell a bad LAS signature from a good one — so </a:t>
            </a:r>
            <a:r>
              <a:rPr sz="1050" b="1" i="0">
                <a:solidFill>
                  <a:srgbClr val="14213A"/>
                </a:solidFill>
                <a:latin typeface="Arial"/>
              </a:rPr>
              <a:t>the difference between the columns is the new rule, and nothing else</a:t>
            </a:r>
            <a:r>
              <a:rPr sz="1050" b="0" i="0">
                <a:solidFill>
                  <a:srgbClr val="5A6B86"/>
                </a:solidFill>
                <a:latin typeface="Arial"/>
              </a:rPr>
              <a: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11003145" y="640000"/>
            <a:ext cx="664980" cy="230000"/>
          </a:xfrm>
          <a:prstGeom prst="roundRect">
            <a:avLst>
              <a:gd name="adj" fmla="val 50000"/>
            </a:avLst>
          </a:prstGeom>
          <a:noFill/>
          <a:ln w="9525">
            <a:solidFill>
              <a:srgbClr val="D8E0EC"/>
            </a:solidFill>
          </a:ln>
          <a:effectLst/>
        </p:spPr>
        <p:style>
          <a:lnRef idx="1">
            <a:schemeClr val="accent1"/>
          </a:lnRef>
          <a:fillRef idx="3">
            <a:schemeClr val="accent1"/>
          </a:fillRef>
          <a:effectRef idx="2">
            <a:schemeClr val="accent1"/>
          </a:effectRef>
          <a:fontRef idx="minor">
            <a:schemeClr val="lt1"/>
          </a:fontRef>
        </p:style>
        <p:txBody>
          <a:bodyPr rtlCol="0" anchor="ctr" wrap="none" lIns="95000" rIns="95000" tIns="0" bIns="0"/>
          <a:lstStyle/>
          <a:p>
            <a:pPr algn="ctr">
              <a:lnSpc>
                <a:spcPct val="100000"/>
              </a:lnSpc>
            </a:pPr>
            <a:r>
              <a:rPr sz="850" b="0" i="0">
                <a:solidFill>
                  <a:srgbClr val="5A6B86"/>
                </a:solidFill>
                <a:latin typeface="Consolas"/>
              </a:rPr>
              <a:t>Takeaway</a:t>
            </a:r>
          </a:p>
        </p:txBody>
      </p:sp>
      <p:sp>
        <p:nvSpPr>
          <p:cNvPr id="3" name="Rounded Rectangle 2"/>
          <p:cNvSpPr/>
          <p:nvPr/>
        </p:nvSpPr>
        <p:spPr>
          <a:xfrm>
            <a:off x="10357538" y="640000"/>
            <a:ext cx="605608" cy="230000"/>
          </a:xfrm>
          <a:prstGeom prst="roundRect">
            <a:avLst>
              <a:gd name="adj" fmla="val 50000"/>
            </a:avLst>
          </a:prstGeom>
          <a:solidFill>
            <a:srgbClr val="FDECE1"/>
          </a:solidFill>
          <a:ln w="9525">
            <a:solidFill>
              <a:srgbClr val="E8590C"/>
            </a:solidFill>
          </a:ln>
          <a:effectLst/>
        </p:spPr>
        <p:style>
          <a:lnRef idx="1">
            <a:schemeClr val="accent1"/>
          </a:lnRef>
          <a:fillRef idx="3">
            <a:schemeClr val="accent1"/>
          </a:fillRef>
          <a:effectRef idx="2">
            <a:schemeClr val="accent1"/>
          </a:effectRef>
          <a:fontRef idx="minor">
            <a:schemeClr val="lt1"/>
          </a:fontRef>
        </p:style>
        <p:txBody>
          <a:bodyPr rtlCol="0" anchor="ctr" wrap="none" lIns="95000" rIns="95000" tIns="0" bIns="0"/>
          <a:lstStyle/>
          <a:p>
            <a:pPr algn="ctr">
              <a:lnSpc>
                <a:spcPct val="100000"/>
              </a:lnSpc>
            </a:pPr>
            <a:r>
              <a:rPr sz="850" b="0" i="0">
                <a:solidFill>
                  <a:srgbClr val="C2410C"/>
                </a:solidFill>
                <a:latin typeface="Consolas"/>
              </a:rPr>
              <a:t>Results</a:t>
            </a:r>
          </a:p>
        </p:txBody>
      </p:sp>
      <p:sp>
        <p:nvSpPr>
          <p:cNvPr id="4" name="Rounded Rectangle 3"/>
          <p:cNvSpPr/>
          <p:nvPr/>
        </p:nvSpPr>
        <p:spPr>
          <a:xfrm>
            <a:off x="9771302" y="640000"/>
            <a:ext cx="546235" cy="230000"/>
          </a:xfrm>
          <a:prstGeom prst="roundRect">
            <a:avLst>
              <a:gd name="adj" fmla="val 50000"/>
            </a:avLst>
          </a:prstGeom>
          <a:noFill/>
          <a:ln w="9525">
            <a:solidFill>
              <a:srgbClr val="D8E0EC"/>
            </a:solidFill>
          </a:ln>
          <a:effectLst/>
        </p:spPr>
        <p:style>
          <a:lnRef idx="1">
            <a:schemeClr val="accent1"/>
          </a:lnRef>
          <a:fillRef idx="3">
            <a:schemeClr val="accent1"/>
          </a:fillRef>
          <a:effectRef idx="2">
            <a:schemeClr val="accent1"/>
          </a:effectRef>
          <a:fontRef idx="minor">
            <a:schemeClr val="lt1"/>
          </a:fontRef>
        </p:style>
        <p:txBody>
          <a:bodyPr rtlCol="0" anchor="ctr" wrap="none" lIns="95000" rIns="95000" tIns="0" bIns="0"/>
          <a:lstStyle/>
          <a:p>
            <a:pPr algn="ctr">
              <a:lnSpc>
                <a:spcPct val="100000"/>
              </a:lnSpc>
            </a:pPr>
            <a:r>
              <a:rPr sz="850" b="0" i="0">
                <a:solidFill>
                  <a:srgbClr val="5A6B86"/>
                </a:solidFill>
                <a:latin typeface="Consolas"/>
              </a:rPr>
              <a:t>Method</a:t>
            </a:r>
          </a:p>
        </p:txBody>
      </p:sp>
      <p:sp>
        <p:nvSpPr>
          <p:cNvPr id="5" name="Rounded Rectangle 4"/>
          <p:cNvSpPr/>
          <p:nvPr/>
        </p:nvSpPr>
        <p:spPr>
          <a:xfrm>
            <a:off x="9363185" y="640000"/>
            <a:ext cx="368118" cy="230000"/>
          </a:xfrm>
          <a:prstGeom prst="roundRect">
            <a:avLst>
              <a:gd name="adj" fmla="val 50000"/>
            </a:avLst>
          </a:prstGeom>
          <a:noFill/>
          <a:ln w="9525">
            <a:solidFill>
              <a:srgbClr val="D8E0EC"/>
            </a:solidFill>
          </a:ln>
          <a:effectLst/>
        </p:spPr>
        <p:style>
          <a:lnRef idx="1">
            <a:schemeClr val="accent1"/>
          </a:lnRef>
          <a:fillRef idx="3">
            <a:schemeClr val="accent1"/>
          </a:fillRef>
          <a:effectRef idx="2">
            <a:schemeClr val="accent1"/>
          </a:effectRef>
          <a:fontRef idx="minor">
            <a:schemeClr val="lt1"/>
          </a:fontRef>
        </p:style>
        <p:txBody>
          <a:bodyPr rtlCol="0" anchor="ctr" wrap="none" lIns="95000" rIns="95000" tIns="0" bIns="0"/>
          <a:lstStyle/>
          <a:p>
            <a:pPr algn="ctr">
              <a:lnSpc>
                <a:spcPct val="100000"/>
              </a:lnSpc>
            </a:pPr>
            <a:r>
              <a:rPr sz="850" b="0" i="0">
                <a:solidFill>
                  <a:srgbClr val="5A6B86"/>
                </a:solidFill>
                <a:latin typeface="Consolas"/>
              </a:rPr>
              <a:t>Why</a:t>
            </a:r>
          </a:p>
        </p:txBody>
      </p:sp>
      <p:sp>
        <p:nvSpPr>
          <p:cNvPr id="6" name="TextBox 5"/>
          <p:cNvSpPr txBox="1"/>
          <p:nvPr/>
        </p:nvSpPr>
        <p:spPr>
          <a:xfrm>
            <a:off x="10768125" y="6550000"/>
            <a:ext cx="900000" cy="220000"/>
          </a:xfrm>
          <a:prstGeom prst="rect">
            <a:avLst/>
          </a:prstGeom>
          <a:noFill/>
          <a:effectLst/>
        </p:spPr>
        <p:txBody>
          <a:bodyPr wrap="square" lIns="0" rIns="0" tIns="0" bIns="0" anchor="t">
            <a:spAutoFit/>
          </a:bodyPr>
          <a:lstStyle/>
          <a:p>
            <a:pPr algn="r">
              <a:lnSpc>
                <a:spcPct val="125000"/>
              </a:lnSpc>
            </a:pPr>
            <a:r>
              <a:rPr sz="850" b="0" i="0">
                <a:solidFill>
                  <a:srgbClr val="5A6B86"/>
                </a:solidFill>
                <a:latin typeface="Consolas"/>
              </a:rPr>
              <a:t>9 / 10</a:t>
            </a:r>
          </a:p>
        </p:txBody>
      </p:sp>
      <p:sp>
        <p:nvSpPr>
          <p:cNvPr id="7" name="TextBox 6"/>
          <p:cNvSpPr txBox="1"/>
          <p:nvPr/>
        </p:nvSpPr>
        <p:spPr>
          <a:xfrm>
            <a:off x="523875" y="1295000"/>
            <a:ext cx="11144250" cy="210000"/>
          </a:xfrm>
          <a:prstGeom prst="rect">
            <a:avLst/>
          </a:prstGeom>
          <a:noFill/>
          <a:effectLst/>
        </p:spPr>
        <p:txBody>
          <a:bodyPr wrap="square" lIns="0" rIns="0" tIns="0" bIns="0" anchor="t">
            <a:spAutoFit/>
          </a:bodyPr>
          <a:lstStyle/>
          <a:p>
            <a:pPr algn="l">
              <a:lnSpc>
                <a:spcPct val="125000"/>
              </a:lnSpc>
            </a:pPr>
            <a:r>
              <a:rPr sz="950" b="0" i="0" spc="170">
                <a:solidFill>
                  <a:srgbClr val="5A6B86"/>
                </a:solidFill>
                <a:latin typeface="Consolas"/>
              </a:rPr>
              <a:t>CORRECTED BY MEASUREMENT, NOT BY ARGUMENT</a:t>
            </a:r>
          </a:p>
        </p:txBody>
      </p:sp>
      <p:sp>
        <p:nvSpPr>
          <p:cNvPr id="8" name="TextBox 7"/>
          <p:cNvSpPr txBox="1"/>
          <p:nvPr/>
        </p:nvSpPr>
        <p:spPr>
          <a:xfrm>
            <a:off x="523875" y="1495000"/>
            <a:ext cx="11144250" cy="610000"/>
          </a:xfrm>
          <a:prstGeom prst="rect">
            <a:avLst/>
          </a:prstGeom>
          <a:noFill/>
          <a:effectLst/>
        </p:spPr>
        <p:txBody>
          <a:bodyPr wrap="square" lIns="0" rIns="0" tIns="0" bIns="0" anchor="b">
            <a:spAutoFit/>
          </a:bodyPr>
          <a:lstStyle/>
          <a:p>
            <a:pPr algn="l">
              <a:lnSpc>
                <a:spcPct val="108000"/>
              </a:lnSpc>
            </a:pPr>
            <a:r>
              <a:rPr sz="2200" b="1" i="0">
                <a:solidFill>
                  <a:srgbClr val="7800A2"/>
                </a:solidFill>
                <a:latin typeface="Arial"/>
              </a:rPr>
              <a:t>Two beliefs </a:t>
            </a:r>
            <a:r>
              <a:rPr sz="2200" b="1" i="0">
                <a:solidFill>
                  <a:srgbClr val="C2410C"/>
                </a:solidFill>
                <a:latin typeface="Arial"/>
              </a:rPr>
              <a:t>measurement overturned</a:t>
            </a:r>
            <a:r>
              <a:rPr sz="2200" b="1" i="0">
                <a:solidFill>
                  <a:srgbClr val="7800A2"/>
                </a:solidFill>
                <a:latin typeface="Arial"/>
              </a:rPr>
              <a:t> — and three suggestions I closed instead</a:t>
            </a:r>
          </a:p>
        </p:txBody>
      </p:sp>
      <p:cxnSp>
        <p:nvCxnSpPr>
          <p:cNvPr id="9" name="Connector 8"/>
          <p:cNvCxnSpPr/>
          <p:nvPr/>
        </p:nvCxnSpPr>
        <p:spPr>
          <a:xfrm>
            <a:off x="523875" y="2165000"/>
            <a:ext cx="11144250" cy="0"/>
          </a:xfrm>
          <a:prstGeom prst="line">
            <a:avLst/>
          </a:prstGeom>
          <a:ln w="25400">
            <a:solidFill>
              <a:srgbClr val="660066"/>
            </a:solidFill>
            <a:prstDash val="sysDot"/>
          </a:ln>
          <a:effectLst/>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523875" y="2265000"/>
            <a:ext cx="5487125" cy="2050000"/>
          </a:xfrm>
          <a:prstGeom prst="roundRect">
            <a:avLst>
              <a:gd name="adj" fmla="val 5365"/>
            </a:avLst>
          </a:prstGeom>
          <a:solidFill>
            <a:srgbClr val="FFFFFF"/>
          </a:solidFill>
          <a:ln w="12700">
            <a:solidFill>
              <a:srgbClr val="D8E0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fig_onchain.png"/>
          <p:cNvPicPr>
            <a:picLocks noChangeAspect="1"/>
          </p:cNvPicPr>
          <p:nvPr/>
        </p:nvPicPr>
        <p:blipFill>
          <a:blip r:embed="rId3"/>
          <a:stretch>
            <a:fillRect/>
          </a:stretch>
        </p:blipFill>
        <p:spPr>
          <a:xfrm>
            <a:off x="788324" y="2375000"/>
            <a:ext cx="4958226" cy="1830000"/>
          </a:xfrm>
          <a:prstGeom prst="rect">
            <a:avLst/>
          </a:prstGeom>
        </p:spPr>
      </p:pic>
      <p:sp>
        <p:nvSpPr>
          <p:cNvPr id="12" name="Rounded Rectangle 11"/>
          <p:cNvSpPr/>
          <p:nvPr/>
        </p:nvSpPr>
        <p:spPr>
          <a:xfrm>
            <a:off x="523875" y="4465000"/>
            <a:ext cx="5487125" cy="1330000"/>
          </a:xfrm>
          <a:prstGeom prst="roundRect">
            <a:avLst>
              <a:gd name="adj" fmla="val 8270"/>
            </a:avLst>
          </a:prstGeom>
          <a:solidFill>
            <a:srgbClr val="FFFFFF"/>
          </a:solidFill>
          <a:ln w="12700">
            <a:solidFill>
              <a:srgbClr val="D8E0EC"/>
            </a:solidFill>
          </a:ln>
          <a:effectLst/>
        </p:spPr>
        <p:style>
          <a:lnRef idx="1">
            <a:schemeClr val="accent1"/>
          </a:lnRef>
          <a:fillRef idx="3">
            <a:schemeClr val="accent1"/>
          </a:fillRef>
          <a:effectRef idx="2">
            <a:schemeClr val="accent1"/>
          </a:effectRef>
          <a:fontRef idx="minor">
            <a:schemeClr val="lt1"/>
          </a:fontRef>
        </p:style>
        <p:txBody>
          <a:bodyPr rtlCol="0" anchor="t" wrap="square" lIns="160000" rIns="160000" tIns="120000" bIns="120000"/>
          <a:lstStyle/>
          <a:p>
            <a:pPr algn="l">
              <a:lnSpc>
                <a:spcPct val="125000"/>
              </a:lnSpc>
            </a:pPr>
            <a:r>
              <a:rPr sz="1250" b="1" i="0">
                <a:solidFill>
                  <a:srgbClr val="14213A"/>
                </a:solidFill>
                <a:latin typeface="Arial"/>
              </a:rPr>
              <a:t>“That can be future work”</a:t>
            </a:r>
          </a:p>
          <a:p>
            <a:pPr algn="l">
              <a:lnSpc>
                <a:spcPct val="130000"/>
              </a:lnSpc>
              <a:spcBef>
                <a:spcPts val="500"/>
              </a:spcBef>
            </a:pPr>
            <a:r>
              <a:rPr sz="1050" b="0" i="0">
                <a:solidFill>
                  <a:srgbClr val="14213A"/>
                </a:solidFill>
                <a:latin typeface="Arial"/>
              </a:rPr>
              <a:t>Three optimisations I could have listed as suggestions, run and closed instead:</a:t>
            </a:r>
          </a:p>
        </p:txBody>
      </p:sp>
      <p:sp>
        <p:nvSpPr>
          <p:cNvPr id="13" name="Rounded Rectangle 12"/>
          <p:cNvSpPr/>
          <p:nvPr/>
        </p:nvSpPr>
        <p:spPr>
          <a:xfrm>
            <a:off x="683875" y="5165000"/>
            <a:ext cx="3572800" cy="230000"/>
          </a:xfrm>
          <a:prstGeom prst="roundRect">
            <a:avLst>
              <a:gd name="adj" fmla="val 50000"/>
            </a:avLst>
          </a:prstGeom>
          <a:noFill/>
          <a:ln w="9525">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ctr" wrap="none" lIns="110000" rIns="110000" tIns="0" bIns="0"/>
          <a:lstStyle/>
          <a:p>
            <a:pPr algn="ctr">
              <a:lnSpc>
                <a:spcPct val="100000"/>
              </a:lnSpc>
            </a:pPr>
            <a:r>
              <a:rPr sz="800" b="0" i="0">
                <a:solidFill>
                  <a:srgbClr val="C2410C"/>
                </a:solidFill>
                <a:latin typeface="Consolas"/>
              </a:rPr>
              <a:t>statement compression — fails at Extract, every depth tested</a:t>
            </a:r>
          </a:p>
        </p:txBody>
      </p:sp>
      <p:sp>
        <p:nvSpPr>
          <p:cNvPr id="14" name="Rounded Rectangle 13"/>
          <p:cNvSpPr/>
          <p:nvPr/>
        </p:nvSpPr>
        <p:spPr>
          <a:xfrm>
            <a:off x="683875" y="5435000"/>
            <a:ext cx="2175800" cy="230000"/>
          </a:xfrm>
          <a:prstGeom prst="roundRect">
            <a:avLst>
              <a:gd name="adj" fmla="val 50000"/>
            </a:avLst>
          </a:prstGeom>
          <a:noFill/>
          <a:ln w="9525">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ctr" wrap="none" lIns="110000" rIns="110000" tIns="0" bIns="0"/>
          <a:lstStyle/>
          <a:p>
            <a:pPr algn="ctr">
              <a:lnSpc>
                <a:spcPct val="100000"/>
              </a:lnSpc>
            </a:pPr>
            <a:r>
              <a:rPr sz="800" b="0" i="0">
                <a:solidFill>
                  <a:srgbClr val="C2410C"/>
                </a:solidFill>
                <a:latin typeface="Consolas"/>
              </a:rPr>
              <a:t>batching — amortises the wrong cost</a:t>
            </a:r>
          </a:p>
        </p:txBody>
      </p:sp>
      <p:sp>
        <p:nvSpPr>
          <p:cNvPr id="15" name="Rounded Rectangle 14"/>
          <p:cNvSpPr/>
          <p:nvPr/>
        </p:nvSpPr>
        <p:spPr>
          <a:xfrm>
            <a:off x="2939675" y="5435000"/>
            <a:ext cx="2958120" cy="230000"/>
          </a:xfrm>
          <a:prstGeom prst="roundRect">
            <a:avLst>
              <a:gd name="adj" fmla="val 50000"/>
            </a:avLst>
          </a:prstGeom>
          <a:noFill/>
          <a:ln w="9525">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ctr" wrap="none" lIns="110000" rIns="110000" tIns="0" bIns="0"/>
          <a:lstStyle/>
          <a:p>
            <a:pPr algn="ctr">
              <a:lnSpc>
                <a:spcPct val="100000"/>
              </a:lnSpc>
            </a:pPr>
            <a:r>
              <a:rPr sz="800" b="0" i="0">
                <a:solidFill>
                  <a:srgbClr val="C2410C"/>
                </a:solidFill>
                <a:latin typeface="Consolas"/>
              </a:rPr>
              <a:t>optimistic verifier — fraud proof cannot be mined</a:t>
            </a:r>
          </a:p>
        </p:txBody>
      </p:sp>
      <p:sp>
        <p:nvSpPr>
          <p:cNvPr id="16" name="Rounded Rectangle 15"/>
          <p:cNvSpPr/>
          <p:nvPr/>
        </p:nvSpPr>
        <p:spPr>
          <a:xfrm>
            <a:off x="6181000" y="2265000"/>
            <a:ext cx="5487125" cy="1000000"/>
          </a:xfrm>
          <a:prstGeom prst="roundRect">
            <a:avLst>
              <a:gd name="adj" fmla="val 11000"/>
            </a:avLst>
          </a:prstGeom>
          <a:solidFill>
            <a:srgbClr val="E6F6EA"/>
          </a:solidFill>
          <a:ln w="12700">
            <a:solidFill>
              <a:srgbClr val="2F9E44"/>
            </a:solidFill>
          </a:ln>
          <a:effectLst/>
        </p:spPr>
        <p:style>
          <a:lnRef idx="1">
            <a:schemeClr val="accent1"/>
          </a:lnRef>
          <a:fillRef idx="3">
            <a:schemeClr val="accent1"/>
          </a:fillRef>
          <a:effectRef idx="2">
            <a:schemeClr val="accent1"/>
          </a:effectRef>
          <a:fontRef idx="minor">
            <a:schemeClr val="lt1"/>
          </a:fontRef>
        </p:style>
        <p:txBody>
          <a:bodyPr rtlCol="0" anchor="t" wrap="square" lIns="160000" rIns="160000" tIns="120000" bIns="120000"/>
          <a:lstStyle/>
          <a:p>
            <a:pPr algn="l">
              <a:lnSpc>
                <a:spcPct val="125000"/>
              </a:lnSpc>
            </a:pPr>
            <a:r>
              <a:rPr sz="1250" b="1" i="0">
                <a:solidFill>
                  <a:srgbClr val="14213A"/>
                </a:solidFill>
                <a:latin typeface="Arial"/>
              </a:rPr>
              <a:t>“It can never fit on chain”</a:t>
            </a:r>
          </a:p>
          <a:p>
            <a:pPr algn="l">
              <a:lnSpc>
                <a:spcPct val="130000"/>
              </a:lnSpc>
              <a:spcBef>
                <a:spcPts val="600"/>
              </a:spcBef>
            </a:pPr>
            <a:r>
              <a:rPr sz="1100" b="0" i="0">
                <a:solidFill>
                  <a:srgbClr val="14213A"/>
                </a:solidFill>
                <a:latin typeface="Arial"/>
              </a:rPr>
              <a:t>I called the cause structural and inferred optimisation could not close it. </a:t>
            </a:r>
            <a:r>
              <a:rPr sz="1100" b="1" i="0">
                <a:solidFill>
                  <a:srgbClr val="B02A37"/>
                </a:solidFill>
                <a:latin typeface="Arial"/>
              </a:rPr>
              <a:t>Wrong</a:t>
            </a:r>
            <a:r>
              <a:rPr sz="1100" b="0" i="0">
                <a:solidFill>
                  <a:srgbClr val="14213A"/>
                </a:solidFill>
                <a:latin typeface="Arial"/>
              </a:rPr>
              <a:t> — a real client mined full verification at </a:t>
            </a:r>
            <a:r>
              <a:rPr sz="1100" b="1" i="0">
                <a:solidFill>
                  <a:srgbClr val="14213A"/>
                </a:solidFill>
                <a:latin typeface="Arial"/>
              </a:rPr>
              <a:t>97.8%</a:t>
            </a:r>
            <a:r>
              <a:rPr sz="1100" b="0" i="0">
                <a:solidFill>
                  <a:srgbClr val="14213A"/>
                </a:solidFill>
                <a:latin typeface="Arial"/>
              </a:rPr>
              <a:t> of the cap.</a:t>
            </a:r>
          </a:p>
        </p:txBody>
      </p:sp>
      <p:sp>
        <p:nvSpPr>
          <p:cNvPr id="17" name="Rounded Rectangle 16"/>
          <p:cNvSpPr/>
          <p:nvPr/>
        </p:nvSpPr>
        <p:spPr>
          <a:xfrm>
            <a:off x="6181000" y="3365000"/>
            <a:ext cx="5487125" cy="2380000"/>
          </a:xfrm>
          <a:prstGeom prst="roundRect">
            <a:avLst>
              <a:gd name="adj" fmla="val 4621"/>
            </a:avLst>
          </a:prstGeom>
          <a:solidFill>
            <a:srgbClr val="E6F6EA"/>
          </a:solidFill>
          <a:ln w="12700">
            <a:solidFill>
              <a:srgbClr val="2F9E44"/>
            </a:solidFill>
          </a:ln>
          <a:effectLst/>
        </p:spPr>
        <p:style>
          <a:lnRef idx="1">
            <a:schemeClr val="accent1"/>
          </a:lnRef>
          <a:fillRef idx="3">
            <a:schemeClr val="accent1"/>
          </a:fillRef>
          <a:effectRef idx="2">
            <a:schemeClr val="accent1"/>
          </a:effectRef>
          <a:fontRef idx="minor">
            <a:schemeClr val="lt1"/>
          </a:fontRef>
        </p:style>
        <p:txBody>
          <a:bodyPr rtlCol="0" anchor="t" wrap="square" lIns="160000" rIns="160000" tIns="120000" bIns="120000"/>
          <a:lstStyle/>
          <a:p>
            <a:pPr algn="l">
              <a:lnSpc>
                <a:spcPct val="125000"/>
              </a:lnSpc>
            </a:pPr>
            <a:r>
              <a:rPr sz="1250" b="1" i="0">
                <a:solidFill>
                  <a:srgbClr val="14213A"/>
                </a:solidFill>
                <a:latin typeface="Arial"/>
              </a:rPr>
              <a:t>“The base scheme must be simplified”</a:t>
            </a:r>
          </a:p>
          <a:p>
            <a:pPr algn="l">
              <a:lnSpc>
                <a:spcPct val="130000"/>
              </a:lnSpc>
              <a:spcBef>
                <a:spcPts val="600"/>
              </a:spcBef>
            </a:pPr>
            <a:r>
              <a:rPr sz="1050" b="0" i="0">
                <a:solidFill>
                  <a:srgbClr val="14213A"/>
                </a:solidFill>
                <a:latin typeface="Arial"/>
              </a:rPr>
              <a:t>Built a third time on the </a:t>
            </a:r>
            <a:r>
              <a:rPr sz="1050" b="1" i="0">
                <a:solidFill>
                  <a:srgbClr val="14213A"/>
                </a:solidFill>
                <a:latin typeface="Arial"/>
              </a:rPr>
              <a:t>full FIPS 204 ML-DSA path</a:t>
            </a:r>
            <a:r>
              <a:rPr sz="1050" b="0" i="0">
                <a:solidFill>
                  <a:srgbClr val="14213A"/>
                </a:solidFill>
                <a:latin typeface="Arial"/>
              </a:rPr>
              <a:t>: PreSign and PreVerify are new algorithms, but </a:t>
            </a:r>
            <a:r>
              <a:rPr sz="1050" b="1" i="0">
                <a:solidFill>
                  <a:srgbClr val="14213A"/>
                </a:solidFill>
                <a:latin typeface="Arial"/>
              </a:rPr>
              <a:t>Verify is not</a:t>
            </a:r>
            <a:r>
              <a:rPr sz="1050" b="0" i="0">
                <a:solidFill>
                  <a:srgbClr val="14213A"/>
                </a:solidFill>
                <a:latin typeface="Arial"/>
              </a:rPr>
              <a:t> — the stock verifier accepts </a:t>
            </a:r>
            <a:r>
              <a:rPr sz="1050" b="1" i="0">
                <a:solidFill>
                  <a:srgbClr val="14213A"/>
                </a:solidFill>
                <a:latin typeface="Arial"/>
              </a:rPr>
              <a:t>200/200</a:t>
            </a:r>
            <a:r>
              <a:rPr sz="1050" b="0" i="0">
                <a:solidFill>
                  <a:srgbClr val="14213A"/>
                </a:solidFill>
                <a:latin typeface="Arial"/>
              </a:rPr>
              <a:t> adapted signatures.</a:t>
            </a:r>
          </a:p>
        </p:txBody>
      </p:sp>
      <p:sp>
        <p:nvSpPr>
          <p:cNvPr id="18" name="TextBox 17"/>
          <p:cNvSpPr txBox="1"/>
          <p:nvPr/>
        </p:nvSpPr>
        <p:spPr>
          <a:xfrm>
            <a:off x="6341000" y="4485000"/>
            <a:ext cx="2376878" cy="220000"/>
          </a:xfrm>
          <a:prstGeom prst="rect">
            <a:avLst/>
          </a:prstGeom>
          <a:noFill/>
          <a:effectLst/>
        </p:spPr>
        <p:txBody>
          <a:bodyPr wrap="square" lIns="0" rIns="0" tIns="0" bIns="0" anchor="t">
            <a:spAutoFit/>
          </a:bodyPr>
          <a:lstStyle/>
          <a:p>
            <a:pPr algn="l">
              <a:lnSpc>
                <a:spcPct val="125000"/>
              </a:lnSpc>
            </a:pPr>
          </a:p>
        </p:txBody>
      </p:sp>
      <p:sp>
        <p:nvSpPr>
          <p:cNvPr id="19" name="TextBox 18"/>
          <p:cNvSpPr txBox="1"/>
          <p:nvPr/>
        </p:nvSpPr>
        <p:spPr>
          <a:xfrm>
            <a:off x="8717878" y="4485000"/>
            <a:ext cx="1395124" cy="220000"/>
          </a:xfrm>
          <a:prstGeom prst="rect">
            <a:avLst/>
          </a:prstGeom>
          <a:noFill/>
          <a:effectLst/>
        </p:spPr>
        <p:txBody>
          <a:bodyPr wrap="square" lIns="0" rIns="0" tIns="0" bIns="0" anchor="t">
            <a:spAutoFit/>
          </a:bodyPr>
          <a:lstStyle/>
          <a:p>
            <a:pPr algn="r">
              <a:lnSpc>
                <a:spcPct val="125000"/>
              </a:lnSpc>
            </a:pPr>
            <a:r>
              <a:rPr sz="850" b="0" i="0" spc="90">
                <a:solidFill>
                  <a:srgbClr val="5A6B86"/>
                </a:solidFill>
                <a:latin typeface="Arial"/>
              </a:rPr>
              <a:t>SIMPLIFIED</a:t>
            </a:r>
          </a:p>
        </p:txBody>
      </p:sp>
      <p:sp>
        <p:nvSpPr>
          <p:cNvPr id="20" name="TextBox 19"/>
          <p:cNvSpPr txBox="1"/>
          <p:nvPr/>
        </p:nvSpPr>
        <p:spPr>
          <a:xfrm>
            <a:off x="10113001" y="4485000"/>
            <a:ext cx="1395124" cy="220000"/>
          </a:xfrm>
          <a:prstGeom prst="rect">
            <a:avLst/>
          </a:prstGeom>
          <a:noFill/>
          <a:effectLst/>
        </p:spPr>
        <p:txBody>
          <a:bodyPr wrap="square" lIns="0" rIns="0" tIns="0" bIns="0" anchor="t">
            <a:spAutoFit/>
          </a:bodyPr>
          <a:lstStyle/>
          <a:p>
            <a:pPr algn="r">
              <a:lnSpc>
                <a:spcPct val="125000"/>
              </a:lnSpc>
            </a:pPr>
            <a:r>
              <a:rPr sz="850" b="0" i="0" spc="90">
                <a:solidFill>
                  <a:srgbClr val="5A6B86"/>
                </a:solidFill>
                <a:latin typeface="Arial"/>
              </a:rPr>
              <a:t>ON ML-DSA</a:t>
            </a:r>
          </a:p>
        </p:txBody>
      </p:sp>
      <p:cxnSp>
        <p:nvCxnSpPr>
          <p:cNvPr id="21" name="Connector 20"/>
          <p:cNvCxnSpPr/>
          <p:nvPr/>
        </p:nvCxnSpPr>
        <p:spPr>
          <a:xfrm>
            <a:off x="6341000" y="4685000"/>
            <a:ext cx="5167125" cy="0"/>
          </a:xfrm>
          <a:prstGeom prst="line">
            <a:avLst/>
          </a:prstGeom>
          <a:ln w="9525">
            <a:solidFill>
              <a:srgbClr val="D8E0EC"/>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341000" y="4725000"/>
            <a:ext cx="2376878" cy="220000"/>
          </a:xfrm>
          <a:prstGeom prst="rect">
            <a:avLst/>
          </a:prstGeom>
          <a:noFill/>
          <a:effectLst/>
        </p:spPr>
        <p:txBody>
          <a:bodyPr wrap="square" lIns="0" rIns="0" tIns="0" bIns="0" anchor="t">
            <a:spAutoFit/>
          </a:bodyPr>
          <a:lstStyle/>
          <a:p>
            <a:pPr algn="l">
              <a:lnSpc>
                <a:spcPct val="125000"/>
              </a:lnSpc>
            </a:pPr>
            <a:r>
              <a:rPr sz="900" b="0" i="0">
                <a:solidFill>
                  <a:srgbClr val="5A6B86"/>
                </a:solidFill>
                <a:latin typeface="Arial"/>
              </a:rPr>
              <a:t>attempts per PreSign</a:t>
            </a:r>
          </a:p>
        </p:txBody>
      </p:sp>
      <p:sp>
        <p:nvSpPr>
          <p:cNvPr id="23" name="TextBox 22"/>
          <p:cNvSpPr txBox="1"/>
          <p:nvPr/>
        </p:nvSpPr>
        <p:spPr>
          <a:xfrm>
            <a:off x="8717878" y="4725000"/>
            <a:ext cx="1395124" cy="220000"/>
          </a:xfrm>
          <a:prstGeom prst="rect">
            <a:avLst/>
          </a:prstGeom>
          <a:noFill/>
          <a:effectLst/>
        </p:spPr>
        <p:txBody>
          <a:bodyPr wrap="square" lIns="0" rIns="0" tIns="0" bIns="0" anchor="t">
            <a:spAutoFit/>
          </a:bodyPr>
          <a:lstStyle/>
          <a:p>
            <a:pPr algn="r">
              <a:lnSpc>
                <a:spcPct val="125000"/>
              </a:lnSpc>
            </a:pPr>
            <a:r>
              <a:rPr sz="900" b="0" i="0">
                <a:solidFill>
                  <a:srgbClr val="14213A"/>
                </a:solidFill>
                <a:latin typeface="Consolas"/>
              </a:rPr>
              <a:t>2.7136</a:t>
            </a:r>
          </a:p>
        </p:txBody>
      </p:sp>
      <p:sp>
        <p:nvSpPr>
          <p:cNvPr id="24" name="TextBox 23"/>
          <p:cNvSpPr txBox="1"/>
          <p:nvPr/>
        </p:nvSpPr>
        <p:spPr>
          <a:xfrm>
            <a:off x="10113001" y="4725000"/>
            <a:ext cx="1395124" cy="220000"/>
          </a:xfrm>
          <a:prstGeom prst="rect">
            <a:avLst/>
          </a:prstGeom>
          <a:noFill/>
          <a:effectLst/>
        </p:spPr>
        <p:txBody>
          <a:bodyPr wrap="square" lIns="0" rIns="0" tIns="0" bIns="0" anchor="t">
            <a:spAutoFit/>
          </a:bodyPr>
          <a:lstStyle/>
          <a:p>
            <a:pPr algn="r">
              <a:lnSpc>
                <a:spcPct val="125000"/>
              </a:lnSpc>
            </a:pPr>
            <a:r>
              <a:rPr sz="900" b="0" i="0">
                <a:solidFill>
                  <a:srgbClr val="14213A"/>
                </a:solidFill>
                <a:latin typeface="Consolas"/>
              </a:rPr>
              <a:t>5.2172</a:t>
            </a:r>
          </a:p>
        </p:txBody>
      </p:sp>
      <p:cxnSp>
        <p:nvCxnSpPr>
          <p:cNvPr id="25" name="Connector 24"/>
          <p:cNvCxnSpPr/>
          <p:nvPr/>
        </p:nvCxnSpPr>
        <p:spPr>
          <a:xfrm>
            <a:off x="6341000" y="4925000"/>
            <a:ext cx="5167125" cy="0"/>
          </a:xfrm>
          <a:prstGeom prst="line">
            <a:avLst/>
          </a:prstGeom>
          <a:ln w="9525">
            <a:solidFill>
              <a:srgbClr val="D8E0EC"/>
            </a:solidFill>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6341000" y="4965000"/>
            <a:ext cx="2376878" cy="220000"/>
          </a:xfrm>
          <a:prstGeom prst="rect">
            <a:avLst/>
          </a:prstGeom>
          <a:noFill/>
          <a:effectLst/>
        </p:spPr>
        <p:txBody>
          <a:bodyPr wrap="square" lIns="0" rIns="0" tIns="0" bIns="0" anchor="t">
            <a:spAutoFit/>
          </a:bodyPr>
          <a:lstStyle/>
          <a:p>
            <a:pPr algn="l">
              <a:lnSpc>
                <a:spcPct val="125000"/>
              </a:lnSpc>
            </a:pPr>
            <a:r>
              <a:rPr sz="900" b="0" i="0">
                <a:solidFill>
                  <a:srgbClr val="5A6B86"/>
                </a:solidFill>
                <a:latin typeface="Arial"/>
              </a:rPr>
              <a:t>signature</a:t>
            </a:r>
          </a:p>
        </p:txBody>
      </p:sp>
      <p:sp>
        <p:nvSpPr>
          <p:cNvPr id="27" name="TextBox 26"/>
          <p:cNvSpPr txBox="1"/>
          <p:nvPr/>
        </p:nvSpPr>
        <p:spPr>
          <a:xfrm>
            <a:off x="8717878" y="4965000"/>
            <a:ext cx="1395124" cy="220000"/>
          </a:xfrm>
          <a:prstGeom prst="rect">
            <a:avLst/>
          </a:prstGeom>
          <a:noFill/>
          <a:effectLst/>
        </p:spPr>
        <p:txBody>
          <a:bodyPr wrap="square" lIns="0" rIns="0" tIns="0" bIns="0" anchor="t">
            <a:spAutoFit/>
          </a:bodyPr>
          <a:lstStyle/>
          <a:p>
            <a:pPr algn="r">
              <a:lnSpc>
                <a:spcPct val="125000"/>
              </a:lnSpc>
            </a:pPr>
            <a:r>
              <a:rPr sz="900" b="0" i="0">
                <a:solidFill>
                  <a:srgbClr val="14213A"/>
                </a:solidFill>
                <a:latin typeface="Consolas"/>
              </a:rPr>
              <a:t>6736 B</a:t>
            </a:r>
          </a:p>
        </p:txBody>
      </p:sp>
      <p:sp>
        <p:nvSpPr>
          <p:cNvPr id="28" name="TextBox 27"/>
          <p:cNvSpPr txBox="1"/>
          <p:nvPr/>
        </p:nvSpPr>
        <p:spPr>
          <a:xfrm>
            <a:off x="10113001" y="4965000"/>
            <a:ext cx="1395124" cy="220000"/>
          </a:xfrm>
          <a:prstGeom prst="rect">
            <a:avLst/>
          </a:prstGeom>
          <a:noFill/>
          <a:effectLst/>
        </p:spPr>
        <p:txBody>
          <a:bodyPr wrap="square" lIns="0" rIns="0" tIns="0" bIns="0" anchor="t">
            <a:spAutoFit/>
          </a:bodyPr>
          <a:lstStyle/>
          <a:p>
            <a:pPr algn="r">
              <a:lnSpc>
                <a:spcPct val="125000"/>
              </a:lnSpc>
            </a:pPr>
            <a:r>
              <a:rPr sz="900" b="0" i="0">
                <a:solidFill>
                  <a:srgbClr val="14213A"/>
                </a:solidFill>
                <a:latin typeface="Consolas"/>
              </a:rPr>
              <a:t>3309 B</a:t>
            </a:r>
          </a:p>
        </p:txBody>
      </p:sp>
      <p:cxnSp>
        <p:nvCxnSpPr>
          <p:cNvPr id="29" name="Connector 28"/>
          <p:cNvCxnSpPr/>
          <p:nvPr/>
        </p:nvCxnSpPr>
        <p:spPr>
          <a:xfrm>
            <a:off x="6341000" y="5165000"/>
            <a:ext cx="5167125" cy="0"/>
          </a:xfrm>
          <a:prstGeom prst="line">
            <a:avLst/>
          </a:prstGeom>
          <a:ln w="9525">
            <a:solidFill>
              <a:srgbClr val="D8E0EC"/>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6341000" y="5205000"/>
            <a:ext cx="2376878" cy="220000"/>
          </a:xfrm>
          <a:prstGeom prst="rect">
            <a:avLst/>
          </a:prstGeom>
          <a:noFill/>
          <a:effectLst/>
        </p:spPr>
        <p:txBody>
          <a:bodyPr wrap="square" lIns="0" rIns="0" tIns="0" bIns="0" anchor="t">
            <a:spAutoFit/>
          </a:bodyPr>
          <a:lstStyle/>
          <a:p>
            <a:pPr algn="l">
              <a:lnSpc>
                <a:spcPct val="125000"/>
              </a:lnSpc>
            </a:pPr>
            <a:r>
              <a:rPr sz="900" b="0" i="0">
                <a:solidFill>
                  <a:srgbClr val="5A6B86"/>
                </a:solidFill>
                <a:latin typeface="Arial"/>
              </a:rPr>
              <a:t>statement Y</a:t>
            </a:r>
          </a:p>
        </p:txBody>
      </p:sp>
      <p:sp>
        <p:nvSpPr>
          <p:cNvPr id="31" name="TextBox 30"/>
          <p:cNvSpPr txBox="1"/>
          <p:nvPr/>
        </p:nvSpPr>
        <p:spPr>
          <a:xfrm>
            <a:off x="8717878" y="5205000"/>
            <a:ext cx="1395124" cy="220000"/>
          </a:xfrm>
          <a:prstGeom prst="rect">
            <a:avLst/>
          </a:prstGeom>
          <a:noFill/>
          <a:effectLst/>
        </p:spPr>
        <p:txBody>
          <a:bodyPr wrap="square" lIns="0" rIns="0" tIns="0" bIns="0" anchor="t">
            <a:spAutoFit/>
          </a:bodyPr>
          <a:lstStyle/>
          <a:p>
            <a:pPr algn="r">
              <a:lnSpc>
                <a:spcPct val="125000"/>
              </a:lnSpc>
            </a:pPr>
            <a:r>
              <a:rPr sz="900" b="0" i="0">
                <a:solidFill>
                  <a:srgbClr val="14213A"/>
                </a:solidFill>
                <a:latin typeface="Consolas"/>
              </a:rPr>
              <a:t>4416 B</a:t>
            </a:r>
          </a:p>
        </p:txBody>
      </p:sp>
      <p:sp>
        <p:nvSpPr>
          <p:cNvPr id="32" name="TextBox 31"/>
          <p:cNvSpPr txBox="1"/>
          <p:nvPr/>
        </p:nvSpPr>
        <p:spPr>
          <a:xfrm>
            <a:off x="10113001" y="5205000"/>
            <a:ext cx="1395124" cy="220000"/>
          </a:xfrm>
          <a:prstGeom prst="rect">
            <a:avLst/>
          </a:prstGeom>
          <a:noFill/>
          <a:effectLst/>
        </p:spPr>
        <p:txBody>
          <a:bodyPr wrap="square" lIns="0" rIns="0" tIns="0" bIns="0" anchor="t">
            <a:spAutoFit/>
          </a:bodyPr>
          <a:lstStyle/>
          <a:p>
            <a:pPr algn="r">
              <a:lnSpc>
                <a:spcPct val="125000"/>
              </a:lnSpc>
            </a:pPr>
            <a:r>
              <a:rPr sz="900" b="0" i="0">
                <a:solidFill>
                  <a:srgbClr val="14213A"/>
                </a:solidFill>
                <a:latin typeface="Consolas"/>
              </a:rPr>
              <a:t>4416 B</a:t>
            </a:r>
          </a:p>
        </p:txBody>
      </p:sp>
      <p:sp>
        <p:nvSpPr>
          <p:cNvPr id="33" name="TextBox 32"/>
          <p:cNvSpPr txBox="1"/>
          <p:nvPr/>
        </p:nvSpPr>
        <p:spPr>
          <a:xfrm>
            <a:off x="6341000" y="5435000"/>
            <a:ext cx="5167125" cy="240000"/>
          </a:xfrm>
          <a:prstGeom prst="rect">
            <a:avLst/>
          </a:prstGeom>
          <a:noFill/>
          <a:effectLst/>
        </p:spPr>
        <p:txBody>
          <a:bodyPr wrap="square" lIns="0" rIns="0" tIns="0" bIns="0" anchor="t">
            <a:spAutoFit/>
          </a:bodyPr>
          <a:lstStyle/>
          <a:p>
            <a:pPr algn="l">
              <a:lnSpc>
                <a:spcPct val="125000"/>
              </a:lnSpc>
            </a:pPr>
            <a:r>
              <a:rPr sz="1050" b="1" i="0">
                <a:solidFill>
                  <a:srgbClr val="14213A"/>
                </a:solidFill>
                <a:latin typeface="Arial"/>
              </a:rPr>
              <a:t>Y</a:t>
            </a:r>
            <a:r>
              <a:rPr sz="1050" b="0" i="0">
                <a:solidFill>
                  <a:srgbClr val="14213A"/>
                </a:solidFill>
                <a:latin typeface="Arial"/>
              </a:rPr>
              <a:t> is unchanged, so it is the </a:t>
            </a:r>
            <a:r>
              <a:rPr sz="1050" b="1" i="0">
                <a:solidFill>
                  <a:srgbClr val="14213A"/>
                </a:solidFill>
                <a:latin typeface="Arial"/>
              </a:rPr>
              <a:t>dominant remaining size target</a:t>
            </a:r>
            <a:r>
              <a:rPr sz="1050" b="0" i="0">
                <a:solidFill>
                  <a:srgbClr val="14213A"/>
                </a:solidFill>
                <a:latin typeface="Arial"/>
              </a:rPr>
              <a:t>.</a:t>
            </a:r>
          </a:p>
        </p:txBody>
      </p:sp>
      <p:sp>
        <p:nvSpPr>
          <p:cNvPr id="34" name="Rectangle 33"/>
          <p:cNvSpPr/>
          <p:nvPr/>
        </p:nvSpPr>
        <p:spPr>
          <a:xfrm>
            <a:off x="523875" y="5830000"/>
            <a:ext cx="38000" cy="570000"/>
          </a:xfrm>
          <a:prstGeom prst="rect">
            <a:avLst/>
          </a:prstGeom>
          <a:solidFill>
            <a:srgbClr val="B02A3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673875" y="5830000"/>
            <a:ext cx="10994250" cy="570000"/>
          </a:xfrm>
          <a:prstGeom prst="rect">
            <a:avLst/>
          </a:prstGeom>
          <a:noFill/>
          <a:effectLst/>
        </p:spPr>
        <p:txBody>
          <a:bodyPr wrap="square" lIns="0" rIns="0" tIns="0" bIns="0" anchor="t">
            <a:spAutoFit/>
          </a:bodyPr>
          <a:lstStyle/>
          <a:p>
            <a:pPr algn="l">
              <a:lnSpc>
                <a:spcPct val="130000"/>
              </a:lnSpc>
            </a:pPr>
            <a:r>
              <a:rPr sz="1000" b="0" i="0">
                <a:solidFill>
                  <a:srgbClr val="5A6B86"/>
                </a:solidFill>
                <a:latin typeface="Arial"/>
              </a:rPr>
              <a:t>On-chain gas uses </a:t>
            </a:r>
            <a:r>
              <a:rPr sz="1000" b="1" i="0">
                <a:solidFill>
                  <a:srgbClr val="B02A37"/>
                </a:solidFill>
                <a:latin typeface="Arial"/>
              </a:rPr>
              <a:t>one fixed signature instance</a:t>
            </a:r>
            <a:r>
              <a:rPr sz="1000" b="0" i="0">
                <a:solidFill>
                  <a:srgbClr val="5A6B86"/>
                </a:solidFill>
                <a:latin typeface="Arial"/>
              </a:rPr>
              <a:t> per measured parameter set, so instance-to-instance variation is unquantified; Dilithium-V is derived to exceed one transaction, never measured there; and the ML-DSA build is a </a:t>
            </a:r>
            <a:r>
              <a:rPr sz="1000" b="1" i="0">
                <a:solidFill>
                  <a:srgbClr val="B02A37"/>
                </a:solidFill>
                <a:latin typeface="Arial"/>
              </a:rPr>
              <a:t>functional</a:t>
            </a:r>
            <a:r>
              <a:rPr sz="1000" b="0" i="0">
                <a:solidFill>
                  <a:srgbClr val="5A6B86"/>
                </a:solidFill>
                <a:latin typeface="Arial"/>
              </a:rPr>
              <a:t> demonstration — its unforgeability is not analysed.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11003145" y="640000"/>
            <a:ext cx="664980" cy="230000"/>
          </a:xfrm>
          <a:prstGeom prst="roundRect">
            <a:avLst>
              <a:gd name="adj" fmla="val 50000"/>
            </a:avLst>
          </a:prstGeom>
          <a:solidFill>
            <a:srgbClr val="FDECE1"/>
          </a:solidFill>
          <a:ln w="9525">
            <a:solidFill>
              <a:srgbClr val="E8590C"/>
            </a:solidFill>
          </a:ln>
          <a:effectLst/>
        </p:spPr>
        <p:style>
          <a:lnRef idx="1">
            <a:schemeClr val="accent1"/>
          </a:lnRef>
          <a:fillRef idx="3">
            <a:schemeClr val="accent1"/>
          </a:fillRef>
          <a:effectRef idx="2">
            <a:schemeClr val="accent1"/>
          </a:effectRef>
          <a:fontRef idx="minor">
            <a:schemeClr val="lt1"/>
          </a:fontRef>
        </p:style>
        <p:txBody>
          <a:bodyPr rtlCol="0" anchor="ctr" wrap="none" lIns="95000" rIns="95000" tIns="0" bIns="0"/>
          <a:lstStyle/>
          <a:p>
            <a:pPr algn="ctr">
              <a:lnSpc>
                <a:spcPct val="100000"/>
              </a:lnSpc>
            </a:pPr>
            <a:r>
              <a:rPr sz="850" b="0" i="0">
                <a:solidFill>
                  <a:srgbClr val="C2410C"/>
                </a:solidFill>
                <a:latin typeface="Consolas"/>
              </a:rPr>
              <a:t>Takeaway</a:t>
            </a:r>
          </a:p>
        </p:txBody>
      </p:sp>
      <p:sp>
        <p:nvSpPr>
          <p:cNvPr id="3" name="Rounded Rectangle 2"/>
          <p:cNvSpPr/>
          <p:nvPr/>
        </p:nvSpPr>
        <p:spPr>
          <a:xfrm>
            <a:off x="10357538" y="640000"/>
            <a:ext cx="605608" cy="230000"/>
          </a:xfrm>
          <a:prstGeom prst="roundRect">
            <a:avLst>
              <a:gd name="adj" fmla="val 50000"/>
            </a:avLst>
          </a:prstGeom>
          <a:noFill/>
          <a:ln w="9525">
            <a:solidFill>
              <a:srgbClr val="D8E0EC"/>
            </a:solidFill>
          </a:ln>
          <a:effectLst/>
        </p:spPr>
        <p:style>
          <a:lnRef idx="1">
            <a:schemeClr val="accent1"/>
          </a:lnRef>
          <a:fillRef idx="3">
            <a:schemeClr val="accent1"/>
          </a:fillRef>
          <a:effectRef idx="2">
            <a:schemeClr val="accent1"/>
          </a:effectRef>
          <a:fontRef idx="minor">
            <a:schemeClr val="lt1"/>
          </a:fontRef>
        </p:style>
        <p:txBody>
          <a:bodyPr rtlCol="0" anchor="ctr" wrap="none" lIns="95000" rIns="95000" tIns="0" bIns="0"/>
          <a:lstStyle/>
          <a:p>
            <a:pPr algn="ctr">
              <a:lnSpc>
                <a:spcPct val="100000"/>
              </a:lnSpc>
            </a:pPr>
            <a:r>
              <a:rPr sz="850" b="0" i="0">
                <a:solidFill>
                  <a:srgbClr val="5A6B86"/>
                </a:solidFill>
                <a:latin typeface="Consolas"/>
              </a:rPr>
              <a:t>Results</a:t>
            </a:r>
          </a:p>
        </p:txBody>
      </p:sp>
      <p:sp>
        <p:nvSpPr>
          <p:cNvPr id="4" name="Rounded Rectangle 3"/>
          <p:cNvSpPr/>
          <p:nvPr/>
        </p:nvSpPr>
        <p:spPr>
          <a:xfrm>
            <a:off x="9771302" y="640000"/>
            <a:ext cx="546235" cy="230000"/>
          </a:xfrm>
          <a:prstGeom prst="roundRect">
            <a:avLst>
              <a:gd name="adj" fmla="val 50000"/>
            </a:avLst>
          </a:prstGeom>
          <a:noFill/>
          <a:ln w="9525">
            <a:solidFill>
              <a:srgbClr val="D8E0EC"/>
            </a:solidFill>
          </a:ln>
          <a:effectLst/>
        </p:spPr>
        <p:style>
          <a:lnRef idx="1">
            <a:schemeClr val="accent1"/>
          </a:lnRef>
          <a:fillRef idx="3">
            <a:schemeClr val="accent1"/>
          </a:fillRef>
          <a:effectRef idx="2">
            <a:schemeClr val="accent1"/>
          </a:effectRef>
          <a:fontRef idx="minor">
            <a:schemeClr val="lt1"/>
          </a:fontRef>
        </p:style>
        <p:txBody>
          <a:bodyPr rtlCol="0" anchor="ctr" wrap="none" lIns="95000" rIns="95000" tIns="0" bIns="0"/>
          <a:lstStyle/>
          <a:p>
            <a:pPr algn="ctr">
              <a:lnSpc>
                <a:spcPct val="100000"/>
              </a:lnSpc>
            </a:pPr>
            <a:r>
              <a:rPr sz="850" b="0" i="0">
                <a:solidFill>
                  <a:srgbClr val="5A6B86"/>
                </a:solidFill>
                <a:latin typeface="Consolas"/>
              </a:rPr>
              <a:t>Method</a:t>
            </a:r>
          </a:p>
        </p:txBody>
      </p:sp>
      <p:sp>
        <p:nvSpPr>
          <p:cNvPr id="5" name="Rounded Rectangle 4"/>
          <p:cNvSpPr/>
          <p:nvPr/>
        </p:nvSpPr>
        <p:spPr>
          <a:xfrm>
            <a:off x="9363185" y="640000"/>
            <a:ext cx="368118" cy="230000"/>
          </a:xfrm>
          <a:prstGeom prst="roundRect">
            <a:avLst>
              <a:gd name="adj" fmla="val 50000"/>
            </a:avLst>
          </a:prstGeom>
          <a:noFill/>
          <a:ln w="9525">
            <a:solidFill>
              <a:srgbClr val="D8E0EC"/>
            </a:solidFill>
          </a:ln>
          <a:effectLst/>
        </p:spPr>
        <p:style>
          <a:lnRef idx="1">
            <a:schemeClr val="accent1"/>
          </a:lnRef>
          <a:fillRef idx="3">
            <a:schemeClr val="accent1"/>
          </a:fillRef>
          <a:effectRef idx="2">
            <a:schemeClr val="accent1"/>
          </a:effectRef>
          <a:fontRef idx="minor">
            <a:schemeClr val="lt1"/>
          </a:fontRef>
        </p:style>
        <p:txBody>
          <a:bodyPr rtlCol="0" anchor="ctr" wrap="none" lIns="95000" rIns="95000" tIns="0" bIns="0"/>
          <a:lstStyle/>
          <a:p>
            <a:pPr algn="ctr">
              <a:lnSpc>
                <a:spcPct val="100000"/>
              </a:lnSpc>
            </a:pPr>
            <a:r>
              <a:rPr sz="850" b="0" i="0">
                <a:solidFill>
                  <a:srgbClr val="5A6B86"/>
                </a:solidFill>
                <a:latin typeface="Consolas"/>
              </a:rPr>
              <a:t>Why</a:t>
            </a:r>
          </a:p>
        </p:txBody>
      </p:sp>
      <p:sp>
        <p:nvSpPr>
          <p:cNvPr id="6" name="TextBox 5"/>
          <p:cNvSpPr txBox="1"/>
          <p:nvPr/>
        </p:nvSpPr>
        <p:spPr>
          <a:xfrm>
            <a:off x="10768125" y="6550000"/>
            <a:ext cx="900000" cy="220000"/>
          </a:xfrm>
          <a:prstGeom prst="rect">
            <a:avLst/>
          </a:prstGeom>
          <a:noFill/>
          <a:effectLst/>
        </p:spPr>
        <p:txBody>
          <a:bodyPr wrap="square" lIns="0" rIns="0" tIns="0" bIns="0" anchor="t">
            <a:spAutoFit/>
          </a:bodyPr>
          <a:lstStyle/>
          <a:p>
            <a:pPr algn="r">
              <a:lnSpc>
                <a:spcPct val="125000"/>
              </a:lnSpc>
            </a:pPr>
            <a:r>
              <a:rPr sz="850" b="0" i="0">
                <a:solidFill>
                  <a:srgbClr val="5A6B86"/>
                </a:solidFill>
                <a:latin typeface="Consolas"/>
              </a:rPr>
              <a:t>10 / 10</a:t>
            </a:r>
          </a:p>
        </p:txBody>
      </p:sp>
      <p:sp>
        <p:nvSpPr>
          <p:cNvPr id="7" name="TextBox 6"/>
          <p:cNvSpPr txBox="1"/>
          <p:nvPr/>
        </p:nvSpPr>
        <p:spPr>
          <a:xfrm>
            <a:off x="523875" y="1295000"/>
            <a:ext cx="11144250" cy="210000"/>
          </a:xfrm>
          <a:prstGeom prst="rect">
            <a:avLst/>
          </a:prstGeom>
          <a:noFill/>
          <a:effectLst/>
        </p:spPr>
        <p:txBody>
          <a:bodyPr wrap="square" lIns="0" rIns="0" tIns="0" bIns="0" anchor="t">
            <a:spAutoFit/>
          </a:bodyPr>
          <a:lstStyle/>
          <a:p>
            <a:pPr algn="l">
              <a:lnSpc>
                <a:spcPct val="125000"/>
              </a:lnSpc>
            </a:pPr>
            <a:r>
              <a:rPr sz="950" b="0" i="0" spc="170">
                <a:solidFill>
                  <a:srgbClr val="5A6B86"/>
                </a:solidFill>
                <a:latin typeface="Consolas"/>
              </a:rPr>
              <a:t>BACK TO THE OPENING QUESTIONS</a:t>
            </a:r>
          </a:p>
        </p:txBody>
      </p:sp>
      <p:sp>
        <p:nvSpPr>
          <p:cNvPr id="8" name="TextBox 7"/>
          <p:cNvSpPr txBox="1"/>
          <p:nvPr/>
        </p:nvSpPr>
        <p:spPr>
          <a:xfrm>
            <a:off x="523875" y="1495000"/>
            <a:ext cx="11144250" cy="610000"/>
          </a:xfrm>
          <a:prstGeom prst="rect">
            <a:avLst/>
          </a:prstGeom>
          <a:noFill/>
          <a:effectLst/>
        </p:spPr>
        <p:txBody>
          <a:bodyPr wrap="square" lIns="0" rIns="0" tIns="0" bIns="0" anchor="b">
            <a:spAutoFit/>
          </a:bodyPr>
          <a:lstStyle/>
          <a:p>
            <a:pPr algn="l">
              <a:lnSpc>
                <a:spcPct val="108000"/>
              </a:lnSpc>
            </a:pPr>
            <a:r>
              <a:rPr sz="2200" b="1" i="0">
                <a:solidFill>
                  <a:srgbClr val="7800A2"/>
                </a:solidFill>
                <a:latin typeface="Arial"/>
              </a:rPr>
              <a:t>Post-quantum atomic swaps are </a:t>
            </a:r>
            <a:r>
              <a:rPr sz="2200" b="1" i="0">
                <a:solidFill>
                  <a:srgbClr val="1F6FEB"/>
                </a:solidFill>
                <a:latin typeface="Arial"/>
              </a:rPr>
              <a:t>buildable today</a:t>
            </a:r>
            <a:r>
              <a:rPr sz="2200" b="1" i="0">
                <a:solidFill>
                  <a:srgbClr val="7800A2"/>
                </a:solidFill>
                <a:latin typeface="Arial"/>
              </a:rPr>
              <a:t> — the bill arrives in </a:t>
            </a:r>
            <a:r>
              <a:rPr sz="2200" b="1" i="0">
                <a:solidFill>
                  <a:srgbClr val="C2410C"/>
                </a:solidFill>
                <a:latin typeface="Arial"/>
              </a:rPr>
              <a:t>bytes</a:t>
            </a:r>
          </a:p>
        </p:txBody>
      </p:sp>
      <p:cxnSp>
        <p:nvCxnSpPr>
          <p:cNvPr id="9" name="Connector 8"/>
          <p:cNvCxnSpPr/>
          <p:nvPr/>
        </p:nvCxnSpPr>
        <p:spPr>
          <a:xfrm>
            <a:off x="523875" y="2165000"/>
            <a:ext cx="11144250" cy="0"/>
          </a:xfrm>
          <a:prstGeom prst="line">
            <a:avLst/>
          </a:prstGeom>
          <a:ln w="25400">
            <a:solidFill>
              <a:srgbClr val="660066"/>
            </a:solidFill>
            <a:prstDash val="sysDot"/>
          </a:ln>
          <a:effectLst/>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523875" y="2265000"/>
            <a:ext cx="3601417" cy="2900000"/>
          </a:xfrm>
          <a:prstGeom prst="roundRect">
            <a:avLst>
              <a:gd name="adj" fmla="val 3793"/>
            </a:avLst>
          </a:prstGeom>
          <a:solidFill>
            <a:srgbClr val="E6F6EA"/>
          </a:solidFill>
          <a:ln w="12700">
            <a:solidFill>
              <a:srgbClr val="2F9E44"/>
            </a:solidFill>
          </a:ln>
          <a:effectLst/>
        </p:spPr>
        <p:style>
          <a:lnRef idx="1">
            <a:schemeClr val="accent1"/>
          </a:lnRef>
          <a:fillRef idx="3">
            <a:schemeClr val="accent1"/>
          </a:fillRef>
          <a:effectRef idx="2">
            <a:schemeClr val="accent1"/>
          </a:effectRef>
          <a:fontRef idx="minor">
            <a:schemeClr val="lt1"/>
          </a:fontRef>
        </p:style>
        <p:txBody>
          <a:bodyPr rtlCol="0" anchor="t" wrap="square" lIns="160000" rIns="160000" tIns="120000" bIns="120000"/>
          <a:lstStyle/>
          <a:p>
            <a:pPr algn="ctr"/>
          </a:p>
        </p:txBody>
      </p:sp>
      <p:sp>
        <p:nvSpPr>
          <p:cNvPr id="11" name="Rounded Rectangle 10"/>
          <p:cNvSpPr/>
          <p:nvPr/>
        </p:nvSpPr>
        <p:spPr>
          <a:xfrm>
            <a:off x="683875" y="2415000"/>
            <a:ext cx="408595" cy="260000"/>
          </a:xfrm>
          <a:prstGeom prst="roundRect">
            <a:avLst>
              <a:gd name="adj" fmla="val 50000"/>
            </a:avLst>
          </a:prstGeom>
          <a:solidFill>
            <a:srgbClr val="FFFFFF"/>
          </a:solidFill>
          <a:ln w="9525">
            <a:solidFill>
              <a:srgbClr val="2F9E44"/>
            </a:solidFill>
          </a:ln>
          <a:effectLst/>
        </p:spPr>
        <p:style>
          <a:lnRef idx="1">
            <a:schemeClr val="accent1"/>
          </a:lnRef>
          <a:fillRef idx="3">
            <a:schemeClr val="accent1"/>
          </a:fillRef>
          <a:effectRef idx="2">
            <a:schemeClr val="accent1"/>
          </a:effectRef>
          <a:fontRef idx="minor">
            <a:schemeClr val="lt1"/>
          </a:fontRef>
        </p:style>
        <p:txBody>
          <a:bodyPr rtlCol="0" anchor="ctr" wrap="none" lIns="110000" rIns="110000" tIns="0" bIns="0"/>
          <a:lstStyle/>
          <a:p>
            <a:pPr algn="ctr">
              <a:lnSpc>
                <a:spcPct val="100000"/>
              </a:lnSpc>
            </a:pPr>
            <a:r>
              <a:rPr sz="900" b="0" i="0">
                <a:solidFill>
                  <a:srgbClr val="2F9E44"/>
                </a:solidFill>
                <a:latin typeface="Consolas"/>
              </a:rPr>
              <a:t>YES</a:t>
            </a:r>
          </a:p>
        </p:txBody>
      </p:sp>
      <p:sp>
        <p:nvSpPr>
          <p:cNvPr id="12" name="TextBox 11"/>
          <p:cNvSpPr txBox="1"/>
          <p:nvPr/>
        </p:nvSpPr>
        <p:spPr>
          <a:xfrm>
            <a:off x="683875" y="2755000"/>
            <a:ext cx="3281417" cy="320000"/>
          </a:xfrm>
          <a:prstGeom prst="rect">
            <a:avLst/>
          </a:prstGeom>
          <a:noFill/>
          <a:effectLst/>
        </p:spPr>
        <p:txBody>
          <a:bodyPr wrap="square" lIns="0" rIns="0" tIns="0" bIns="0" anchor="t">
            <a:spAutoFit/>
          </a:bodyPr>
          <a:lstStyle/>
          <a:p>
            <a:pPr algn="l">
              <a:lnSpc>
                <a:spcPct val="125000"/>
              </a:lnSpc>
            </a:pPr>
            <a:r>
              <a:rPr sz="1300" b="1" i="0">
                <a:solidFill>
                  <a:srgbClr val="14213A"/>
                </a:solidFill>
                <a:latin typeface="Arial"/>
              </a:rPr>
              <a:t>Can we build one?</a:t>
            </a:r>
          </a:p>
        </p:txBody>
      </p:sp>
      <p:sp>
        <p:nvSpPr>
          <p:cNvPr id="13" name="TextBox 12"/>
          <p:cNvSpPr txBox="1"/>
          <p:nvPr/>
        </p:nvSpPr>
        <p:spPr>
          <a:xfrm>
            <a:off x="683875" y="3125000"/>
            <a:ext cx="3281417" cy="620000"/>
          </a:xfrm>
          <a:prstGeom prst="rect">
            <a:avLst/>
          </a:prstGeom>
          <a:noFill/>
          <a:effectLst/>
        </p:spPr>
        <p:txBody>
          <a:bodyPr wrap="square" lIns="0" rIns="0" tIns="0" bIns="0" anchor="t">
            <a:spAutoFit/>
          </a:bodyPr>
          <a:lstStyle/>
          <a:p>
            <a:pPr algn="l">
              <a:lnSpc>
                <a:spcPct val="132000"/>
              </a:lnSpc>
            </a:pPr>
            <a:r>
              <a:rPr sz="1150" b="1" i="0">
                <a:solidFill>
                  <a:srgbClr val="14213A"/>
                </a:solidFill>
                <a:latin typeface="Arial"/>
              </a:rPr>
              <a:t>Yes</a:t>
            </a:r>
            <a:r>
              <a:rPr sz="1150" b="0" i="0">
                <a:solidFill>
                  <a:srgbClr val="14213A"/>
                </a:solidFill>
                <a:latin typeface="Arial"/>
              </a:rPr>
              <a:t> — and twice.</a:t>
            </a:r>
          </a:p>
        </p:txBody>
      </p:sp>
      <p:sp>
        <p:nvSpPr>
          <p:cNvPr id="14" name="TextBox 13"/>
          <p:cNvSpPr txBox="1"/>
          <p:nvPr/>
        </p:nvSpPr>
        <p:spPr>
          <a:xfrm>
            <a:off x="683875" y="3785000"/>
            <a:ext cx="3281417" cy="1230000"/>
          </a:xfrm>
          <a:prstGeom prst="rect">
            <a:avLst/>
          </a:prstGeom>
          <a:noFill/>
          <a:effectLst/>
        </p:spPr>
        <p:txBody>
          <a:bodyPr wrap="square" lIns="0" rIns="0" tIns="0" bIns="0" anchor="t">
            <a:spAutoFit/>
          </a:bodyPr>
          <a:lstStyle/>
          <a:p>
            <a:pPr algn="l">
              <a:lnSpc>
                <a:spcPct val="132000"/>
              </a:lnSpc>
            </a:pPr>
            <a:r>
              <a:rPr sz="1100" b="0" i="0">
                <a:solidFill>
                  <a:srgbClr val="5A6B86"/>
                </a:solidFill>
                <a:latin typeface="Arial"/>
              </a:rPr>
              <a:t>Reuse of standardised primitives with zero upstream functions modified, reproduced independently in a second language to a pinned byte-identical digest.</a:t>
            </a:r>
          </a:p>
        </p:txBody>
      </p:sp>
      <p:sp>
        <p:nvSpPr>
          <p:cNvPr id="15" name="Rounded Rectangle 14"/>
          <p:cNvSpPr/>
          <p:nvPr/>
        </p:nvSpPr>
        <p:spPr>
          <a:xfrm>
            <a:off x="4295292" y="2265000"/>
            <a:ext cx="3601417" cy="2900000"/>
          </a:xfrm>
          <a:prstGeom prst="roundRect">
            <a:avLst>
              <a:gd name="adj" fmla="val 3793"/>
            </a:avLst>
          </a:prstGeom>
          <a:solidFill>
            <a:srgbClr val="FDECE1"/>
          </a:solidFill>
          <a:ln w="12700">
            <a:solidFill>
              <a:srgbClr val="E8590C"/>
            </a:solidFill>
          </a:ln>
          <a:effectLst/>
        </p:spPr>
        <p:style>
          <a:lnRef idx="1">
            <a:schemeClr val="accent1"/>
          </a:lnRef>
          <a:fillRef idx="3">
            <a:schemeClr val="accent1"/>
          </a:fillRef>
          <a:effectRef idx="2">
            <a:schemeClr val="accent1"/>
          </a:effectRef>
          <a:fontRef idx="minor">
            <a:schemeClr val="lt1"/>
          </a:fontRef>
        </p:style>
        <p:txBody>
          <a:bodyPr rtlCol="0" anchor="t" wrap="square" lIns="160000" rIns="160000" tIns="120000" bIns="120000"/>
          <a:lstStyle/>
          <a:p>
            <a:pPr algn="ctr"/>
          </a:p>
        </p:txBody>
      </p:sp>
      <p:sp>
        <p:nvSpPr>
          <p:cNvPr id="16" name="Rounded Rectangle 15"/>
          <p:cNvSpPr/>
          <p:nvPr/>
        </p:nvSpPr>
        <p:spPr>
          <a:xfrm>
            <a:off x="4455292" y="2415000"/>
            <a:ext cx="534325" cy="260000"/>
          </a:xfrm>
          <a:prstGeom prst="roundRect">
            <a:avLst>
              <a:gd name="adj" fmla="val 50000"/>
            </a:avLst>
          </a:prstGeom>
          <a:solidFill>
            <a:srgbClr val="FFFFFF"/>
          </a:solidFill>
          <a:ln w="9525">
            <a:solidFill>
              <a:srgbClr val="E8590C"/>
            </a:solidFill>
          </a:ln>
          <a:effectLst/>
        </p:spPr>
        <p:style>
          <a:lnRef idx="1">
            <a:schemeClr val="accent1"/>
          </a:lnRef>
          <a:fillRef idx="3">
            <a:schemeClr val="accent1"/>
          </a:fillRef>
          <a:effectRef idx="2">
            <a:schemeClr val="accent1"/>
          </a:effectRef>
          <a:fontRef idx="minor">
            <a:schemeClr val="lt1"/>
          </a:fontRef>
        </p:style>
        <p:txBody>
          <a:bodyPr rtlCol="0" anchor="ctr" wrap="none" lIns="110000" rIns="110000" tIns="0" bIns="0"/>
          <a:lstStyle/>
          <a:p>
            <a:pPr algn="ctr">
              <a:lnSpc>
                <a:spcPct val="100000"/>
              </a:lnSpc>
            </a:pPr>
            <a:r>
              <a:rPr sz="900" b="0" i="0">
                <a:solidFill>
                  <a:srgbClr val="E8590C"/>
                </a:solidFill>
                <a:latin typeface="Consolas"/>
              </a:rPr>
              <a:t>BYTES</a:t>
            </a:r>
          </a:p>
        </p:txBody>
      </p:sp>
      <p:sp>
        <p:nvSpPr>
          <p:cNvPr id="17" name="TextBox 16"/>
          <p:cNvSpPr txBox="1"/>
          <p:nvPr/>
        </p:nvSpPr>
        <p:spPr>
          <a:xfrm>
            <a:off x="4455292" y="2755000"/>
            <a:ext cx="3281417" cy="320000"/>
          </a:xfrm>
          <a:prstGeom prst="rect">
            <a:avLst/>
          </a:prstGeom>
          <a:noFill/>
          <a:effectLst/>
        </p:spPr>
        <p:txBody>
          <a:bodyPr wrap="square" lIns="0" rIns="0" tIns="0" bIns="0" anchor="t">
            <a:spAutoFit/>
          </a:bodyPr>
          <a:lstStyle/>
          <a:p>
            <a:pPr algn="l">
              <a:lnSpc>
                <a:spcPct val="125000"/>
              </a:lnSpc>
            </a:pPr>
            <a:r>
              <a:rPr sz="1300" b="1" i="0">
                <a:solidFill>
                  <a:srgbClr val="14213A"/>
                </a:solidFill>
                <a:latin typeface="Arial"/>
              </a:rPr>
              <a:t>What does it cost?</a:t>
            </a:r>
          </a:p>
        </p:txBody>
      </p:sp>
      <p:sp>
        <p:nvSpPr>
          <p:cNvPr id="18" name="TextBox 17"/>
          <p:cNvSpPr txBox="1"/>
          <p:nvPr/>
        </p:nvSpPr>
        <p:spPr>
          <a:xfrm>
            <a:off x="4455292" y="3125000"/>
            <a:ext cx="3281417" cy="620000"/>
          </a:xfrm>
          <a:prstGeom prst="rect">
            <a:avLst/>
          </a:prstGeom>
          <a:noFill/>
          <a:effectLst/>
        </p:spPr>
        <p:txBody>
          <a:bodyPr wrap="square" lIns="0" rIns="0" tIns="0" bIns="0" anchor="t">
            <a:spAutoFit/>
          </a:bodyPr>
          <a:lstStyle/>
          <a:p>
            <a:pPr algn="l">
              <a:lnSpc>
                <a:spcPct val="132000"/>
              </a:lnSpc>
            </a:pPr>
            <a:r>
              <a:rPr sz="1150" b="0" i="0">
                <a:solidFill>
                  <a:srgbClr val="14213A"/>
                </a:solidFill>
                <a:latin typeface="Arial"/>
              </a:rPr>
              <a:t>Almost nothing in computation: at most </a:t>
            </a:r>
            <a:r>
              <a:rPr sz="1150" b="1" i="0">
                <a:solidFill>
                  <a:srgbClr val="14213A"/>
                </a:solidFill>
                <a:latin typeface="Arial"/>
              </a:rPr>
              <a:t>+8.3%</a:t>
            </a:r>
            <a:r>
              <a:rPr sz="1150" b="0" i="0">
                <a:solidFill>
                  <a:srgbClr val="14213A"/>
                </a:solidFill>
                <a:latin typeface="Arial"/>
              </a:rPr>
              <a:t> for the adaptor layer.</a:t>
            </a:r>
          </a:p>
        </p:txBody>
      </p:sp>
      <p:sp>
        <p:nvSpPr>
          <p:cNvPr id="19" name="TextBox 18"/>
          <p:cNvSpPr txBox="1"/>
          <p:nvPr/>
        </p:nvSpPr>
        <p:spPr>
          <a:xfrm>
            <a:off x="4455292" y="3785000"/>
            <a:ext cx="3281417" cy="1230000"/>
          </a:xfrm>
          <a:prstGeom prst="rect">
            <a:avLst/>
          </a:prstGeom>
          <a:noFill/>
          <a:effectLst/>
        </p:spPr>
        <p:txBody>
          <a:bodyPr wrap="square" lIns="0" rIns="0" tIns="0" bIns="0" anchor="t">
            <a:spAutoFit/>
          </a:bodyPr>
          <a:lstStyle/>
          <a:p>
            <a:pPr algn="l">
              <a:lnSpc>
                <a:spcPct val="132000"/>
              </a:lnSpc>
            </a:pPr>
            <a:r>
              <a:rPr sz="1100" b="0" i="0">
                <a:solidFill>
                  <a:srgbClr val="5A6B86"/>
                </a:solidFill>
                <a:latin typeface="Arial"/>
              </a:rPr>
              <a:t>The bill arrives in </a:t>
            </a:r>
            <a:r>
              <a:rPr sz="1100" b="1" i="0">
                <a:solidFill>
                  <a:srgbClr val="14213A"/>
                </a:solidFill>
                <a:latin typeface="Arial"/>
              </a:rPr>
              <a:t>bytes</a:t>
            </a:r>
            <a:r>
              <a:rPr sz="1100" b="0" i="0">
                <a:solidFill>
                  <a:srgbClr val="5A6B86"/>
                </a:solidFill>
                <a:latin typeface="Arial"/>
              </a:rPr>
              <a:t> — and in a whole swap it is the </a:t>
            </a:r>
            <a:r>
              <a:rPr sz="1100" b="1" i="0">
                <a:solidFill>
                  <a:srgbClr val="14213A"/>
                </a:solidFill>
                <a:latin typeface="Arial"/>
              </a:rPr>
              <a:t>proof</a:t>
            </a:r>
            <a:r>
              <a:rPr sz="1100" b="0" i="0">
                <a:solidFill>
                  <a:srgbClr val="5A6B86"/>
                </a:solidFill>
                <a:latin typeface="Arial"/>
              </a:rPr>
              <a:t>, not the signature, that dominates the time.</a:t>
            </a:r>
          </a:p>
        </p:txBody>
      </p:sp>
      <p:sp>
        <p:nvSpPr>
          <p:cNvPr id="20" name="Rounded Rectangle 19"/>
          <p:cNvSpPr/>
          <p:nvPr/>
        </p:nvSpPr>
        <p:spPr>
          <a:xfrm>
            <a:off x="8066708" y="2265000"/>
            <a:ext cx="3601417" cy="2900000"/>
          </a:xfrm>
          <a:prstGeom prst="roundRect">
            <a:avLst>
              <a:gd name="adj" fmla="val 3793"/>
            </a:avLst>
          </a:prstGeom>
          <a:solidFill>
            <a:srgbClr val="E8F1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t" wrap="square" lIns="160000" rIns="160000" tIns="120000" bIns="120000"/>
          <a:lstStyle/>
          <a:p>
            <a:pPr algn="ctr"/>
          </a:p>
        </p:txBody>
      </p:sp>
      <p:sp>
        <p:nvSpPr>
          <p:cNvPr id="21" name="Rounded Rectangle 20"/>
          <p:cNvSpPr/>
          <p:nvPr/>
        </p:nvSpPr>
        <p:spPr>
          <a:xfrm>
            <a:off x="8226708" y="2415000"/>
            <a:ext cx="534325" cy="260000"/>
          </a:xfrm>
          <a:prstGeom prst="roundRect">
            <a:avLst>
              <a:gd name="adj" fmla="val 50000"/>
            </a:avLst>
          </a:prstGeom>
          <a:solidFill>
            <a:srgbClr val="FFFFFF"/>
          </a:solidFill>
          <a:ln w="952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wrap="none" lIns="110000" rIns="110000" tIns="0" bIns="0"/>
          <a:lstStyle/>
          <a:p>
            <a:pPr algn="ctr">
              <a:lnSpc>
                <a:spcPct val="100000"/>
              </a:lnSpc>
            </a:pPr>
            <a:r>
              <a:rPr sz="900" b="0" i="0">
                <a:solidFill>
                  <a:srgbClr val="1F6FEB"/>
                </a:solidFill>
                <a:latin typeface="Consolas"/>
              </a:rPr>
              <a:t>SPLIT</a:t>
            </a:r>
          </a:p>
        </p:txBody>
      </p:sp>
      <p:sp>
        <p:nvSpPr>
          <p:cNvPr id="22" name="TextBox 21"/>
          <p:cNvSpPr txBox="1"/>
          <p:nvPr/>
        </p:nvSpPr>
        <p:spPr>
          <a:xfrm>
            <a:off x="8226708" y="2755000"/>
            <a:ext cx="3281417" cy="320000"/>
          </a:xfrm>
          <a:prstGeom prst="rect">
            <a:avLst/>
          </a:prstGeom>
          <a:noFill/>
          <a:effectLst/>
        </p:spPr>
        <p:txBody>
          <a:bodyPr wrap="square" lIns="0" rIns="0" tIns="0" bIns="0" anchor="t">
            <a:spAutoFit/>
          </a:bodyPr>
          <a:lstStyle/>
          <a:p>
            <a:pPr algn="l">
              <a:lnSpc>
                <a:spcPct val="125000"/>
              </a:lnSpc>
            </a:pPr>
            <a:r>
              <a:rPr sz="1300" b="1" i="0">
                <a:solidFill>
                  <a:srgbClr val="14213A"/>
                </a:solidFill>
                <a:latin typeface="Arial"/>
              </a:rPr>
              <a:t>Will a chain take it?</a:t>
            </a:r>
          </a:p>
        </p:txBody>
      </p:sp>
      <p:sp>
        <p:nvSpPr>
          <p:cNvPr id="23" name="TextBox 22"/>
          <p:cNvSpPr txBox="1"/>
          <p:nvPr/>
        </p:nvSpPr>
        <p:spPr>
          <a:xfrm>
            <a:off x="8226708" y="3125000"/>
            <a:ext cx="3281417" cy="620000"/>
          </a:xfrm>
          <a:prstGeom prst="rect">
            <a:avLst/>
          </a:prstGeom>
          <a:noFill/>
          <a:effectLst/>
        </p:spPr>
        <p:txBody>
          <a:bodyPr wrap="square" lIns="0" rIns="0" tIns="0" bIns="0" anchor="t">
            <a:spAutoFit/>
          </a:bodyPr>
          <a:lstStyle/>
          <a:p>
            <a:pPr algn="l">
              <a:lnSpc>
                <a:spcPct val="132000"/>
              </a:lnSpc>
            </a:pPr>
            <a:r>
              <a:rPr sz="1150" b="1" i="0">
                <a:solidFill>
                  <a:srgbClr val="14213A"/>
                </a:solidFill>
                <a:latin typeface="Arial"/>
              </a:rPr>
              <a:t>Ethereum: yes</a:t>
            </a:r>
            <a:r>
              <a:rPr sz="1150" b="0" i="0">
                <a:solidFill>
                  <a:srgbClr val="14213A"/>
                </a:solidFill>
                <a:latin typeface="Arial"/>
              </a:rPr>
              <a:t> — a real client mined full verification inside one transaction.</a:t>
            </a:r>
          </a:p>
        </p:txBody>
      </p:sp>
      <p:sp>
        <p:nvSpPr>
          <p:cNvPr id="24" name="TextBox 23"/>
          <p:cNvSpPr txBox="1"/>
          <p:nvPr/>
        </p:nvSpPr>
        <p:spPr>
          <a:xfrm>
            <a:off x="8226708" y="3785000"/>
            <a:ext cx="3281417" cy="1230000"/>
          </a:xfrm>
          <a:prstGeom prst="rect">
            <a:avLst/>
          </a:prstGeom>
          <a:noFill/>
          <a:effectLst/>
        </p:spPr>
        <p:txBody>
          <a:bodyPr wrap="square" lIns="0" rIns="0" tIns="0" bIns="0" anchor="t">
            <a:spAutoFit/>
          </a:bodyPr>
          <a:lstStyle/>
          <a:p>
            <a:pPr algn="l">
              <a:lnSpc>
                <a:spcPct val="132000"/>
              </a:lnSpc>
            </a:pPr>
            <a:r>
              <a:rPr sz="1100" b="1" i="0">
                <a:solidFill>
                  <a:srgbClr val="14213A"/>
                </a:solidFill>
                <a:latin typeface="Arial"/>
              </a:rPr>
              <a:t>Bitcoin: not as it stands</a:t>
            </a:r>
            <a:r>
              <a:rPr sz="1100" b="0" i="0">
                <a:solidFill>
                  <a:srgbClr val="5A6B86"/>
                </a:solidFill>
                <a:latin typeface="Arial"/>
              </a:rPr>
              <a:t> — carriage works on a stock node, but verification needs a new consensus rule; I patched one, and settled a whole two-leg swap on it.</a:t>
            </a:r>
          </a:p>
        </p:txBody>
      </p:sp>
      <p:sp>
        <p:nvSpPr>
          <p:cNvPr id="25" name="TextBox 24"/>
          <p:cNvSpPr txBox="1"/>
          <p:nvPr/>
        </p:nvSpPr>
        <p:spPr>
          <a:xfrm>
            <a:off x="523875" y="5350000"/>
            <a:ext cx="11144250" cy="900000"/>
          </a:xfrm>
          <a:prstGeom prst="rect">
            <a:avLst/>
          </a:prstGeom>
          <a:noFill/>
          <a:effectLst/>
        </p:spPr>
        <p:txBody>
          <a:bodyPr wrap="square" lIns="0" rIns="0" tIns="0" bIns="0" anchor="t">
            <a:spAutoFit/>
          </a:bodyPr>
          <a:lstStyle/>
          <a:p>
            <a:pPr algn="l">
              <a:lnSpc>
                <a:spcPct val="130000"/>
              </a:lnSpc>
            </a:pPr>
            <a:r>
              <a:rPr sz="1400" b="1" i="0">
                <a:solidFill>
                  <a:srgbClr val="14213A"/>
                </a:solidFill>
                <a:latin typeface="Arial"/>
              </a:rPr>
              <a:t>Still open, specifically: a relation whose </a:t>
            </a:r>
            <a:r>
              <a:rPr sz="1400" b="1" i="0">
                <a:solidFill>
                  <a:srgbClr val="C2410C"/>
                </a:solidFill>
                <a:latin typeface="Arial"/>
              </a:rPr>
              <a:t>statement is small by construction</a:t>
            </a:r>
            <a:r>
              <a:rPr sz="1400" b="1" i="0">
                <a:solidFill>
                  <a:srgbClr val="14213A"/>
                </a:solidFill>
                <a:latin typeface="Arial"/>
              </a:rPr>
              <a:t>; a proof system succinct at </a:t>
            </a:r>
            <a:r>
              <a:rPr sz="1400" b="1" i="0">
                <a:solidFill>
                  <a:srgbClr val="C2410C"/>
                </a:solidFill>
                <a:latin typeface="Arial"/>
              </a:rPr>
              <a:t>this</a:t>
            </a:r>
            <a:r>
              <a:rPr sz="1400" b="1" i="0">
                <a:solidFill>
                  <a:srgbClr val="14213A"/>
                </a:solidFill>
                <a:latin typeface="Arial"/>
              </a:rPr>
              <a:t> scale; and the </a:t>
            </a:r>
            <a:r>
              <a:rPr sz="1400" b="1" i="0">
                <a:solidFill>
                  <a:srgbClr val="C2410C"/>
                </a:solidFill>
                <a:latin typeface="Arial"/>
              </a:rPr>
              <a:t>security</a:t>
            </a:r>
            <a:r>
              <a:rPr sz="1400" b="1" i="0">
                <a:solidFill>
                  <a:srgbClr val="14213A"/>
                </a:solidFill>
                <a:latin typeface="Arial"/>
              </a:rPr>
              <a:t> of the ML-DSA variant and of the consensus rule.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UoM_powerpoint_169_acasson.potx" id="{DCAA7602-4A94-4A10-89D9-5DC9CE20B579}" vid="{2F39BEB1-B4C6-4864-AAB0-C09F11223845}"/>
    </a:ext>
  </a:extLst>
</a:theme>
</file>

<file path=ppt/theme/theme2.xml><?xml version="1.0" encoding="utf-8"?>
<a:theme xmlns:a="http://schemas.openxmlformats.org/drawingml/2006/main" name="SPHERE templa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UoM_powerpoint_169_acasson.potx" id="{DCAA7602-4A94-4A10-89D9-5DC9CE20B579}" vid="{F3CE79FD-C231-4A13-BF9F-0F09E2FA48A6}"/>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UoM_powerpoint_169_acasson</Template>
  <TotalTime>13</TotalTime>
  <Words>31</Words>
  <Application>Microsoft Office PowerPoint</Application>
  <PresentationFormat>Widescreen</PresentationFormat>
  <Paragraphs>9</Paragraphs>
  <Slides>2</Slides>
  <Notes>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2</vt:i4>
      </vt:variant>
    </vt:vector>
  </HeadingPairs>
  <TitlesOfParts>
    <vt:vector size="8" baseType="lpstr">
      <vt:lpstr>Arial</vt:lpstr>
      <vt:lpstr>Calibri</vt:lpstr>
      <vt:lpstr>Geneva</vt:lpstr>
      <vt:lpstr>Segoe UI Light</vt:lpstr>
      <vt:lpstr>Office Theme</vt:lpstr>
      <vt:lpstr>SPHERE template</vt:lpstr>
      <vt:lpstr>PowerPoint Presentation</vt:lpstr>
      <vt:lpstr>PowerPoint Presentation</vt:lpstr>
    </vt:vector>
  </TitlesOfParts>
  <Company>University of Manchester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Suzanne Ross</dc:creator>
  <cp:lastModifiedBy>Royce Steven</cp:lastModifiedBy>
  <cp:revision>2</cp:revision>
  <dcterms:created xsi:type="dcterms:W3CDTF">2022-05-13T10:11:39Z</dcterms:created>
  <dcterms:modified xsi:type="dcterms:W3CDTF">2026-08-19T09:51:46Z</dcterms:modified>
</cp:coreProperties>
</file>