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a design defence: for every non-obvious implementation choice I made when building LAS on top of the Dilithium reference code, I state the question, what the paper's Algorithm 2 actually requires, the decision I took, and why it is correct and in-scope. The thesis novelty is twofold: first public LAS implementation, and first exotic PQ signature placed in a blockchain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for why the project matters. The 2x2 framing is the spine of the whole thesis: the exotic-PQ cell is essentially empty in practice. Everything I defend later serves the goal of filling that cell with real, correct, benchmarked code rather than another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roadmap. Each card is one slide. Decisions 1, 5, 7, 8 are 'reuse / faithful' choices in cyan; 3 and 6 are deliberate, supervisor-sanctioned deviations in amber; decision 4 — the norm budget — is in coral because it is the single point of failure of the whole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foundational decision. The key design fact of the thesis is that an exotic scheme is a basic scheme plus a handful of functions. So I reuse Dilithium's mode-independent internals and write only the adaptor layer. The headline is zero upstream functions modified — the entire contribution is additive, which makes it auditable and is exactly what the function-map deliverable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variant B and not the earlier reading. The defining move of the paper is that the statement Y is committed inside the Fiat-Shamir challenge: Sign hashes w, PreSign hashes w+Y. Adapt then adds the ternary witness and Ext subtracts. The crucial consequence is that an adapted signature is indistinguishable from an ordinary one — the on-chain verifier is plain Dilithium-style Verify, no special logic. I corrected an earlier 'variant A' reading after re-reading Algorithm 2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evidence slide for fidelity. Each of the seven algorithms in the paper's Algorithm 2 maps to exactly one function in ref/las.c, and the full equation-by-equation correspondence is in docs/THEORY_IMPL_BRIDGE.md. Cyan rows are the base signature; amber rows are the four adaptor functions that constitute the exotic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3 is the biggest deliberate deviation from optimised Dilithium. The hint vector exists purely to let the verifier reconstruct w's high bits after t is compressed. But the adaptor mechanism and the witness extractor rely on the exact identity Az-ct = w+Y; any bit-dropping destroys it. The supervisor explicitly said to follow the paper and simplify the reference's optimisations. The only cost is a larger signature — a size, not a correctness,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decision the whole construction hinges on, and the failure mode the supervisor flagged. The witness is ternary, so its infinity norm is at most 1. Adapt forms z = z-hat + y. If PreSign already allowed z-hat up to gamma-kappa, then z could reach gamma-kappa+1, which exceeds the ordinary Verify bound and every adapted signature is rejected. By rejecting one tighter, at gamma-kappa-1, we leave exactly one unit of head-room for the witness. The AMHL multi-hop case generalises this to gamma-kappa-K.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5 ties the cryptography to the application. Making the witness ternary serves three purposes at once: it provides exactly the norm head-room Adapt needs, it means the hard relation is identical to key generation so there is no separate setup, and M-SIS/M-LWE hardness hides y behind Y. The right panel is the atomicity argument: publishing the adapted signature on one chain mathematically leaks the witness to the counterparty, who completes the other leg.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6 is the second deliberate deviation, and it is forced by Decision 1. Dilithium's NTT hard-codes its root-of-unity table to Q = 8380417, so reusing the NTT pins the modulus. The paper wants ~2^24. Crucially this does not affect correctness because Q exceeds 2*gamma, so the norm arithmetic never wraps. The only thing that shifts is the concrete security margin, and security analysis is out of scope by the supervisor's instruction. Migration to 2^24 is logged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7 documents the concrete parameters and that they are self-contained — the scheme is mode-independent, built under MODE=3 but not depending on it. Gamma is chosen as kappa*d*(n+l) to make the M-SIS hardness parameter adequate, not to maximise acceptance. The challenge reuses Dilithium's construction with weight kappa=60. I measure the rejection-sampling acceptance directly with an attempt counter — about 37%, matching the closed form e^-1 — rather than estimating it from a timing ratio, which earlier gave a biased 23%.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8 is engineering rigour. The per-signature mask is derived as a SHAKE256 hash of a domain tag, the secret key, optionally the statement, and the message. This is standard Fiat-Shamir derandomisation — identical distribution, no scheme change — but it removes the nonce-reuse risk and makes the whole pipeline reproducible, which is what lets me pin a known-answer-test digest. The right column is the robustness evidence: 1000 iterations across three modes, every one of the 4672 byte-flips rejected, and a pinned KAT digest.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 demonstrate fidelity rather than just claim it. Each property the paper proves is encoded as a hard assertion that runs every iteration. The most important is the 'tripwire': feeding a pre-signature to ordinary Verify must FAIL, which proves the +Y term is genuinely inside the hash and the pre-sig is unspendable. The right panel is the headline evaluation finding: LAS's adaptor overhead is essentially zero, unlike the classical adaptor's ~4x DLEQ cost — the post-quantum price is paid in size, not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honesty slide. Distinction-level work shows it knows its own limits. Four deliberate deviations — the modulus, the dropped hint vector, the larger packed size, and the exact (rather than noisy) witness — each with its real impact. The 'knowledge gap', that our extracted witness is exact whereas the paper's relaxed setting allows noise that grows over long payment chains, is the one I flag explicitly as future work. None of these breaks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argument. Whatever an examiner asks, the answer reduces to one of three principles: the implementation is faithful to the paper's Algorithm 2; it reuses the audited Dilithium primitives maximally with zero upstream modifications; and every deviation is deliberate, justified, and within the agreed scope. The outcome is the first working, reproducible, benchmarked LAS, demonstrated in a blockchain atomic swap — filling the empty exotic-PQ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41663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41663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41663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41663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41663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41663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70848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70848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70848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0848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70848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70848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0032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00032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00032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0032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00032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0032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29215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29215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29215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9215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29215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5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0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8400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58400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0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58400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87584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87584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87584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87584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87584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87584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16767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16767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16767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16767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16767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16767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45951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045951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45951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45951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45951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45951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75136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375136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75136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75136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75136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75136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04319" y="45720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704319" y="786384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704319" y="11155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704319" y="144475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704319" y="177393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704319" y="210312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49E3CE"/>
                </a:solidFill>
                <a:latin typeface="Calibri"/>
              </a:rPr>
              <a:t>MSc CYBERSECURITY THESIS · UNIVERSITY OF MANCHESTER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1783080"/>
            <a:ext cx="10698480" cy="1554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ECEEFF"/>
                </a:solidFill>
                <a:latin typeface="Georgia"/>
              </a:rPr>
              <a:t>Defending the Design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2697480"/>
            <a:ext cx="1078992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9AA0D0"/>
                </a:solidFill>
                <a:latin typeface="Georgia"/>
              </a:rPr>
              <a:t>Why LAS is built on CRYSTALS-Dilithium the way it 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3886200"/>
            <a:ext cx="6035040" cy="20116"/>
          </a:xfrm>
          <a:prstGeom prst="rect">
            <a:avLst/>
          </a:prstGeom>
          <a:solidFill>
            <a:srgbClr val="2E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4114800"/>
            <a:ext cx="10607040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B454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ECEEFF"/>
                </a:solidFill>
                <a:latin typeface="Calibri"/>
              </a:rPr>
              <a:t>Lattice-based Adaptor Signatures</a:t>
            </a:r>
            <a:r>
              <a:rPr sz="1500" b="0" i="0">
                <a:solidFill>
                  <a:srgbClr val="9AA0D0"/>
                </a:solidFill>
                <a:latin typeface="Calibri"/>
              </a:rPr>
              <a:t>  —  the first public implementation of an exotic post-quantum signature, 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demonstrated on a blockchain atomic swap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B454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9AA0D0"/>
                </a:solidFill>
                <a:latin typeface="Calibri"/>
              </a:rPr>
              <a:t>Reference: </a:t>
            </a:r>
            <a:r>
              <a:rPr sz="1500" b="1" i="0">
                <a:solidFill>
                  <a:srgbClr val="49E3CE"/>
                </a:solidFill>
                <a:latin typeface="Calibri"/>
              </a:rPr>
              <a:t>Esgin, Ersoy &amp; Erkin, eprint 2020/845, Algorithm 2</a:t>
            </a:r>
            <a:r>
              <a:rPr sz="1500" b="0" i="0">
                <a:solidFill>
                  <a:srgbClr val="9AA0D0"/>
                </a:solidFill>
                <a:latin typeface="Calibri"/>
              </a:rPr>
              <a:t>   ·   base: </a:t>
            </a:r>
            <a:r>
              <a:rPr sz="1500" b="1" i="0">
                <a:solidFill>
                  <a:srgbClr val="49E3CE"/>
                </a:solidFill>
                <a:latin typeface="Calibri"/>
              </a:rPr>
              <a:t>pq-crystals/dilithium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5943600"/>
            <a:ext cx="100584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78B0"/>
                </a:solidFill>
                <a:latin typeface="Calibri"/>
              </a:rPr>
              <a:t>Royce Steven   ·   Supervisor: Wang Zhipeng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WHERE THIS WORK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The empty cell: exotic × post-quantum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3" y="1837943"/>
            <a:ext cx="2290572" cy="192481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7" y="2002536"/>
            <a:ext cx="20345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CEEFF"/>
                </a:solidFill>
                <a:latin typeface="Calibri"/>
              </a:rPr>
              <a:t>Basic · Classical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441448"/>
            <a:ext cx="2034540" cy="12115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078B0"/>
                </a:solidFill>
                <a:latin typeface="Calibri"/>
              </a:rPr>
              <a:t>ECDSA, Schnorr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6004" y="1837943"/>
            <a:ext cx="2290572" cy="192481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2308" y="2002536"/>
            <a:ext cx="20345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CEEFF"/>
                </a:solidFill>
                <a:latin typeface="Calibri"/>
              </a:rPr>
              <a:t>Exotic · Classical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2308" y="2441448"/>
            <a:ext cx="2034540" cy="12115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078B0"/>
                </a:solidFill>
                <a:latin typeface="Calibri"/>
              </a:rPr>
              <a:t>ring, multisig,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078B0"/>
                </a:solidFill>
                <a:latin typeface="Calibri"/>
              </a:rPr>
              <a:t>adaptor (Schnorr)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5703" y="3872483"/>
            <a:ext cx="2290572" cy="192481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4037076"/>
            <a:ext cx="20345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CEEFF"/>
                </a:solidFill>
                <a:latin typeface="Calibri"/>
              </a:rPr>
              <a:t>Basic · PQ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4475988"/>
            <a:ext cx="2034540" cy="12115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Dilithium, Falcon,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SPHINCS+  (poqeth)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6004" y="3872483"/>
            <a:ext cx="2290572" cy="1924812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2308" y="4037076"/>
            <a:ext cx="20345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B454"/>
                </a:solidFill>
                <a:latin typeface="Calibri"/>
              </a:rPr>
              <a:t>Exotic · PQ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2308" y="4475988"/>
            <a:ext cx="2034540" cy="12115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B454"/>
                </a:solidFill>
                <a:latin typeface="Calibri"/>
              </a:rPr>
              <a:t>mostly paper-only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2308" y="5376672"/>
            <a:ext cx="20345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49E3CE"/>
                </a:solidFill>
                <a:latin typeface="Calibri"/>
              </a:rPr>
              <a:t>← LAS lands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99032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9AA0D0"/>
                </a:solidFill>
                <a:latin typeface="Calibri"/>
              </a:rPr>
              <a:t>The signature taxonomy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874519"/>
            <a:ext cx="5852160" cy="4023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Blockchains sign with ECDSA / Schnorr; </a:t>
            </a:r>
            <a:r>
              <a:rPr sz="1500" b="1" i="0">
                <a:solidFill>
                  <a:srgbClr val="FF6B6B"/>
                </a:solidFill>
                <a:latin typeface="Calibri"/>
              </a:rPr>
              <a:t>Shor's algorithm breaks both.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NIST standardised </a:t>
            </a:r>
            <a:r>
              <a:rPr sz="1500" b="1" i="0">
                <a:solidFill>
                  <a:srgbClr val="ECEEFF"/>
                </a:solidFill>
                <a:latin typeface="Calibri"/>
              </a:rPr>
              <a:t>basic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 PQ signatures — but </a:t>
            </a:r>
            <a:r>
              <a:rPr sz="1500" b="1" i="0">
                <a:solidFill>
                  <a:srgbClr val="FFB454"/>
                </a:solidFill>
                <a:latin typeface="Calibri"/>
              </a:rPr>
              <a:t>exotic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 ones (adaptor, ring, group) are mostly </a:t>
            </a:r>
            <a:r>
              <a:rPr sz="1500" b="1" i="0">
                <a:solidFill>
                  <a:srgbClr val="FFB454"/>
                </a:solidFill>
                <a:latin typeface="Calibri"/>
              </a:rPr>
              <a:t>paper-only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 in the PQ setting.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49E3CE"/>
                </a:solidFill>
                <a:latin typeface="Calibri"/>
              </a:rPr>
              <a:t>Adaptor signatures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 enable scriptless atomic swaps and payment channels.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ECEEFF"/>
                </a:solidFill>
                <a:latin typeface="Calibri"/>
              </a:rPr>
              <a:t>Thesis = close that gap: a working LAS, </a:t>
            </a:r>
            <a:r>
              <a:rPr sz="1500" b="1" i="0">
                <a:solidFill>
                  <a:srgbClr val="ECEEFF"/>
                </a:solidFill>
                <a:latin typeface="Calibri"/>
              </a:rPr>
              <a:t>benchmarked and demonstrated on-chain.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WHAT I WILL 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Eight design decisions an examiner will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783080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783080"/>
            <a:ext cx="91440" cy="1024128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2048255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49E3CE"/>
                </a:solidFill>
                <a:latin typeface="Georg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1929384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Reuse Dilithium, don't reinvent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2331720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exotic = basic scheme + a few extra functions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898648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898648"/>
            <a:ext cx="91440" cy="1024128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" y="3163824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49E3CE"/>
                </a:solidFill>
                <a:latin typeface="Georg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044952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Variant B (paper Alg.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447288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fold the statement into the Fiat–Shamir hash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014216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014216"/>
            <a:ext cx="91440" cy="102412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2" y="4279392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FFB454"/>
                </a:solidFill>
                <a:latin typeface="Georg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160520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The simplified scheme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4562856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drop Power2Round / hint vector / bit-decomposition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29784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129784"/>
            <a:ext cx="91440" cy="102412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2" y="5394960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FF6B6B"/>
                </a:solidFill>
                <a:latin typeface="Georg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276088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The norm budget γ−κ−1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5678424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the one decision the whole adaptor hinges 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7" y="1783080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7" y="1783080"/>
            <a:ext cx="91440" cy="1024128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73951" y="2048255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49E3CE"/>
                </a:solidFill>
                <a:latin typeface="Georg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7" y="1929384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Ternary witnesses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7" y="2331720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statement/witness pair = another key pair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7" y="2898648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7" y="2898648"/>
            <a:ext cx="91440" cy="102412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73951" y="3163824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FFB454"/>
                </a:solidFill>
                <a:latin typeface="Georgia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7" y="3044952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q = 8380417 (≈2²³), not 2²⁴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3447288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reuse Dilithium's fixed NTT table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6207" y="4014216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36207" y="4014216"/>
            <a:ext cx="91440" cy="1024128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73951" y="4279392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49E3CE"/>
                </a:solidFill>
                <a:latin typeface="Georgia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0607" y="4160520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Self-contained parameters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0607" y="4562856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n=ℓ=4, κ=60, γ=κ·d·(n+ℓ)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6207" y="5129784"/>
            <a:ext cx="5504688" cy="102412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36207" y="5129784"/>
            <a:ext cx="91440" cy="1024128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73951" y="5394960"/>
            <a:ext cx="493776" cy="493776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800" b="1" i="0">
                <a:solidFill>
                  <a:srgbClr val="49E3CE"/>
                </a:solidFill>
                <a:latin typeface="Georgia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0607" y="5276088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EEFF"/>
                </a:solidFill>
                <a:latin typeface="Calibri"/>
              </a:rPr>
              <a:t>Determinism + KATs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0607" y="5678424"/>
            <a:ext cx="4453127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reproducibility &amp; nonce-reuse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DECISION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Reuse Dilithium's primitives — don't reinvent lattice 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E3CE"/>
                </a:solidFill>
                <a:latin typeface="Calibri"/>
              </a:rPr>
              <a:t>An exotic scheme = a basic scheme + a few extra algorithms.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194560"/>
            <a:ext cx="5440680" cy="3566160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331720"/>
            <a:ext cx="50292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49E3CE"/>
                </a:solidFill>
                <a:latin typeface="Calibri"/>
              </a:rPr>
              <a:t>REUSED AS-IS (mode-independent)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24912"/>
            <a:ext cx="5074920" cy="1554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NTT / inverse-NTT mod Q  (poly_ntt)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SHAKE-128/256, Keccak  (fips202)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Polynomial ring arithmetic mod (X^N + 1)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Rejection / uniform sampling (poly_uniform)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Challenge construction  (poly_challenge)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B454"/>
                </a:solidFill>
                <a:latin typeface="Calibri"/>
              </a:rPr>
              <a:t>ADDED ON TOP (new, self-contained)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5074920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B454"/>
                </a:solidFill>
                <a:latin typeface="Calibri"/>
              </a:rPr>
              <a:t>+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las_sign / las_verify  (FS-with-aborts core)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B454"/>
                </a:solidFill>
                <a:latin typeface="Calibri"/>
              </a:rPr>
              <a:t>+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PreSign · PreVerify · Adapt · 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B454"/>
                </a:solidFill>
                <a:latin typeface="Calibri"/>
              </a:rPr>
              <a:t>+ 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las_Amul, bound logic, serialisation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94560"/>
            <a:ext cx="5303520" cy="2468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The NTT (table fixed to Q), Keccak and rejection sampling are the </a:t>
            </a:r>
            <a:r>
              <a:rPr sz="1450" b="1" i="0">
                <a:solidFill>
                  <a:srgbClr val="FFB454"/>
                </a:solidFill>
                <a:latin typeface="Calibri"/>
              </a:rPr>
              <a:t>hard, audited, side-channel-sensitive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parts. Re-deriving them invites bugs and adds no thesis value.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LAS is layered as a </a:t>
            </a:r>
            <a:r>
              <a:rPr sz="1450" b="1" i="0">
                <a:solidFill>
                  <a:srgbClr val="49E3CE"/>
                </a:solidFill>
                <a:latin typeface="Calibri"/>
              </a:rPr>
              <a:t>self-contained scheme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— its own dimensions and parameters — on those primitives.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Contribution must be a </a:t>
            </a:r>
            <a:r>
              <a:rPr sz="1450" b="1" i="0">
                <a:solidFill>
                  <a:srgbClr val="49E3CE"/>
                </a:solidFill>
                <a:latin typeface="Calibri"/>
              </a:rPr>
              <a:t>clean, visible diff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, not a fork that's impossible to audit.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5285232" cy="960120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901184"/>
            <a:ext cx="237744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49E3CE"/>
                </a:solidFill>
                <a:latin typeface="Georgi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901184"/>
            <a:ext cx="4069080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CEEFF"/>
                </a:solidFill>
                <a:latin typeface="Calibri"/>
              </a:rPr>
              <a:t>upstream Dilithium functions modified.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Verified in docs/FUNCTION_MAP.md — the report's reuse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DECISION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Variant B: fold the statement into the Fiat–Shamir 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627632"/>
            <a:ext cx="10972800" cy="566928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627632"/>
            <a:ext cx="1069848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454"/>
                </a:solidFill>
                <a:latin typeface="Calibri"/>
              </a:rPr>
              <a:t>Correction after re-reading Algorithm 2:  </a:t>
            </a:r>
            <a:r>
              <a:rPr sz="1250" b="0" i="0">
                <a:solidFill>
                  <a:srgbClr val="ECEEFF"/>
                </a:solidFill>
                <a:latin typeface="Calibri"/>
              </a:rPr>
              <a:t>an earlier reading (“variant A”: z̃ = z+y, subtract Y at verify) was </a:t>
            </a:r>
            <a:r>
              <a:rPr sz="1250" b="1" i="0">
                <a:solidFill>
                  <a:srgbClr val="FF6B6B"/>
                </a:solidFill>
                <a:latin typeface="Calibri"/>
              </a:rPr>
              <a:t>superseded</a:t>
            </a:r>
            <a:r>
              <a:rPr sz="1250" b="0" i="0">
                <a:solidFill>
                  <a:srgbClr val="ECEEFF"/>
                </a:solidFill>
                <a:latin typeface="Calibri"/>
              </a:rPr>
              <a:t>. The paper folds Y into the challenge.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423160"/>
            <a:ext cx="5440680" cy="178308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569464"/>
            <a:ext cx="514807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49E3CE"/>
                </a:solidFill>
                <a:latin typeface="Calibri"/>
              </a:rPr>
              <a:t>SIGN  (ordinary)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880360"/>
            <a:ext cx="5148072" cy="11795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y &lt;- S_gamma ;   w = A 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c = H(pk, </a:t>
            </a:r>
            <a:r>
              <a:rPr sz="1250" b="1" i="0">
                <a:solidFill>
                  <a:srgbClr val="49E3CE"/>
                </a:solidFill>
                <a:latin typeface="Consolas"/>
              </a:rPr>
              <a:t>w</a:t>
            </a:r>
            <a:r>
              <a:rPr sz="1250" b="0" i="0">
                <a:solidFill>
                  <a:srgbClr val="ECEEFF"/>
                </a:solidFill>
                <a:latin typeface="Consolas"/>
              </a:rPr>
              <a:t>, M)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z = y + c*r ;   reject |z|inf &gt; g-k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423160"/>
            <a:ext cx="5440680" cy="178308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2569464"/>
            <a:ext cx="514807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FFB454"/>
                </a:solidFill>
                <a:latin typeface="Calibri"/>
              </a:rPr>
              <a:t>PRESIGN  (adaptor)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880360"/>
            <a:ext cx="5148072" cy="11795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y &lt;- S_gamma ;   w = A 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c = H(pk, </a:t>
            </a:r>
            <a:r>
              <a:rPr sz="1250" b="1" i="0">
                <a:solidFill>
                  <a:srgbClr val="FFB454"/>
                </a:solidFill>
                <a:latin typeface="Consolas"/>
              </a:rPr>
              <a:t>w + Y</a:t>
            </a:r>
            <a:r>
              <a:rPr sz="1250" b="0" i="0">
                <a:solidFill>
                  <a:srgbClr val="ECEEFF"/>
                </a:solidFill>
                <a:latin typeface="Consolas"/>
              </a:rPr>
              <a:t>, M)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CEEFF"/>
                </a:solidFill>
                <a:latin typeface="Consolas"/>
              </a:rPr>
              <a:t>z^ = y + c*r ;  reject |z^|inf &gt; g-k-1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ECEEFF"/>
                </a:solidFill>
                <a:latin typeface="Calibri"/>
              </a:rPr>
              <a:t>The single algorithmic difference is the  “+ Y ”  inside the hash. That is the entire adaptor mechanism.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709160"/>
            <a:ext cx="5440680" cy="109728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09744"/>
            <a:ext cx="512064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Adapt:</a:t>
            </a:r>
            <a:r>
              <a:rPr sz="1300" b="0" i="0">
                <a:solidFill>
                  <a:srgbClr val="ECEEFF"/>
                </a:solidFill>
                <a:latin typeface="Consolas"/>
              </a:rPr>
              <a:t>  σ = (c, ẑ + y)   </a:t>
            </a:r>
            <a:r>
              <a:rPr sz="1300" b="0" i="0">
                <a:solidFill>
                  <a:srgbClr val="9AA0D0"/>
                </a:solidFill>
                <a:latin typeface="Calibri"/>
              </a:rPr>
              <a:t>— add the witness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Ext:</a:t>
            </a:r>
            <a:r>
              <a:rPr sz="1300" b="0" i="0">
                <a:solidFill>
                  <a:srgbClr val="ECEEFF"/>
                </a:solidFill>
                <a:latin typeface="Consolas"/>
              </a:rPr>
              <a:t>    y = z − ẑ   </a:t>
            </a:r>
            <a:r>
              <a:rPr sz="1300" b="0" i="0">
                <a:solidFill>
                  <a:srgbClr val="9AA0D0"/>
                </a:solidFill>
                <a:latin typeface="Calibri"/>
              </a:rPr>
              <a:t>— subtract to recover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09160"/>
            <a:ext cx="5413248" cy="1097280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791456"/>
            <a:ext cx="5120640" cy="960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9E3CE"/>
                </a:solidFill>
                <a:latin typeface="Calibri"/>
              </a:rPr>
              <a:t>The payoff: 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the adapted σ is a </a:t>
            </a:r>
            <a:r>
              <a:rPr sz="1300" b="1" i="0">
                <a:solidFill>
                  <a:srgbClr val="ECEEFF"/>
                </a:solidFill>
                <a:latin typeface="Calibri"/>
              </a:rPr>
              <a:t>fully ordinary signature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Verify sees  </a:t>
            </a:r>
            <a:r>
              <a:rPr sz="1300" b="1" i="0">
                <a:solidFill>
                  <a:srgbClr val="49E3CE"/>
                </a:solidFill>
                <a:latin typeface="Consolas"/>
              </a:rPr>
              <a:t>Az − ct = w + Y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,  matching c — the chain needs zero adaptor-awareness.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FAITHFUL TO ALGORITHM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Every paper step maps to one C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783080"/>
            <a:ext cx="210312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AA0D0"/>
                </a:solidFill>
                <a:latin typeface="Calibri"/>
              </a:rP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1783080"/>
            <a:ext cx="5120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AA0D0"/>
                </a:solidFill>
                <a:latin typeface="Calibri"/>
              </a:rPr>
              <a:t>PAPER STEP (Alg.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1783080"/>
            <a:ext cx="31089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AA0D0"/>
                </a:solidFill>
                <a:latin typeface="Calibri"/>
              </a:rPr>
              <a:t>C FUNCTION (ref/las.c)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167128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167128"/>
            <a:ext cx="73152" cy="493776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167128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KeyGen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2167128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r ← S₁ ;  t = A·r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2167128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las_keygen()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734056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734056"/>
            <a:ext cx="73152" cy="493776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734056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2734056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c = H(pk, w, M) ;  z = y + c·r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2734056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las_sign()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300984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300984"/>
            <a:ext cx="73152" cy="493776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300984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3300984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w' = A·z − c·t ;  c =? H(pk, w', 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7" y="3300984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las_verify()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867912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3867912"/>
            <a:ext cx="73152" cy="49377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867912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alibri"/>
              </a:rPr>
              <a:t>PreSign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928" y="3867912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c = H(pk, w+Y, M) ;  |ẑ|∞ ≤ γ−κ−1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7" y="3867912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las_presign()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434840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434840"/>
            <a:ext cx="73152" cy="49377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434840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alibri"/>
              </a:rPr>
              <a:t>PreVerify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4434840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c =? H(pk, w'+Y, 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7" y="4434840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las_preverify()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001768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001768"/>
            <a:ext cx="73152" cy="49377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001768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alibri"/>
              </a:rPr>
              <a:t>Adapt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5001768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σ = (c, ẑ + 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7" y="5001768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las_adapt()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568696"/>
            <a:ext cx="10954512" cy="49377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5568696"/>
            <a:ext cx="73152" cy="49377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568696"/>
            <a:ext cx="20116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alibri"/>
              </a:rPr>
              <a:t>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2928" y="5568696"/>
            <a:ext cx="548640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y = z − ẑ ;  check A·y = 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2207" y="5568696"/>
            <a:ext cx="2926080" cy="49377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9E3CE"/>
                </a:solidFill>
                <a:latin typeface="Consolas"/>
              </a:rPr>
              <a:t>las_ext()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FFB454"/>
                </a:solidFill>
                <a:latin typeface="Calibri"/>
              </a:rPr>
              <a:t>DECISION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The simplified scheme: drop Power2Round, hint vector &amp; bit-decomposition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5623560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Optimised Dilithium </a:t>
            </a:r>
            <a:r>
              <a:rPr sz="1450" b="1" i="0">
                <a:solidFill>
                  <a:srgbClr val="FFB454"/>
                </a:solidFill>
                <a:latin typeface="Calibri"/>
              </a:rPr>
              <a:t>compresses t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(Power2Round) and ships a </a:t>
            </a:r>
            <a:r>
              <a:rPr sz="1450" b="1" i="0">
                <a:solidFill>
                  <a:srgbClr val="FFB454"/>
                </a:solidFill>
                <a:latin typeface="Calibri"/>
              </a:rPr>
              <a:t>hint vector h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so the verifier can recover the high bits of 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Those optimisations </a:t>
            </a:r>
            <a:r>
              <a:rPr sz="1450" b="1" i="0">
                <a:solidFill>
                  <a:srgbClr val="FF6B6B"/>
                </a:solidFill>
                <a:latin typeface="Calibri"/>
              </a:rPr>
              <a:t>break the exact identity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the adaptor and witness-extraction depend 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So I disable them — </a:t>
            </a:r>
            <a:r>
              <a:rPr sz="1450" b="1" i="0">
                <a:solidFill>
                  <a:srgbClr val="49E3CE"/>
                </a:solidFill>
                <a:latin typeface="Calibri"/>
              </a:rPr>
              <a:t>supervisor-sanctioned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: follow the paper's algorithm; a prototype may drop the reference's extra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72000"/>
            <a:ext cx="5623560" cy="1234440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81728"/>
            <a:ext cx="53035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49E3CE"/>
                </a:solidFill>
                <a:latin typeface="Calibri"/>
              </a:rPr>
              <a:t>THE IDENTITY THAT MUST HOLD EXACTLY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29200"/>
            <a:ext cx="53035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EEFF"/>
                </a:solidFill>
                <a:latin typeface="Consolas"/>
              </a:rPr>
              <a:t>A·z − c·t  =  w + 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41264"/>
            <a:ext cx="5303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AA0D0"/>
                </a:solidFill>
                <a:latin typeface="Calibri"/>
              </a:rPr>
              <a:t>holds only with no bit-dropping — Ext = z − ẑ must be exact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B454"/>
                </a:solidFill>
                <a:latin typeface="Calibri"/>
              </a:rPr>
              <a:t>THE PRICE WE PAY (and accept)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148840"/>
            <a:ext cx="5120640" cy="58521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2148840"/>
            <a:ext cx="338328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alibri"/>
              </a:rPr>
              <a:t>LAS packed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148840"/>
            <a:ext cx="160020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6B6B"/>
                </a:solidFill>
                <a:latin typeface="Consolas"/>
              </a:rPr>
              <a:t>4 672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825496"/>
            <a:ext cx="5120640" cy="58521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825496"/>
            <a:ext cx="338328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alibri"/>
              </a:rPr>
              <a:t>paper's optimised scheme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825496"/>
            <a:ext cx="160020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AA0D0"/>
                </a:solidFill>
                <a:latin typeface="Consolas"/>
              </a:rPr>
              <a:t>~3 210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502152"/>
            <a:ext cx="5120640" cy="585216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502152"/>
            <a:ext cx="338328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CEEFF"/>
                </a:solidFill>
                <a:latin typeface="Calibri"/>
              </a:rPr>
              <a:t>Dilithium-3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502152"/>
            <a:ext cx="160020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AA0D0"/>
                </a:solidFill>
                <a:latin typeface="Consolas"/>
              </a:rPr>
              <a:t>3 309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5120640" cy="1463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Cost is </a:t>
            </a:r>
            <a:r>
              <a:rPr sz="1400" b="1" i="0">
                <a:solidFill>
                  <a:srgbClr val="FFB454"/>
                </a:solidFill>
                <a:latin typeface="Calibri"/>
              </a:rPr>
              <a:t>size only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— correctness and exact extraction are preserved.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49E3CE"/>
                </a:solidFill>
                <a:latin typeface="Calibri"/>
              </a:rPr>
              <a:t>Gains: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a clean algebraic spec, an auditable verifier, and a faithful match to the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FF6B6B"/>
                </a:solidFill>
                <a:latin typeface="Calibri"/>
              </a:rPr>
              <a:t>DECISION 4  ·  THE CRITICAL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The norm budget: why PreSign rejects at γ−κ−1, not γ−κ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459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6B6B"/>
                </a:solidFill>
                <a:latin typeface="Calibri"/>
              </a:rPr>
              <a:t>This single off-by-one is what makes the whole adaptor correct. Loosen it and Verify rejects every adapted signature.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31720"/>
            <a:ext cx="2542032" cy="12344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478024"/>
            <a:ext cx="2322576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A0D0"/>
                </a:solidFill>
                <a:latin typeface="Calibri"/>
              </a:rPr>
              <a:t>PreSign 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834639"/>
            <a:ext cx="2322576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B454"/>
                </a:solidFill>
                <a:latin typeface="Consolas"/>
              </a:rPr>
              <a:t>|ẑ|∞ ≤ γ−κ−1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3" y="2331720"/>
            <a:ext cx="310896" cy="12344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78B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331720"/>
            <a:ext cx="2542032" cy="12344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2478024"/>
            <a:ext cx="2322576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A0D0"/>
                </a:solidFill>
                <a:latin typeface="Calibri"/>
              </a:rPr>
              <a:t>+ ternary witness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2834639"/>
            <a:ext cx="2322576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E3CE"/>
                </a:solidFill>
                <a:latin typeface="Consolas"/>
              </a:rPr>
              <a:t>|y|∞ ≤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1" y="2331720"/>
            <a:ext cx="310896" cy="12344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78B0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3" y="2331720"/>
            <a:ext cx="2542032" cy="12344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478024"/>
            <a:ext cx="2322576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A0D0"/>
                </a:solidFill>
                <a:latin typeface="Calibri"/>
              </a:rPr>
              <a:t>Adapt: z = ẑ + 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834639"/>
            <a:ext cx="2322576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E3CE"/>
                </a:solidFill>
                <a:latin typeface="Consolas"/>
              </a:rPr>
              <a:t>|z|∞ ≤ γ−κ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2331720"/>
            <a:ext cx="310896" cy="12344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78B0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1" y="2331720"/>
            <a:ext cx="2542032" cy="12344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39" y="2478024"/>
            <a:ext cx="2322576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A0D0"/>
                </a:solidFill>
                <a:latin typeface="Calibri"/>
              </a:rPr>
              <a:t>✓ clears 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39" y="2834639"/>
            <a:ext cx="2322576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E3CE"/>
                </a:solidFill>
                <a:latin typeface="Consolas"/>
              </a:rPr>
              <a:t>bound γ−κ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886200"/>
            <a:ext cx="5486400" cy="150876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032504"/>
            <a:ext cx="519379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49E3CE"/>
                </a:solidFill>
                <a:latin typeface="Calibri"/>
              </a:rPr>
              <a:t>THE BUDGET ARITHMETIC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343400"/>
            <a:ext cx="5193792" cy="90525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|z|inf = |z^ + y|inf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       &lt;= |z^|inf + |y|inf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       &lt;= (g-k-1) + 1  =  g-k     (clears Verify)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886200"/>
            <a:ext cx="5321808" cy="150876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005072"/>
            <a:ext cx="49377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FF6B6B"/>
                </a:solidFill>
                <a:latin typeface="Calibri"/>
              </a:rPr>
              <a:t>THE FAILURE MODE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70832"/>
            <a:ext cx="4983480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Loosen PreSign to </a:t>
            </a:r>
            <a:r>
              <a:rPr sz="1300" b="1" i="0">
                <a:solidFill>
                  <a:srgbClr val="FF6B6B"/>
                </a:solidFill>
                <a:latin typeface="Consolas"/>
              </a:rPr>
              <a:t>γ−κ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 and adapted z can reach </a:t>
            </a:r>
            <a:r>
              <a:rPr sz="1300" b="1" i="0">
                <a:solidFill>
                  <a:srgbClr val="FF6B6B"/>
                </a:solidFill>
                <a:latin typeface="Consolas"/>
              </a:rPr>
              <a:t>γ−κ+1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 — over the bound.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Verify then rejects </a:t>
            </a:r>
            <a:r>
              <a:rPr sz="1300" b="1" i="0">
                <a:solidFill>
                  <a:srgbClr val="FF6B6B"/>
                </a:solidFill>
                <a:latin typeface="Calibri"/>
              </a:rPr>
              <a:t>every</a:t>
            </a:r>
            <a:r>
              <a:rPr sz="1300" b="0" i="0">
                <a:solidFill>
                  <a:srgbClr val="ECEEFF"/>
                </a:solidFill>
                <a:latin typeface="Calibri"/>
              </a:rPr>
              <a:t> adapted signature. The budget, not packing, is the real constraint.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577840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AA0D0"/>
                </a:solidFill>
                <a:latin typeface="Calibri"/>
              </a:rPr>
              <a:t>Generalises to AMHL:  PreSign bound γ−κ−K reserves budget K for a cumulative witness with |s_j|∞ ≤ j ≤ 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DECISION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Ternary witnesses: the statement/witness pair is just another key 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7830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1929384"/>
            <a:ext cx="514807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49E3CE"/>
                </a:solidFill>
                <a:latin typeface="Calibri"/>
              </a:rPr>
              <a:t>RELATION (hard under M-SIS / M-LWE)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240279"/>
            <a:ext cx="5148072" cy="7680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CEEFF"/>
                </a:solidFill>
                <a:latin typeface="Consolas"/>
              </a:rPr>
              <a:t>y &lt;- S_1^(n+l)      (ternary: -1, 0, 1)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CEEFF"/>
                </a:solidFill>
                <a:latin typeface="Consolas"/>
              </a:rPr>
              <a:t>Y  =  A * y         (the statement)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37560"/>
            <a:ext cx="54864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9AA0D0"/>
                </a:solidFill>
                <a:latin typeface="Calibri"/>
              </a:rPr>
              <a:t>Identical in form to KeyGen:  r ← S₁,  t = A·r.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5440680" cy="5486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023360"/>
            <a:ext cx="73152" cy="54864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173736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9E3CE"/>
                </a:solidFill>
                <a:latin typeface="Calibri"/>
              </a:rPr>
              <a:t>Norm head-room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023360"/>
            <a:ext cx="342900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CEEFF"/>
                </a:solidFill>
                <a:latin typeface="Calibri"/>
              </a:rPr>
              <a:t>|y|∞ ≤ 1 is exactly the budget Adapt needs (Decision 4).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45152"/>
            <a:ext cx="5440680" cy="5486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645152"/>
            <a:ext cx="73152" cy="54864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45152"/>
            <a:ext cx="173736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9E3CE"/>
                </a:solidFill>
                <a:latin typeface="Calibri"/>
              </a:rPr>
              <a:t>No separate 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645152"/>
            <a:ext cx="342900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CEEFF"/>
                </a:solidFill>
                <a:latin typeface="Calibri"/>
              </a:rPr>
              <a:t>the hard relation R is literally the key-generation relation — one algorithm, reused.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66944"/>
            <a:ext cx="5440680" cy="54864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266944"/>
            <a:ext cx="73152" cy="54864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66944"/>
            <a:ext cx="173736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9E3CE"/>
                </a:solidFill>
                <a:latin typeface="Calibri"/>
              </a:rPr>
              <a:t>Hiding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266944"/>
            <a:ext cx="342900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CEEFF"/>
                </a:solidFill>
                <a:latin typeface="Calibri"/>
              </a:rPr>
              <a:t>M-SIS/M-LWE means knowing Y reveals nothing about y; publishing σ leaks y only to the pre-sig holder.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783080"/>
            <a:ext cx="5321808" cy="345643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B454"/>
                </a:solidFill>
                <a:latin typeface="Calibri"/>
              </a:rPr>
              <a:t>WHY SWAPS ARE ATOMIC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331720"/>
            <a:ext cx="4983480" cy="3383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Alice pre-signs over statement Y; she alone knows witness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To claim, Alice </a:t>
            </a:r>
            <a:r>
              <a:rPr sz="1400" b="1" i="0">
                <a:solidFill>
                  <a:srgbClr val="49E3CE"/>
                </a:solidFill>
                <a:latin typeface="Calibri"/>
              </a:rPr>
              <a:t>adapts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— publishing an ordinary σ = (c, ẑ+y) on chain 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Bob holds the matching pre-sig σ̂ = (c, ẑ). He computes </a:t>
            </a:r>
            <a:r>
              <a:rPr sz="1400" b="1" i="0">
                <a:solidFill>
                  <a:srgbClr val="49E3CE"/>
                </a:solidFill>
                <a:latin typeface="Consolas"/>
              </a:rPr>
              <a:t>y = z − ẑ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— the witness is now public to him.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Bob uses y to complete the matching half on chain B. </a:t>
            </a:r>
            <a:r>
              <a:rPr sz="1400" b="1" i="0">
                <a:solidFill>
                  <a:srgbClr val="FFB454"/>
                </a:solidFill>
                <a:latin typeface="Calibri"/>
              </a:rPr>
              <a:t>Both legs settle or neither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FFB454"/>
                </a:solidFill>
                <a:latin typeface="Calibri"/>
              </a:rPr>
              <a:t>DECISION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q = 8 380 417 (≈2²³), not the paper's q ≈ 2²⁴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737360"/>
            <a:ext cx="5623560" cy="2468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Reusing Dilithium's NTT </a:t>
            </a:r>
            <a:r>
              <a:rPr sz="1450" b="1" i="0">
                <a:solidFill>
                  <a:srgbClr val="FFB454"/>
                </a:solidFill>
                <a:latin typeface="Calibri"/>
              </a:rPr>
              <a:t>pins the modulus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: its root-of-unity table is fixed to Q = 8 380 417  (ROOT_OF_UNITY = 1753).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Changing q to 2²⁴ would require a </a:t>
            </a:r>
            <a:r>
              <a:rPr sz="1450" b="1" i="0">
                <a:solidFill>
                  <a:srgbClr val="FFB454"/>
                </a:solidFill>
                <a:latin typeface="Calibri"/>
              </a:rPr>
              <a:t>new NTT table or schoolbook multiplication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 — i.e. abandoning the core reuse.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49E3CE"/>
                </a:solidFill>
                <a:latin typeface="Calibri"/>
              </a:rPr>
              <a:t>Supervisor-sanctioned starting point: </a:t>
            </a:r>
            <a:r>
              <a:rPr sz="1450" b="0" i="0">
                <a:solidFill>
                  <a:srgbClr val="ECEEFF"/>
                </a:solidFill>
                <a:latin typeface="Calibri"/>
              </a:rPr>
              <a:t>start from the implementation's parameters, change nothing at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43400"/>
            <a:ext cx="5623560" cy="1463040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53035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49E3CE"/>
                </a:solidFill>
                <a:latin typeface="Calibri"/>
              </a:rPr>
              <a:t>CORRECTNESS IS UNAFFECTED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00600"/>
            <a:ext cx="53035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CEEFF"/>
                </a:solidFill>
                <a:latin typeface="Consolas"/>
              </a:rPr>
              <a:t>Q  &gt;  2γ      8 380 417  &gt;  245 760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85232"/>
            <a:ext cx="53035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AA0D0"/>
                </a:solidFill>
                <a:latin typeface="Calibri"/>
              </a:rPr>
              <a:t>no wrap-around in the bound arithmetic ⇒ every identity still holds.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138928" cy="4069080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74519"/>
            <a:ext cx="475488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B454"/>
                </a:solidFill>
                <a:latin typeface="Calibri"/>
              </a:rPr>
              <a:t>WHAT ACTUALLY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86000"/>
            <a:ext cx="480060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Only the concrete </a:t>
            </a:r>
            <a:r>
              <a:rPr sz="1400" b="1" i="0">
                <a:solidFill>
                  <a:srgbClr val="FFB454"/>
                </a:solidFill>
                <a:latin typeface="Calibri"/>
              </a:rPr>
              <a:t>M-SIS / M-LWE security margin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— not functionality.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Security analysis is </a:t>
            </a:r>
            <a:r>
              <a:rPr sz="1400" b="1" i="0">
                <a:solidFill>
                  <a:srgbClr val="49E3CE"/>
                </a:solidFill>
                <a:latin typeface="Calibri"/>
              </a:rPr>
              <a:t>explicitly out of scope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: treat hardness as a black box (supervisor).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297680"/>
            <a:ext cx="4773168" cy="132588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407408"/>
            <a:ext cx="44805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9AA0D0"/>
                </a:solidFill>
                <a:latin typeface="Calibri"/>
              </a:rPr>
              <a:t>DOCUMENTED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54880"/>
            <a:ext cx="44805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CEEFF"/>
                </a:solidFill>
                <a:latin typeface="Calibri"/>
              </a:rPr>
              <a:t>Migration to q ≈ 2²⁴ is a separate, documented step with before/after benchmarks — optional, only if justified.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DECISION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Self-contained parameters &amp; the challenge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54864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49E3CE"/>
                </a:solidFill>
                <a:latin typeface="Calibri"/>
              </a:rPr>
              <a:t>LAS PARAMETERS  (independent of DILITHIUM_MODE)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121408"/>
            <a:ext cx="54864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121408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onsolas"/>
              </a:rPr>
              <a:t>N =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121408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CEEFF"/>
                </a:solidFill>
                <a:latin typeface="Consolas"/>
              </a:rPr>
              <a:t>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121408"/>
            <a:ext cx="2514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9AA0D0"/>
                </a:solidFill>
                <a:latin typeface="Calibri"/>
              </a:rPr>
              <a:t>ring degree, R_q = Z_q[X]/(X^N+1)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724912"/>
            <a:ext cx="5486400" cy="53035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onsolas"/>
              </a:rPr>
              <a:t>n =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724912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CEEFF"/>
                </a:solidFill>
                <a:latin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724912"/>
            <a:ext cx="2514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9AA0D0"/>
                </a:solidFill>
                <a:latin typeface="Calibri"/>
              </a:rPr>
              <a:t>module dimension / extra columns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328415"/>
            <a:ext cx="54864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328415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onsolas"/>
              </a:rPr>
              <a:t>n+l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328415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CEEFF"/>
                </a:solidFill>
                <a:latin typeface="Consola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28415"/>
            <a:ext cx="2514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9AA0D0"/>
                </a:solidFill>
                <a:latin typeface="Calibri"/>
              </a:rPr>
              <a:t>length of r, y, 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931920"/>
            <a:ext cx="5486400" cy="53035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31920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onsolas"/>
              </a:rPr>
              <a:t>kappa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931920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CEEFF"/>
                </a:solidFill>
                <a:latin typeface="Consolas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931920"/>
            <a:ext cx="2514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9AA0D0"/>
                </a:solidFill>
                <a:latin typeface="Calibri"/>
              </a:rPr>
              <a:t>challenge weight  ||c||_1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535424"/>
            <a:ext cx="54864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535424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Consolas"/>
              </a:rPr>
              <a:t>gamma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535424"/>
            <a:ext cx="1371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CEEFF"/>
                </a:solidFill>
                <a:latin typeface="Consolas"/>
              </a:rPr>
              <a:t>122 880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535424"/>
            <a:ext cx="251460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9AA0D0"/>
                </a:solidFill>
                <a:latin typeface="Calibri"/>
              </a:rPr>
              <a:t>= kappa*d*(n+l) = 60*256*8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1783080"/>
            <a:ext cx="5285232" cy="141732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1929384"/>
            <a:ext cx="4992624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49E3CE"/>
                </a:solidFill>
                <a:latin typeface="Calibri"/>
              </a:rPr>
              <a:t>CHALLENGE  c = H(...)  (Dilithium poly_challenge)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2240279"/>
            <a:ext cx="4992624" cy="81381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||c||_1 = kappa = 60   (exactly 60 nonzero)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CEEFF"/>
                </a:solidFill>
                <a:latin typeface="Consolas"/>
              </a:rPr>
              <a:t>||c||_inf = 1          (entries are +-1)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383280"/>
            <a:ext cx="5285232" cy="2423160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502152"/>
            <a:ext cx="49377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49E3CE"/>
                </a:solidFill>
                <a:latin typeface="Calibri"/>
              </a:rPr>
              <a:t>ACCEPTANCE RATE — MEASURED DIRECTLY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931920"/>
            <a:ext cx="49377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49E3CE"/>
                </a:solidFill>
                <a:latin typeface="Georgia"/>
              </a:rPr>
              <a:t>≈ 37%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69080"/>
            <a:ext cx="310896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per attempt
≈ 2.7 attempts / sig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892040"/>
            <a:ext cx="49377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AA0D0"/>
                </a:solidFill>
                <a:latin typeface="Calibri"/>
              </a:rPr>
              <a:t>matches  (1 − κ/γ)^((n+ℓ)·N)  ≈  e^(−1)  ≈  36.8%,
via the las_attempts counter (not a timing-ratio estimate).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DECISION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Determinism &amp; known-answer tests — reproducibility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78308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0A0D28"/>
          </a:solidFill>
          <a:ln w="12700">
            <a:solidFill>
              <a:srgbClr val="2E3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1929384"/>
            <a:ext cx="523951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49E3CE"/>
                </a:solidFill>
                <a:latin typeface="Calibri"/>
              </a:rPr>
              <a:t>DERIVED MASK SEED (standard FS derandomisation)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240279"/>
            <a:ext cx="5239512" cy="950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seed = SHAKE256( tag || sk || [Y] || M 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  tag 0x00 = Sign      tag 0x01 = PreSign (binds Y)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EFF"/>
                </a:solidFill>
                <a:latin typeface="Consolas"/>
              </a:rPr>
              <a:t>shared sign_core / presign_core with random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611880"/>
            <a:ext cx="5532120" cy="2194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Same distribution and validity as the randomised path — </a:t>
            </a:r>
            <a:r>
              <a:rPr sz="1400" b="1" i="0">
                <a:solidFill>
                  <a:srgbClr val="49E3CE"/>
                </a:solidFill>
                <a:latin typeface="Calibri"/>
              </a:rPr>
              <a:t>not a change to the scheme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, just derandomisation (as in deterministic Dilithium).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Removes the </a:t>
            </a:r>
            <a:r>
              <a:rPr sz="1400" b="1" i="0">
                <a:solidFill>
                  <a:srgbClr val="FFB454"/>
                </a:solidFill>
                <a:latin typeface="Calibri"/>
              </a:rPr>
              <a:t>nonce-reuse failure mode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(no fresh per-signature RNG to mishandle).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9E3C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Enables </a:t>
            </a:r>
            <a:r>
              <a:rPr sz="1400" b="1" i="0">
                <a:solidFill>
                  <a:srgbClr val="49E3CE"/>
                </a:solidFill>
                <a:latin typeface="Calibri"/>
              </a:rPr>
              <a:t>byte-identical KATs</a:t>
            </a:r>
            <a:r>
              <a:rPr sz="1400" b="0" i="0">
                <a:solidFill>
                  <a:srgbClr val="ECEEFF"/>
                </a:solidFill>
                <a:latin typeface="Calibri"/>
              </a:rPr>
              <a:t> across runs and machines — a cross-check anchor for any on-chain verifier.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93792" cy="120700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29384"/>
            <a:ext cx="47548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9E3CE"/>
                </a:solidFill>
                <a:latin typeface="Georgia"/>
              </a:rPr>
              <a:t>1000 ×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48006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iterations, modes 2/3/5 — 100% correct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154680"/>
            <a:ext cx="5193792" cy="120700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300984"/>
            <a:ext cx="47548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9E3CE"/>
                </a:solidFill>
                <a:latin typeface="Georgia"/>
              </a:rPr>
              <a:t>4672 / 4672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8006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single-byte signature flips — all 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526280"/>
            <a:ext cx="5193792" cy="1207008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672584"/>
            <a:ext cx="47548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9E3CE"/>
                </a:solidFill>
                <a:latin typeface="Georgia"/>
              </a:rPr>
              <a:t>pinned digest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48006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SHAKE256 KAT matches:  f7fc40f0b775…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49E3CE"/>
                </a:solidFill>
                <a:latin typeface="Calibri"/>
              </a:rPr>
              <a:t>HOW I KNOW IT'S FAITHFUL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Test assertions encode the paper's correctness theorems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783080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1783080"/>
            <a:ext cx="73152" cy="530352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1929384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49E3CE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783080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PreVerify accepts the pre-sig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783080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pre-signature correctness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386584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386584"/>
            <a:ext cx="73152" cy="5303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2532888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FFB454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386584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Verify REJECTS the pre-sig  (tripwire)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386584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statement binding — +Y really is in the hash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990088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2990088"/>
            <a:ext cx="73152" cy="530352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3136392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49E3C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990088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Verify accepts the adapted 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990088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pre-signature adaptability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593591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593591"/>
            <a:ext cx="73152" cy="530352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8" y="3739896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49E3CE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593591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Ext recovers y, and A·y = Y exactly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593591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witness extractability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197096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197096"/>
            <a:ext cx="73152" cy="5303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9808" y="4343400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FFB454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197096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Adapt hop 1 with s_K ⇒ Verify fails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4197096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AMHL wormhole resistance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800600"/>
            <a:ext cx="6858000" cy="530352"/>
          </a:xfrm>
          <a:prstGeom prst="roundRect">
            <a:avLst>
              <a:gd name="adj" fmla="val 4500"/>
            </a:avLst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800600"/>
            <a:ext cx="73152" cy="530352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9808" y="4946904"/>
            <a:ext cx="237744" cy="237744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1000" b="1" i="0">
                <a:solidFill>
                  <a:srgbClr val="49E3CE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800600"/>
            <a:ext cx="406908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EEFF"/>
                </a:solidFill>
                <a:latin typeface="Calibri"/>
              </a:rPr>
              <a:t>Flip any bit ⇒ Verify fails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4800600"/>
            <a:ext cx="2194560" cy="5303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9AA0D0"/>
                </a:solidFill>
                <a:latin typeface="Calibri"/>
              </a:rPr>
              <a:t>basic unforgeability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1783080"/>
            <a:ext cx="3904487" cy="3520440"/>
          </a:xfrm>
          <a:prstGeom prst="roundRect">
            <a:avLst>
              <a:gd name="adj" fmla="val 4500"/>
            </a:avLst>
          </a:prstGeom>
          <a:solidFill>
            <a:srgbClr val="262D66"/>
          </a:solidFill>
          <a:ln w="1270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1920240"/>
            <a:ext cx="35661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49E3CE"/>
                </a:solidFill>
                <a:latin typeface="Calibri"/>
              </a:rPr>
              <a:t>THE COUNTER-INTUITIVE 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2331720"/>
            <a:ext cx="356616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49E3CE"/>
                </a:solidFill>
                <a:latin typeface="Georgia"/>
              </a:rPr>
              <a:t>≈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3063240"/>
            <a:ext cx="356616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EEFF"/>
                </a:solidFill>
                <a:latin typeface="Calibri"/>
              </a:rPr>
              <a:t>adaptor overhead:
PreSign ≈ Sign,  PreVerify ≈ Verify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3977639"/>
            <a:ext cx="3520440" cy="18288"/>
          </a:xfrm>
          <a:prstGeom prst="rect">
            <a:avLst/>
          </a:prstGeom>
          <a:solidFill>
            <a:srgbClr val="2E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4114800"/>
            <a:ext cx="356616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AA0D0"/>
                </a:solidFill>
                <a:latin typeface="Calibri"/>
              </a:rPr>
              <a:t>vs the classical adaptor's ~4× DLEQ overhead. The PQ price is communication (×29–89 sizes), not computation.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852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9284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6716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6716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6716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1480" y="27432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41480" y="548640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1480" y="822959"/>
            <a:ext cx="36576" cy="36576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FFB454"/>
                </a:solidFill>
                <a:latin typeface="Calibri"/>
              </a:rPr>
              <a:t>HONEST ACCOUNTING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CEEFF"/>
                </a:solidFill>
                <a:latin typeface="Georgia"/>
              </a:rPr>
              <a:t>Every deviation from the paper, and its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783080"/>
            <a:ext cx="10954512" cy="457200"/>
          </a:xfrm>
          <a:prstGeom prst="rect">
            <a:avLst/>
          </a:prstGeom>
          <a:solidFill>
            <a:srgbClr val="26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1783080"/>
            <a:ext cx="182880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9AA0D0"/>
                </a:solidFill>
                <a:latin typeface="Calibri"/>
              </a:rPr>
              <a:t>PROPERTY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1783080"/>
            <a:ext cx="1691639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9AA0D0"/>
                </a:solidFill>
                <a:latin typeface="Calibri"/>
              </a:rPr>
              <a:t>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1783080"/>
            <a:ext cx="19659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FFB454"/>
                </a:solidFill>
                <a:latin typeface="Calibri"/>
              </a:rPr>
              <a:t>THIS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783080"/>
            <a:ext cx="4754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FFB454"/>
                </a:solidFill>
                <a:latin typeface="Calibri"/>
              </a:rPr>
              <a:t>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240280"/>
            <a:ext cx="10954512" cy="713232"/>
          </a:xfrm>
          <a:prstGeom prst="rect">
            <a:avLst/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240280"/>
            <a:ext cx="17830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EEFF"/>
                </a:solidFill>
                <a:latin typeface="Calibri"/>
              </a:rPr>
              <a:t>Modulus 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240280"/>
            <a:ext cx="1645919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EFF"/>
                </a:solidFill>
                <a:latin typeface="Consolas"/>
              </a:rPr>
              <a:t>≈ 2²⁴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240280"/>
            <a:ext cx="192024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9E3CE"/>
                </a:solidFill>
                <a:latin typeface="Consolas"/>
              </a:rPr>
              <a:t>8 380 417 (≈2²³)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40280"/>
            <a:ext cx="470916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security margin only — Q&gt;2γ keeps correctness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53512"/>
            <a:ext cx="10954512" cy="713232"/>
          </a:xfrm>
          <a:prstGeom prst="rect">
            <a:avLst/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2953512"/>
            <a:ext cx="17830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EEFF"/>
                </a:solidFill>
                <a:latin typeface="Calibri"/>
              </a:rPr>
              <a:t>Hint vector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2953512"/>
            <a:ext cx="1645919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EFF"/>
                </a:solidFill>
                <a:latin typeface="Consolas"/>
              </a:rPr>
              <a:t>used (optimised)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953512"/>
            <a:ext cx="192024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9E3CE"/>
                </a:solidFill>
                <a:latin typeface="Consolas"/>
              </a:rPr>
              <a:t>disabled (simplified)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2953512"/>
            <a:ext cx="470916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larger sig (4672 B); exact identity preserved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666744"/>
            <a:ext cx="10954512" cy="713232"/>
          </a:xfrm>
          <a:prstGeom prst="rect">
            <a:avLst/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666744"/>
            <a:ext cx="17830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EEFF"/>
                </a:solidFill>
                <a:latin typeface="Calibri"/>
              </a:rPr>
              <a:t>Signature packing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3666744"/>
            <a:ext cx="1645919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EFF"/>
                </a:solidFill>
                <a:latin typeface="Consolas"/>
              </a:rPr>
              <a:t>~3 210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666744"/>
            <a:ext cx="192024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9E3CE"/>
                </a:solidFill>
                <a:latin typeface="Consolas"/>
              </a:rPr>
              <a:t>4 672 B (measured)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3666744"/>
            <a:ext cx="470916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size only; validating decoder added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79976"/>
            <a:ext cx="10954512" cy="713232"/>
          </a:xfrm>
          <a:prstGeom prst="rect">
            <a:avLst/>
          </a:prstGeom>
          <a:solidFill>
            <a:srgbClr val="16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4379976"/>
            <a:ext cx="17830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EEFF"/>
                </a:solidFill>
                <a:latin typeface="Calibri"/>
              </a:rPr>
              <a:t>Extracted witness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4379976"/>
            <a:ext cx="1645919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EFF"/>
                </a:solidFill>
                <a:latin typeface="Consolas"/>
              </a:rPr>
              <a:t>may carry noise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79976"/>
            <a:ext cx="192024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9E3CE"/>
                </a:solidFill>
                <a:latin typeface="Calibri"/>
              </a:rPr>
              <a:t>exact (y = z − ẑ)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4379976"/>
            <a:ext cx="470916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the “knowledge gap” — noted as future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093208"/>
            <a:ext cx="10954512" cy="713232"/>
          </a:xfrm>
          <a:prstGeom prst="rect">
            <a:avLst/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5093208"/>
            <a:ext cx="17830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EEFF"/>
                </a:solidFill>
                <a:latin typeface="Calibri"/>
              </a:rPr>
              <a:t>Multi-hop PCN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15768" y="5093208"/>
            <a:ext cx="1645919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EFF"/>
                </a:solidFill>
                <a:latin typeface="Consolas"/>
              </a:rPr>
              <a:t>AMHL, γ−κ−K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5093208"/>
            <a:ext cx="192024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9E3CE"/>
                </a:solidFill>
                <a:latin typeface="Calibri"/>
              </a:rPr>
              <a:t>AMHL implemented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9128" y="5093208"/>
            <a:ext cx="470916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D0"/>
                </a:solidFill>
                <a:latin typeface="Calibri"/>
              </a:rPr>
              <a:t>functionally matches; privacy variant is future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AA0D0"/>
                </a:solidFill>
                <a:latin typeface="Calibri"/>
              </a:rPr>
              <a:t>Stated plainly because examiners reward honest critique — not because any of these breaks the construction.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72237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103327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61320" y="13441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72216" y="41148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72216" y="72237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72216" y="103327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72216" y="13441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83112" y="41148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83112" y="72237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83112" y="103327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83112" y="13441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94008" y="411480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94008" y="722376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94008" y="1033272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94008" y="1344168"/>
            <a:ext cx="45720" cy="45720"/>
          </a:xfrm>
          <a:prstGeom prst="ellipse">
            <a:avLst/>
          </a:prstGeom>
          <a:solidFill>
            <a:srgbClr val="293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49E3CE"/>
                </a:solidFill>
                <a:latin typeface="Calibri"/>
              </a:rPr>
              <a:t>DEFENCE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024128"/>
            <a:ext cx="1078992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CEEFF"/>
                </a:solidFill>
                <a:latin typeface="Georgia"/>
              </a:rPr>
              <a:t>Every choice traces to three principles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148840"/>
            <a:ext cx="10881360" cy="96012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148840"/>
            <a:ext cx="91440" cy="96012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2354580"/>
            <a:ext cx="548640" cy="548640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2000" b="1" i="0">
                <a:solidFill>
                  <a:srgbClr val="49E3CE"/>
                </a:solidFill>
                <a:latin typeface="Georg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CEEFF"/>
                </a:solidFill>
                <a:latin typeface="Calibri"/>
              </a:rPr>
              <a:t>Faithful to Algorithm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651760"/>
            <a:ext cx="969264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0D0"/>
                </a:solidFill>
                <a:latin typeface="Calibri"/>
              </a:rPr>
              <a:t>variant B, the +Y-in-hash mechanism, the γ−κ−1 budget, the seven functions — mapped equation-by-equation.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27832"/>
            <a:ext cx="10881360" cy="96012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227832"/>
            <a:ext cx="91440" cy="960120"/>
          </a:xfrm>
          <a:prstGeom prst="rect">
            <a:avLst/>
          </a:prstGeom>
          <a:solidFill>
            <a:srgbClr val="49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3433572"/>
            <a:ext cx="548640" cy="548640"/>
          </a:xfrm>
          <a:prstGeom prst="ellipse">
            <a:avLst/>
          </a:prstGeom>
          <a:solidFill>
            <a:srgbClr val="161B45"/>
          </a:solidFill>
          <a:ln w="19050">
            <a:solidFill>
              <a:srgbClr val="49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2000" b="1" i="0">
                <a:solidFill>
                  <a:srgbClr val="49E3CE"/>
                </a:solidFill>
                <a:latin typeface="Georgia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355848"/>
            <a:ext cx="9692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CEEFF"/>
                </a:solidFill>
                <a:latin typeface="Calibri"/>
              </a:rPr>
              <a:t>Maximal reuse of audited primitives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730752"/>
            <a:ext cx="969264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0D0"/>
                </a:solidFill>
                <a:latin typeface="Calibri"/>
              </a:rPr>
              <a:t>NTT, SHAKE, sampling reused as-is; 0 upstream functions modified; the contribution is a clean, additive diff.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06824"/>
            <a:ext cx="10881360" cy="960120"/>
          </a:xfrm>
          <a:prstGeom prst="roundRect">
            <a:avLst>
              <a:gd name="adj" fmla="val 4500"/>
            </a:avLst>
          </a:prstGeom>
          <a:solidFill>
            <a:srgbClr val="1E2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306824"/>
            <a:ext cx="91440" cy="96012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4512564"/>
            <a:ext cx="548640" cy="548640"/>
          </a:xfrm>
          <a:prstGeom prst="ellipse">
            <a:avLst/>
          </a:prstGeom>
          <a:solidFill>
            <a:srgbClr val="161B45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/>
          <a:lstStyle/>
          <a:p>
            <a:pPr algn="ctr"/>
            <a:r>
              <a:rPr sz="2000" b="1" i="0">
                <a:solidFill>
                  <a:srgbClr val="FFB454"/>
                </a:solidFill>
                <a:latin typeface="Georg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434840"/>
            <a:ext cx="9692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CEEFF"/>
                </a:solidFill>
                <a:latin typeface="Calibri"/>
              </a:rPr>
              <a:t>Every deviation justified &amp; in-scope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09744"/>
            <a:ext cx="969264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0D0"/>
                </a:solidFill>
                <a:latin typeface="Calibri"/>
              </a:rPr>
              <a:t>simplified scheme and q=2²³ are deliberate, supervisor-sanctioned, correctness-preserving; security analysis is out of scope.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49E3CE"/>
                </a:solidFill>
                <a:latin typeface="Calibri"/>
              </a:rPr>
              <a:t>Result: the first public LAS implementation — correct, reproducible, benchmarked against two baselines, and demonstrated on-chain.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8B0"/>
                </a:solidFill>
                <a:latin typeface="Calibri"/>
              </a:rPr>
              <a:t>LAS on CRYSTALS-Dilithium  ·  Design Defence  ·  eprint 2020/845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D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