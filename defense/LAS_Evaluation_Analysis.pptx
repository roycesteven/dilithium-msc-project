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evaluation deep-dive. Wang asked for two benchmark types — the signature itself and the application — each against two baselines: pure Dilithium-3 and a classical adaptor signature. I present every metric and, crucially, analyse it: what it measures, how it was measured, and what it means. The framing rule throughout is 'let the data speak' — absolute microsecond numbers are machine-dependent, so the ratios and the structure are the real findings.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of the evaluation. Four metric families: signature-level (timings, acceptance, sizes), application-level (swap payload and the multi-hop AMHL cost as a function of path length), on-chain gas on a real EVM, and correctness/robustness. Each is measured against the two baselines the supervisor required. The classical adaptor — an ECDSA-adaptor from libsecp256k1-zkp — is benchmarked on the same machine and compiler, so the comparison needs no hardware caveats.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numbers, the methodology and its limits. Timings are medians over 2000 iterations at -O3; the rejection rate is measured with a direct counter rather than inferred; sizes are real serialised bytes; EVM gas is deterministic. The threats-to-validity panel is deliberately on its own slide and up front: the classical library is hand-optimised constant-time code so it flatters the classical timings, this is not a same-security comparison, the app-level figures are a simulated-ledger proxy, and the native-verify number is a gas-faithful lower bound. Naming these first is what makes the rest credible.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signature-level metric. Eight operations timed. The visual deliberately pairs Sign with PreSign and Verify with PreVerify in amber: the bars are the same length. That is the result — the adaptor operations add about 3% over their base operations, because folding the statement into the Fiat-Shamir hash is a single polynomial addition. Adapt is about the cost of a Verify and Ext is the cheapest operation of all. This matches the paper's efficiency claim and sets up the contrast with the classical adaptor, whose overhead is 4x.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acceptance rate of the rejection-sampling loop. About 37% per attempt, about 2.7 attempts per signature, measured directly with the attempt counter. It matches the closed form: a signature is accepted only if all 2048 response coefficients land in range, giving (1-kappa/gamma)^2048, which is essentially e to the minus one. The amber panel is an honest methodology correction worth keeping: an earlier benchmark inferred the rate from a Sign/Verify timing ratio and got 23%, but that estimator is biased because a Sign attempt is dearer than a Verify, so it over-counts attempts. The direct counter replaces it — a small example of preferring measurement to a proxy.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Sizes, and the single most common confusion. There are three different numbers and they must not be mixed. In-memory sizeof stores a full int32 per coefficient — that is the 9216-byte figure and it is an artefact of the data structure. The packed column is the real serialised wire size, 4672 bytes, validated byte-for-byte by the serde test. The paper's ~3210 bytes is a different, optimised scheme at a different modulus with a hint vector, so it is not directly comparable; the honest comparison for our scheme is always the packed column. The bottom panel shows the packed signature is a real bit-budget, not a guess.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centrepiece table: the project's own 2x2 framing turned into data. Four schemes on one machine — classical-basic ECDSA, classical-exotic ECDSA-adaptor, PQ-basic Dilithium-3, and PQ-exotic LAS. The LAS column is highlighted. Read it two ways, which are the next two slides: down the columns for the cost of going post-quantum, and within each adaptor scheme for the cost of going exotic. The headline from the raw table is simply that every operation, in every scheme, is sub-millisecond — post-quantum here is feasible, not prohibitively slow.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one, read down the columns of the matrix. The bars use one shared vertical scale. On the left, the size ratios of LAS over ECDSA: public key 89 times, signature 73 times, pre-signature 29, secret key 16. On the right, the time ratios on the same scale: Sign 19.5, PreSign 4.4, Verify 3.1 — visibly tiny by comparison, and everything stays sub-millisecond. So the cost of going post-quantum is overwhelmingly communication, not computation. That matters enormously for blockchain, where bytes are the binding constraint — as the gas slides will show, the signature's calldata alone outweighs the whole classical settlement.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two, read within each adaptor scheme — and it is LAS's headline win. In the classical ECDSA-adaptor, the adaptor functionality is expensive relative to its own base: PreSign is 4.6 times Sign and PreVerify is 3.9 times Verify, because the pre-signature must carry and verify a DLEQ proof. In LAS, PreSign and PreVerify are both about 1.03 times their base — essentially free — because the statement just folds into the Fiat-Shamir hash. The overhead structure is inverted. And strikingly, LAS PreVerify in absolute terms is faster than the classical adaptor's PreVerify on the same machine. The exotic PQ scheme beats the exotic classical scheme on adaptor overhead.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the application level — the second benchmark type. For the atomic cross-chain swap, the off-chain phase exchanges three messages totalling about 12 kilobytes: the statement plus two pre-signatures. The on-chain settlement footprint is the two adapted signatures, about 9.3 kilobytes, and only those would actually hit a real chain. Each adapted signature is a single, ordinary-looking LAS signature. End-to-end signing is a few milliseconds, dominated by the two rejection-sampled pre-signs. The harness asserts the fairness invariant every run: the adapted signatures verify and the pre-signatures do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multi-hop AMHL payment, costed as a function of path length K. Three findings. First, the settlement footprint is exactly linear in K — K adapted signatures plus K statements, no super-linear blow-up. Second, the witness norm grows with the hop index, bounded by j and therefore by K, because each cumulative witness is a sum of j ternary vectors; that is the knowledge gap made concrete and the precise reason every hop must pre-sign at the tighter gamma-kappa-K bound. Third, and slightly counter-intuitively, that tightening is free: going from one hop to eight shrinks the acceptance band by about half a hundredth of a percent, so the attempts per pre-sign stay flat. AMHL adds no per-hop signing penalty beyond the unavoidable K pre-signatures.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On-chain, on a real EVM. The escrow contract is signature-scheme-agnostic; only the claim-time verification differs, so the gas report isolates the price of post-quantum on-chain. The classical claim verifies the adapted ECDSA signature natively with ecrecover for 75,709 gas. The LAS claim can only charge the unavoidable floor — calldata for the real 4672-byte signature plus one keccak pass — and that floor is already 208,400 gas, 2.75 times the full classical claim, while doing no verification. The reason is again communication: the signature's calldata alone, 74,476 gas, is 97% of the marginal cost and on its own exceeds the entire classical claim.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I claimed on-chain verification was infeasible, I measured it rather than asserting it. The probe runs the exact op-budget of one las_verify on the EVM — 12 forward NTTs, 8 inverse NTTs, 20 pointwise products — and prices it; EVM opcode gas is independent of operand values, so a structurally identical kernel has the same gas as a correct verifier. The arithmetic measures at 10.08 million gas, and the first four rows independently reconcile to that total. Adding the SHAKE256 challenge, about 64 Keccak permutations, gives roughly 12 million gas total — about 158 times the classical claim and 40% of a 30-million-gas block. Two honest consequences: an earlier draft's claim that it 'exceeds the block limit' was wrong and is retracted, because native mulmod makes the arithmetic fit; the real barriers are economics and missing precompiles. That is precisely the case for a PQ precompile or a zk proof — the poqeth conclusion, here quantified for the exotic case.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Correctness is not a benchmark you optimise — it is pass/fail, and these have no margin. A thousand iterations across all three Dilithium modes, 100% correct on every adaptor property. An exhaustive tamper test: every one of the 4672 single-byte flips of a packed signature is rejected. And a pinned known-answer-test digest that is byte-identical across runs and machines. The right panel is the most important assertion in the whole suite: the tripwire. Feeding a pre-signature to ordinary Verify must fail, because Verify hashes w while the pre-sig committed to w+Y. That single failing check is the executable proof that the statement really is bound into the signature and that pre-signatures are unspendable — and at the multi-hop level it becomes wormhole resistance.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synthesis. Three findings the evaluation delivers. One: the price of post-quantum is communication, not computation — sizes and calldata dominate while times stay small and sub-ms. Two: LAS's adaptor overhead is essentially zero and structurally inverted versus the classical adaptor's roughly fourfold DLEQ cost, with LAS PreVerify even absolutely faster. Three: the swap protocol runs end-to-end, and the one genuinely open piece is native on-chain verification at about 12 million gas — prohibitively expensive but, measured, not over the block limit, which points to a precompile or a zk proof. All of this satisfies the supervisor's brief: two benchmark types, two baselines, the 2x2 framing turned into data, every claim measured and every caveat named.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12480"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0"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0"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412480"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12480"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80"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41663"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741663"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741663"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41663"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41663"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741663"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70848"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70848"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070848"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70848"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070848"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70848"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00032"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400032"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00032"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0032"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00032"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00032"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729215"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729215"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729215"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729215"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729215"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729215"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58400"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58400"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058400"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058400"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58400"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058400"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87584"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387584"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387584"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87584"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387584"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387584"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716767"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716767"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716767"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716767"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716767"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16767"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045951"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1045951"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1045951"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045951"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045951"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045951"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375136"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375136"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375136"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375136"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375136"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1375136"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1704319" y="45720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1704319" y="786384"/>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1704319" y="11155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1704319" y="144475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1704319" y="177393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704319" y="210312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 y="1234440"/>
            <a:ext cx="10515600" cy="365760"/>
          </a:xfrm>
          <a:prstGeom prst="rect">
            <a:avLst/>
          </a:prstGeom>
          <a:noFill/>
        </p:spPr>
        <p:txBody>
          <a:bodyPr wrap="square" anchor="t" lIns="54864" rIns="54864" tIns="27432" bIns="27432">
            <a:spAutoFit/>
          </a:bodyPr>
          <a:lstStyle/>
          <a:p>
            <a:pPr algn="l">
              <a:spcBef>
                <a:spcPts val="0"/>
              </a:spcBef>
              <a:spcAft>
                <a:spcPts val="0"/>
              </a:spcAft>
            </a:pPr>
            <a:r>
              <a:rPr sz="1300" b="1" i="0" spc="260">
                <a:solidFill>
                  <a:srgbClr val="49E3CE"/>
                </a:solidFill>
                <a:latin typeface="Calibri"/>
              </a:rPr>
              <a:t>MSc CYBERSECURITY THESIS · EVALUATION CHAPTER</a:t>
            </a:r>
          </a:p>
        </p:txBody>
      </p:sp>
      <p:sp>
        <p:nvSpPr>
          <p:cNvPr id="70" name="TextBox 69"/>
          <p:cNvSpPr txBox="1"/>
          <p:nvPr/>
        </p:nvSpPr>
        <p:spPr>
          <a:xfrm>
            <a:off x="621792" y="1783080"/>
            <a:ext cx="10972800" cy="1371600"/>
          </a:xfrm>
          <a:prstGeom prst="rect">
            <a:avLst/>
          </a:prstGeom>
          <a:noFill/>
        </p:spPr>
        <p:txBody>
          <a:bodyPr wrap="square" anchor="t" lIns="54864" rIns="54864" tIns="27432" bIns="27432">
            <a:spAutoFit/>
          </a:bodyPr>
          <a:lstStyle/>
          <a:p>
            <a:pPr algn="l">
              <a:spcBef>
                <a:spcPts val="0"/>
              </a:spcBef>
              <a:spcAft>
                <a:spcPts val="0"/>
              </a:spcAft>
            </a:pPr>
            <a:r>
              <a:rPr sz="5000" b="1" i="0">
                <a:solidFill>
                  <a:srgbClr val="ECEEFF"/>
                </a:solidFill>
                <a:latin typeface="Georgia"/>
              </a:rPr>
              <a:t>Evaluation: a deep analysis</a:t>
            </a:r>
          </a:p>
        </p:txBody>
      </p:sp>
      <p:sp>
        <p:nvSpPr>
          <p:cNvPr id="71" name="TextBox 70"/>
          <p:cNvSpPr txBox="1"/>
          <p:nvPr/>
        </p:nvSpPr>
        <p:spPr>
          <a:xfrm>
            <a:off x="640080" y="2697480"/>
            <a:ext cx="10972800" cy="914400"/>
          </a:xfrm>
          <a:prstGeom prst="rect">
            <a:avLst/>
          </a:prstGeom>
          <a:noFill/>
        </p:spPr>
        <p:txBody>
          <a:bodyPr wrap="square" anchor="t" lIns="54864" rIns="54864" tIns="27432" bIns="27432">
            <a:spAutoFit/>
          </a:bodyPr>
          <a:lstStyle/>
          <a:p>
            <a:pPr algn="l">
              <a:spcBef>
                <a:spcPts val="0"/>
              </a:spcBef>
              <a:spcAft>
                <a:spcPts val="0"/>
              </a:spcAft>
            </a:pPr>
            <a:r>
              <a:rPr sz="2500" b="0" i="1">
                <a:solidFill>
                  <a:srgbClr val="9AA0D0"/>
                </a:solidFill>
                <a:latin typeface="Georgia"/>
              </a:rPr>
              <a:t>Every metric, measured — and what it actually means</a:t>
            </a:r>
          </a:p>
        </p:txBody>
      </p:sp>
      <p:sp>
        <p:nvSpPr>
          <p:cNvPr id="72" name="Rectangle 71"/>
          <p:cNvSpPr/>
          <p:nvPr/>
        </p:nvSpPr>
        <p:spPr>
          <a:xfrm>
            <a:off x="658368" y="3840480"/>
            <a:ext cx="6035040" cy="20116"/>
          </a:xfrm>
          <a:prstGeom prst="rect">
            <a:avLst/>
          </a:prstGeom>
          <a:solidFill>
            <a:srgbClr val="2E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58368" y="4069080"/>
            <a:ext cx="10789920" cy="1463040"/>
          </a:xfrm>
          <a:prstGeom prst="rect">
            <a:avLst/>
          </a:prstGeom>
          <a:noFill/>
        </p:spPr>
        <p:txBody>
          <a:bodyPr wrap="square" anchor="t" lIns="54864" rIns="54864" tIns="27432" bIns="27432">
            <a:spAutoFit/>
          </a:bodyPr>
          <a:lstStyle/>
          <a:p>
            <a:pPr algn="l">
              <a:lnSpc>
                <a:spcPct val="100000"/>
              </a:lnSpc>
              <a:spcBef>
                <a:spcPts val="0"/>
              </a:spcBef>
              <a:spcAft>
                <a:spcPts val="900"/>
              </a:spcAft>
            </a:pPr>
            <a:r>
              <a:rPr sz="1500" b="1" i="0">
                <a:solidFill>
                  <a:srgbClr val="FFB454"/>
                </a:solidFill>
                <a:latin typeface="Calibri"/>
              </a:rPr>
              <a:t>—  </a:t>
            </a:r>
            <a:r>
              <a:rPr sz="1500" b="1" i="0">
                <a:solidFill>
                  <a:srgbClr val="ECEEFF"/>
                </a:solidFill>
                <a:latin typeface="Calibri"/>
              </a:rPr>
              <a:t>Two benchmark types</a:t>
            </a:r>
            <a:r>
              <a:rPr sz="1500" b="0" i="0">
                <a:solidFill>
                  <a:srgbClr val="9AA0D0"/>
                </a:solidFill>
                <a:latin typeface="Calibri"/>
              </a:rPr>
              <a:t>  (signature + application)  ×  </a:t>
            </a:r>
            <a:r>
              <a:rPr sz="1500" b="1" i="0">
                <a:solidFill>
                  <a:srgbClr val="ECEEFF"/>
                </a:solidFill>
                <a:latin typeface="Calibri"/>
              </a:rPr>
              <a:t>two baselines</a:t>
            </a:r>
            <a:r>
              <a:rPr sz="1500" b="0" i="0">
                <a:solidFill>
                  <a:srgbClr val="9AA0D0"/>
                </a:solidFill>
                <a:latin typeface="Calibri"/>
              </a:rPr>
              <a:t>  (vs Dilithium-3, vs a classical adaptor)</a:t>
            </a:r>
          </a:p>
          <a:p>
            <a:pPr algn="l">
              <a:lnSpc>
                <a:spcPct val="100000"/>
              </a:lnSpc>
              <a:spcBef>
                <a:spcPts val="0"/>
              </a:spcBef>
              <a:spcAft>
                <a:spcPts val="900"/>
              </a:spcAft>
            </a:pPr>
            <a:r>
              <a:rPr sz="1500" b="1" i="0">
                <a:solidFill>
                  <a:srgbClr val="FFB454"/>
                </a:solidFill>
                <a:latin typeface="Calibri"/>
              </a:rPr>
              <a:t>—  </a:t>
            </a:r>
            <a:r>
              <a:rPr sz="1500" b="1" i="0">
                <a:solidFill>
                  <a:srgbClr val="49E3CE"/>
                </a:solidFill>
                <a:latin typeface="Calibri"/>
              </a:rPr>
              <a:t>Timings · acceptance · sizes · payloads · on-chain gas · correctness</a:t>
            </a:r>
          </a:p>
          <a:p>
            <a:pPr algn="l">
              <a:lnSpc>
                <a:spcPct val="100000"/>
              </a:lnSpc>
              <a:spcBef>
                <a:spcPts val="0"/>
              </a:spcBef>
              <a:spcAft>
                <a:spcPts val="900"/>
              </a:spcAft>
            </a:pPr>
            <a:r>
              <a:rPr sz="1500" b="1" i="0">
                <a:solidFill>
                  <a:srgbClr val="FFB454"/>
                </a:solidFill>
                <a:latin typeface="Calibri"/>
              </a:rPr>
              <a:t>—  </a:t>
            </a:r>
            <a:r>
              <a:rPr sz="1400" b="0" i="0">
                <a:solidFill>
                  <a:srgbClr val="9AA0D0"/>
                </a:solidFill>
                <a:latin typeface="Calibri"/>
              </a:rPr>
              <a:t>All figures from </a:t>
            </a:r>
            <a:r>
              <a:rPr sz="1400" b="1" i="0">
                <a:solidFill>
                  <a:srgbClr val="49E3CE"/>
                </a:solidFill>
                <a:latin typeface="Calibri"/>
              </a:rPr>
              <a:t>docs/LAS.md §8</a:t>
            </a:r>
            <a:r>
              <a:rPr sz="1400" b="0" i="0">
                <a:solidFill>
                  <a:srgbClr val="9AA0D0"/>
                </a:solidFill>
                <a:latin typeface="Calibri"/>
              </a:rPr>
              <a:t>  —  absolute values are machine-dependent; </a:t>
            </a:r>
            <a:r>
              <a:rPr sz="1400" b="1" i="0">
                <a:solidFill>
                  <a:srgbClr val="ECEEFF"/>
                </a:solidFill>
                <a:latin typeface="Calibri"/>
              </a:rPr>
              <a:t>the ratios are the result.</a:t>
            </a:r>
          </a:p>
        </p:txBody>
      </p:sp>
      <p:sp>
        <p:nvSpPr>
          <p:cNvPr id="74" name="TextBox 73"/>
          <p:cNvSpPr txBox="1"/>
          <p:nvPr/>
        </p:nvSpPr>
        <p:spPr>
          <a:xfrm>
            <a:off x="658368" y="5989320"/>
            <a:ext cx="10058400" cy="457200"/>
          </a:xfrm>
          <a:prstGeom prst="rect">
            <a:avLst/>
          </a:prstGeom>
          <a:noFill/>
        </p:spPr>
        <p:txBody>
          <a:bodyPr wrap="square" anchor="t" lIns="54864" rIns="54864" tIns="27432" bIns="27432">
            <a:spAutoFit/>
          </a:bodyPr>
          <a:lstStyle/>
          <a:p>
            <a:pPr algn="l">
              <a:spcBef>
                <a:spcPts val="0"/>
              </a:spcBef>
              <a:spcAft>
                <a:spcPts val="0"/>
              </a:spcAft>
            </a:pPr>
            <a:r>
              <a:rPr sz="1300" b="0" i="0">
                <a:solidFill>
                  <a:srgbClr val="7078B0"/>
                </a:solidFill>
                <a:latin typeface="Calibri"/>
              </a:rPr>
              <a:t>Royce Steven   ·   Supervisor: Wang Zhipeng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49E3CE"/>
                </a:solidFill>
                <a:latin typeface="Calibri"/>
              </a:rPr>
              <a:t>WHAT WAS MEASURED</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The evaluation map: metrics × baselines</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02</a:t>
            </a:r>
          </a:p>
        </p:txBody>
      </p:sp>
      <p:sp>
        <p:nvSpPr>
          <p:cNvPr id="18" name="Rounded Rectangle 17"/>
          <p:cNvSpPr/>
          <p:nvPr/>
        </p:nvSpPr>
        <p:spPr>
          <a:xfrm>
            <a:off x="566928" y="1874519"/>
            <a:ext cx="2670048" cy="278892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66928" y="1874519"/>
            <a:ext cx="2670048" cy="566928"/>
          </a:xfrm>
          <a:prstGeom prst="roundRect">
            <a:avLst>
              <a:gd name="adj" fmla="val 6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240279"/>
            <a:ext cx="2670048" cy="201168"/>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1874519"/>
            <a:ext cx="91440" cy="2788920"/>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1874519"/>
            <a:ext cx="2304288" cy="566928"/>
          </a:xfrm>
          <a:prstGeom prst="rect">
            <a:avLst/>
          </a:prstGeom>
          <a:noFill/>
        </p:spPr>
        <p:txBody>
          <a:bodyPr wrap="square" anchor="ctr" lIns="54864" rIns="54864" tIns="27432" bIns="27432">
            <a:spAutoFit/>
          </a:bodyPr>
          <a:lstStyle/>
          <a:p>
            <a:pPr algn="l">
              <a:spcBef>
                <a:spcPts val="0"/>
              </a:spcBef>
              <a:spcAft>
                <a:spcPts val="0"/>
              </a:spcAft>
            </a:pPr>
            <a:r>
              <a:rPr sz="1250" b="1" i="0" spc="60">
                <a:solidFill>
                  <a:srgbClr val="49E3CE"/>
                </a:solidFill>
                <a:latin typeface="Calibri"/>
              </a:rPr>
              <a:t>SIGNATURE-LEVEL</a:t>
            </a:r>
          </a:p>
        </p:txBody>
      </p:sp>
      <p:sp>
        <p:nvSpPr>
          <p:cNvPr id="23" name="TextBox 22"/>
          <p:cNvSpPr txBox="1"/>
          <p:nvPr/>
        </p:nvSpPr>
        <p:spPr>
          <a:xfrm>
            <a:off x="786384" y="2606039"/>
            <a:ext cx="2286000" cy="1920239"/>
          </a:xfrm>
          <a:prstGeom prst="rect">
            <a:avLst/>
          </a:prstGeom>
          <a:noFill/>
        </p:spPr>
        <p:txBody>
          <a:bodyPr wrap="square" anchor="t" lIns="54864" rIns="54864" tIns="27432" bIns="27432">
            <a:spAutoFit/>
          </a:bodyPr>
          <a:lstStyle/>
          <a:p>
            <a:pPr algn="l">
              <a:lnSpc>
                <a:spcPct val="100000"/>
              </a:lnSpc>
              <a:spcBef>
                <a:spcPts val="0"/>
              </a:spcBef>
              <a:spcAft>
                <a:spcPts val="1100"/>
              </a:spcAft>
            </a:pPr>
            <a:r>
              <a:rPr sz="1250" b="1" i="0">
                <a:solidFill>
                  <a:srgbClr val="49E3CE"/>
                </a:solidFill>
                <a:latin typeface="Calibri"/>
              </a:rPr>
              <a:t>·  </a:t>
            </a:r>
            <a:r>
              <a:rPr sz="1250" b="0" i="0">
                <a:solidFill>
                  <a:srgbClr val="ECEEFF"/>
                </a:solidFill>
                <a:latin typeface="Calibri"/>
              </a:rPr>
              <a:t>per-op timing (8 ops)</a:t>
            </a:r>
          </a:p>
          <a:p>
            <a:pPr algn="l">
              <a:lnSpc>
                <a:spcPct val="100000"/>
              </a:lnSpc>
              <a:spcBef>
                <a:spcPts val="0"/>
              </a:spcBef>
              <a:spcAft>
                <a:spcPts val="1100"/>
              </a:spcAft>
            </a:pPr>
            <a:r>
              <a:rPr sz="1250" b="1" i="0">
                <a:solidFill>
                  <a:srgbClr val="49E3CE"/>
                </a:solidFill>
                <a:latin typeface="Calibri"/>
              </a:rPr>
              <a:t>·  </a:t>
            </a:r>
            <a:r>
              <a:rPr sz="1250" b="0" i="0">
                <a:solidFill>
                  <a:srgbClr val="ECEEFF"/>
                </a:solidFill>
                <a:latin typeface="Calibri"/>
              </a:rPr>
              <a:t>rejection / acceptance rate</a:t>
            </a:r>
          </a:p>
          <a:p>
            <a:pPr algn="l">
              <a:lnSpc>
                <a:spcPct val="100000"/>
              </a:lnSpc>
              <a:spcBef>
                <a:spcPts val="0"/>
              </a:spcBef>
              <a:spcAft>
                <a:spcPts val="1100"/>
              </a:spcAft>
            </a:pPr>
            <a:r>
              <a:rPr sz="1250" b="1" i="0">
                <a:solidFill>
                  <a:srgbClr val="49E3CE"/>
                </a:solidFill>
                <a:latin typeface="Calibri"/>
              </a:rPr>
              <a:t>·  </a:t>
            </a:r>
            <a:r>
              <a:rPr sz="1250" b="0" i="0">
                <a:solidFill>
                  <a:srgbClr val="ECEEFF"/>
                </a:solidFill>
                <a:latin typeface="Calibri"/>
              </a:rPr>
              <a:t>object sizes (3 distinct numbers)</a:t>
            </a:r>
          </a:p>
        </p:txBody>
      </p:sp>
      <p:sp>
        <p:nvSpPr>
          <p:cNvPr id="24" name="Rounded Rectangle 23"/>
          <p:cNvSpPr/>
          <p:nvPr/>
        </p:nvSpPr>
        <p:spPr>
          <a:xfrm>
            <a:off x="3355848" y="1874519"/>
            <a:ext cx="2670048" cy="278892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355848" y="1874519"/>
            <a:ext cx="2670048" cy="566928"/>
          </a:xfrm>
          <a:prstGeom prst="roundRect">
            <a:avLst>
              <a:gd name="adj" fmla="val 6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55848" y="2240279"/>
            <a:ext cx="2670048" cy="201168"/>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55848" y="1874519"/>
            <a:ext cx="91440" cy="278892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3591" y="1874519"/>
            <a:ext cx="2304288" cy="566928"/>
          </a:xfrm>
          <a:prstGeom prst="rect">
            <a:avLst/>
          </a:prstGeom>
          <a:noFill/>
        </p:spPr>
        <p:txBody>
          <a:bodyPr wrap="square" anchor="ctr" lIns="54864" rIns="54864" tIns="27432" bIns="27432">
            <a:spAutoFit/>
          </a:bodyPr>
          <a:lstStyle/>
          <a:p>
            <a:pPr algn="l">
              <a:spcBef>
                <a:spcPts val="0"/>
              </a:spcBef>
              <a:spcAft>
                <a:spcPts val="0"/>
              </a:spcAft>
            </a:pPr>
            <a:r>
              <a:rPr sz="1250" b="1" i="0" spc="60">
                <a:solidFill>
                  <a:srgbClr val="FFB454"/>
                </a:solidFill>
                <a:latin typeface="Calibri"/>
              </a:rPr>
              <a:t>APPLICATION-LEVEL</a:t>
            </a:r>
          </a:p>
        </p:txBody>
      </p:sp>
      <p:sp>
        <p:nvSpPr>
          <p:cNvPr id="29" name="TextBox 28"/>
          <p:cNvSpPr txBox="1"/>
          <p:nvPr/>
        </p:nvSpPr>
        <p:spPr>
          <a:xfrm>
            <a:off x="3575304" y="2606039"/>
            <a:ext cx="2286000" cy="1920239"/>
          </a:xfrm>
          <a:prstGeom prst="rect">
            <a:avLst/>
          </a:prstGeom>
          <a:noFill/>
        </p:spPr>
        <p:txBody>
          <a:bodyPr wrap="square" anchor="t" lIns="54864" rIns="54864" tIns="27432" bIns="27432">
            <a:spAutoFit/>
          </a:bodyPr>
          <a:lstStyle/>
          <a:p>
            <a:pPr algn="l">
              <a:lnSpc>
                <a:spcPct val="100000"/>
              </a:lnSpc>
              <a:spcBef>
                <a:spcPts val="0"/>
              </a:spcBef>
              <a:spcAft>
                <a:spcPts val="1100"/>
              </a:spcAft>
            </a:pPr>
            <a:r>
              <a:rPr sz="1250" b="1" i="0">
                <a:solidFill>
                  <a:srgbClr val="FFB454"/>
                </a:solidFill>
                <a:latin typeface="Calibri"/>
              </a:rPr>
              <a:t>·  </a:t>
            </a:r>
            <a:r>
              <a:rPr sz="1250" b="0" i="0">
                <a:solidFill>
                  <a:srgbClr val="ECEEFF"/>
                </a:solidFill>
                <a:latin typeface="Calibri"/>
              </a:rPr>
              <a:t>atomic-swap payload</a:t>
            </a:r>
          </a:p>
          <a:p>
            <a:pPr algn="l">
              <a:lnSpc>
                <a:spcPct val="100000"/>
              </a:lnSpc>
              <a:spcBef>
                <a:spcPts val="0"/>
              </a:spcBef>
              <a:spcAft>
                <a:spcPts val="1100"/>
              </a:spcAft>
            </a:pPr>
            <a:r>
              <a:rPr sz="1250" b="1" i="0">
                <a:solidFill>
                  <a:srgbClr val="FFB454"/>
                </a:solidFill>
                <a:latin typeface="Calibri"/>
              </a:rPr>
              <a:t>·  </a:t>
            </a:r>
            <a:r>
              <a:rPr sz="1250" b="0" i="0">
                <a:solidFill>
                  <a:srgbClr val="ECEEFF"/>
                </a:solidFill>
                <a:latin typeface="Calibri"/>
              </a:rPr>
              <a:t>AMHL cost vs path length K</a:t>
            </a:r>
          </a:p>
          <a:p>
            <a:pPr algn="l">
              <a:lnSpc>
                <a:spcPct val="100000"/>
              </a:lnSpc>
              <a:spcBef>
                <a:spcPts val="0"/>
              </a:spcBef>
              <a:spcAft>
                <a:spcPts val="1100"/>
              </a:spcAft>
            </a:pPr>
            <a:r>
              <a:rPr sz="1250" b="1" i="0">
                <a:solidFill>
                  <a:srgbClr val="FFB454"/>
                </a:solidFill>
                <a:latin typeface="Calibri"/>
              </a:rPr>
              <a:t>·  </a:t>
            </a:r>
            <a:r>
              <a:rPr sz="1250" b="0" i="0">
                <a:solidFill>
                  <a:srgbClr val="ECEEFF"/>
                </a:solidFill>
                <a:latin typeface="Calibri"/>
              </a:rPr>
              <a:t>settlement footprint</a:t>
            </a:r>
          </a:p>
        </p:txBody>
      </p:sp>
      <p:sp>
        <p:nvSpPr>
          <p:cNvPr id="30" name="Rounded Rectangle 29"/>
          <p:cNvSpPr/>
          <p:nvPr/>
        </p:nvSpPr>
        <p:spPr>
          <a:xfrm>
            <a:off x="6144768" y="1874519"/>
            <a:ext cx="2670048" cy="278892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44768" y="1874519"/>
            <a:ext cx="2670048" cy="566928"/>
          </a:xfrm>
          <a:prstGeom prst="roundRect">
            <a:avLst>
              <a:gd name="adj" fmla="val 6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44768" y="2240279"/>
            <a:ext cx="2670048" cy="201168"/>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44768" y="1874519"/>
            <a:ext cx="91440" cy="27889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82512" y="1874519"/>
            <a:ext cx="2304288" cy="566928"/>
          </a:xfrm>
          <a:prstGeom prst="rect">
            <a:avLst/>
          </a:prstGeom>
          <a:noFill/>
        </p:spPr>
        <p:txBody>
          <a:bodyPr wrap="square" anchor="ctr" lIns="54864" rIns="54864" tIns="27432" bIns="27432">
            <a:spAutoFit/>
          </a:bodyPr>
          <a:lstStyle/>
          <a:p>
            <a:pPr algn="l">
              <a:spcBef>
                <a:spcPts val="0"/>
              </a:spcBef>
              <a:spcAft>
                <a:spcPts val="0"/>
              </a:spcAft>
            </a:pPr>
            <a:r>
              <a:rPr sz="1250" b="1" i="0" spc="60">
                <a:solidFill>
                  <a:srgbClr val="FF6B6B"/>
                </a:solidFill>
                <a:latin typeface="Calibri"/>
              </a:rPr>
              <a:t>ON-CHAIN (EVM)</a:t>
            </a:r>
          </a:p>
        </p:txBody>
      </p:sp>
      <p:sp>
        <p:nvSpPr>
          <p:cNvPr id="35" name="TextBox 34"/>
          <p:cNvSpPr txBox="1"/>
          <p:nvPr/>
        </p:nvSpPr>
        <p:spPr>
          <a:xfrm>
            <a:off x="6364224" y="2606039"/>
            <a:ext cx="2286000" cy="1920239"/>
          </a:xfrm>
          <a:prstGeom prst="rect">
            <a:avLst/>
          </a:prstGeom>
          <a:noFill/>
        </p:spPr>
        <p:txBody>
          <a:bodyPr wrap="square" anchor="t" lIns="54864" rIns="54864" tIns="27432" bIns="27432">
            <a:spAutoFit/>
          </a:bodyPr>
          <a:lstStyle/>
          <a:p>
            <a:pPr algn="l">
              <a:lnSpc>
                <a:spcPct val="100000"/>
              </a:lnSpc>
              <a:spcBef>
                <a:spcPts val="0"/>
              </a:spcBef>
              <a:spcAft>
                <a:spcPts val="1100"/>
              </a:spcAft>
            </a:pPr>
            <a:r>
              <a:rPr sz="1250" b="1" i="0">
                <a:solidFill>
                  <a:srgbClr val="FF6B6B"/>
                </a:solidFill>
                <a:latin typeface="Calibri"/>
              </a:rPr>
              <a:t>·  </a:t>
            </a:r>
            <a:r>
              <a:rPr sz="1250" b="0" i="0">
                <a:solidFill>
                  <a:srgbClr val="ECEEFF"/>
                </a:solidFill>
                <a:latin typeface="Calibri"/>
              </a:rPr>
              <a:t>real Solidity swap gas</a:t>
            </a:r>
          </a:p>
          <a:p>
            <a:pPr algn="l">
              <a:lnSpc>
                <a:spcPct val="100000"/>
              </a:lnSpc>
              <a:spcBef>
                <a:spcPts val="0"/>
              </a:spcBef>
              <a:spcAft>
                <a:spcPts val="1100"/>
              </a:spcAft>
            </a:pPr>
            <a:r>
              <a:rPr sz="1250" b="1" i="0">
                <a:solidFill>
                  <a:srgbClr val="FF6B6B"/>
                </a:solidFill>
                <a:latin typeface="Calibri"/>
              </a:rPr>
              <a:t>·  </a:t>
            </a:r>
            <a:r>
              <a:rPr sz="1250" b="0" i="0">
                <a:solidFill>
                  <a:srgbClr val="ECEEFF"/>
                </a:solidFill>
                <a:latin typeface="Calibri"/>
              </a:rPr>
              <a:t>claim / fund / refund</a:t>
            </a:r>
          </a:p>
          <a:p>
            <a:pPr algn="l">
              <a:lnSpc>
                <a:spcPct val="100000"/>
              </a:lnSpc>
              <a:spcBef>
                <a:spcPts val="0"/>
              </a:spcBef>
              <a:spcAft>
                <a:spcPts val="1100"/>
              </a:spcAft>
            </a:pPr>
            <a:r>
              <a:rPr sz="1250" b="1" i="0">
                <a:solidFill>
                  <a:srgbClr val="FF6B6B"/>
                </a:solidFill>
                <a:latin typeface="Calibri"/>
              </a:rPr>
              <a:t>·  </a:t>
            </a:r>
            <a:r>
              <a:rPr sz="1250" b="0" i="0">
                <a:solidFill>
                  <a:srgbClr val="ECEEFF"/>
                </a:solidFill>
                <a:latin typeface="Calibri"/>
              </a:rPr>
              <a:t>native-verify cost probe</a:t>
            </a:r>
          </a:p>
        </p:txBody>
      </p:sp>
      <p:sp>
        <p:nvSpPr>
          <p:cNvPr id="36" name="Rounded Rectangle 35"/>
          <p:cNvSpPr/>
          <p:nvPr/>
        </p:nvSpPr>
        <p:spPr>
          <a:xfrm>
            <a:off x="8933687" y="1874519"/>
            <a:ext cx="2670048" cy="278892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933687" y="1874519"/>
            <a:ext cx="2670048" cy="566928"/>
          </a:xfrm>
          <a:prstGeom prst="roundRect">
            <a:avLst>
              <a:gd name="adj" fmla="val 6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33687" y="2240279"/>
            <a:ext cx="2670048" cy="201168"/>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33687" y="1874519"/>
            <a:ext cx="91440" cy="2788920"/>
          </a:xfrm>
          <a:prstGeom prst="rect">
            <a:avLst/>
          </a:prstGeom>
          <a:solidFill>
            <a:srgbClr val="9B8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71431" y="1874519"/>
            <a:ext cx="2304288" cy="566928"/>
          </a:xfrm>
          <a:prstGeom prst="rect">
            <a:avLst/>
          </a:prstGeom>
          <a:noFill/>
        </p:spPr>
        <p:txBody>
          <a:bodyPr wrap="square" anchor="ctr" lIns="54864" rIns="54864" tIns="27432" bIns="27432">
            <a:spAutoFit/>
          </a:bodyPr>
          <a:lstStyle/>
          <a:p>
            <a:pPr algn="l">
              <a:spcBef>
                <a:spcPts val="0"/>
              </a:spcBef>
              <a:spcAft>
                <a:spcPts val="0"/>
              </a:spcAft>
            </a:pPr>
            <a:r>
              <a:rPr sz="1250" b="1" i="0" spc="60">
                <a:solidFill>
                  <a:srgbClr val="9B8CFF"/>
                </a:solidFill>
                <a:latin typeface="Calibri"/>
              </a:rPr>
              <a:t>CORRECTNESS</a:t>
            </a:r>
          </a:p>
        </p:txBody>
      </p:sp>
      <p:sp>
        <p:nvSpPr>
          <p:cNvPr id="41" name="TextBox 40"/>
          <p:cNvSpPr txBox="1"/>
          <p:nvPr/>
        </p:nvSpPr>
        <p:spPr>
          <a:xfrm>
            <a:off x="9153143" y="2606039"/>
            <a:ext cx="2286000" cy="1920239"/>
          </a:xfrm>
          <a:prstGeom prst="rect">
            <a:avLst/>
          </a:prstGeom>
          <a:noFill/>
        </p:spPr>
        <p:txBody>
          <a:bodyPr wrap="square" anchor="t" lIns="54864" rIns="54864" tIns="27432" bIns="27432">
            <a:spAutoFit/>
          </a:bodyPr>
          <a:lstStyle/>
          <a:p>
            <a:pPr algn="l">
              <a:lnSpc>
                <a:spcPct val="100000"/>
              </a:lnSpc>
              <a:spcBef>
                <a:spcPts val="0"/>
              </a:spcBef>
              <a:spcAft>
                <a:spcPts val="1100"/>
              </a:spcAft>
            </a:pPr>
            <a:r>
              <a:rPr sz="1250" b="1" i="0">
                <a:solidFill>
                  <a:srgbClr val="9B8CFF"/>
                </a:solidFill>
                <a:latin typeface="Calibri"/>
              </a:rPr>
              <a:t>·  </a:t>
            </a:r>
            <a:r>
              <a:rPr sz="1250" b="0" i="0">
                <a:solidFill>
                  <a:srgbClr val="ECEEFF"/>
                </a:solidFill>
                <a:latin typeface="Calibri"/>
              </a:rPr>
              <a:t>1000 iters × modes 2/3/5</a:t>
            </a:r>
          </a:p>
          <a:p>
            <a:pPr algn="l">
              <a:lnSpc>
                <a:spcPct val="100000"/>
              </a:lnSpc>
              <a:spcBef>
                <a:spcPts val="0"/>
              </a:spcBef>
              <a:spcAft>
                <a:spcPts val="1100"/>
              </a:spcAft>
            </a:pPr>
            <a:r>
              <a:rPr sz="1250" b="1" i="0">
                <a:solidFill>
                  <a:srgbClr val="9B8CFF"/>
                </a:solidFill>
                <a:latin typeface="Calibri"/>
              </a:rPr>
              <a:t>·  </a:t>
            </a:r>
            <a:r>
              <a:rPr sz="1250" b="0" i="0">
                <a:solidFill>
                  <a:srgbClr val="ECEEFF"/>
                </a:solidFill>
                <a:latin typeface="Calibri"/>
              </a:rPr>
              <a:t>4672 byte-flip forgery test</a:t>
            </a:r>
          </a:p>
          <a:p>
            <a:pPr algn="l">
              <a:lnSpc>
                <a:spcPct val="100000"/>
              </a:lnSpc>
              <a:spcBef>
                <a:spcPts val="0"/>
              </a:spcBef>
              <a:spcAft>
                <a:spcPts val="1100"/>
              </a:spcAft>
            </a:pPr>
            <a:r>
              <a:rPr sz="1250" b="1" i="0">
                <a:solidFill>
                  <a:srgbClr val="9B8CFF"/>
                </a:solidFill>
                <a:latin typeface="Calibri"/>
              </a:rPr>
              <a:t>·  </a:t>
            </a:r>
            <a:r>
              <a:rPr sz="1250" b="0" i="0">
                <a:solidFill>
                  <a:srgbClr val="ECEEFF"/>
                </a:solidFill>
                <a:latin typeface="Calibri"/>
              </a:rPr>
              <a:t>pinned KAT digest</a:t>
            </a:r>
          </a:p>
        </p:txBody>
      </p:sp>
      <p:sp>
        <p:nvSpPr>
          <p:cNvPr id="42" name="Rounded Rectangle 41"/>
          <p:cNvSpPr/>
          <p:nvPr/>
        </p:nvSpPr>
        <p:spPr>
          <a:xfrm>
            <a:off x="566928" y="4983480"/>
            <a:ext cx="10972800" cy="960120"/>
          </a:xfrm>
          <a:prstGeom prst="roundRect">
            <a:avLst>
              <a:gd name="adj" fmla="val 4500"/>
            </a:avLst>
          </a:prstGeom>
          <a:solidFill>
            <a:srgbClr val="161B45"/>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084064"/>
            <a:ext cx="3657600" cy="274320"/>
          </a:xfrm>
          <a:prstGeom prst="rect">
            <a:avLst/>
          </a:prstGeom>
          <a:noFill/>
        </p:spPr>
        <p:txBody>
          <a:bodyPr wrap="square" anchor="t" lIns="54864" rIns="54864" tIns="27432" bIns="27432">
            <a:spAutoFit/>
          </a:bodyPr>
          <a:lstStyle/>
          <a:p>
            <a:pPr algn="l">
              <a:spcBef>
                <a:spcPts val="0"/>
              </a:spcBef>
              <a:spcAft>
                <a:spcPts val="0"/>
              </a:spcAft>
            </a:pPr>
            <a:r>
              <a:rPr sz="1150" b="1" i="0" spc="100">
                <a:solidFill>
                  <a:srgbClr val="9AA0D0"/>
                </a:solidFill>
                <a:latin typeface="Calibri"/>
              </a:rPr>
              <a:t>TWO BASELINES (Meeting-2 B2)</a:t>
            </a:r>
          </a:p>
        </p:txBody>
      </p:sp>
      <p:sp>
        <p:nvSpPr>
          <p:cNvPr id="44" name="TextBox 43"/>
          <p:cNvSpPr txBox="1"/>
          <p:nvPr/>
        </p:nvSpPr>
        <p:spPr>
          <a:xfrm>
            <a:off x="777240" y="5394960"/>
            <a:ext cx="10607040" cy="502920"/>
          </a:xfrm>
          <a:prstGeom prst="rect">
            <a:avLst/>
          </a:prstGeom>
          <a:noFill/>
        </p:spPr>
        <p:txBody>
          <a:bodyPr wrap="square" anchor="t" lIns="54864" rIns="54864" tIns="27432" bIns="27432">
            <a:spAutoFit/>
          </a:bodyPr>
          <a:lstStyle/>
          <a:p>
            <a:pPr algn="l">
              <a:lnSpc>
                <a:spcPct val="100000"/>
              </a:lnSpc>
              <a:spcBef>
                <a:spcPts val="0"/>
              </a:spcBef>
              <a:spcAft>
                <a:spcPts val="400"/>
              </a:spcAft>
            </a:pPr>
            <a:r>
              <a:rPr sz="1350" b="1" i="0">
                <a:solidFill>
                  <a:srgbClr val="9B8CFF"/>
                </a:solidFill>
                <a:latin typeface="Calibri"/>
              </a:rPr>
              <a:t>(i) LAS vs pure Dilithium-3</a:t>
            </a:r>
            <a:r>
              <a:rPr sz="1350" b="0" i="0">
                <a:solidFill>
                  <a:srgbClr val="ECEEFF"/>
                </a:solidFill>
                <a:latin typeface="Calibri"/>
              </a:rPr>
              <a:t>  — feasibility + adaptor overhead.    </a:t>
            </a:r>
            <a:r>
              <a:rPr sz="1350" b="1" i="0">
                <a:solidFill>
                  <a:srgbClr val="FF6B6B"/>
                </a:solidFill>
                <a:latin typeface="Calibri"/>
              </a:rPr>
              <a:t>(ii) LAS vs classical ECDSA-adaptor</a:t>
            </a:r>
            <a:r>
              <a:rPr sz="1350" b="0" i="0">
                <a:solidFill>
                  <a:srgbClr val="ECEEFF"/>
                </a:solidFill>
                <a:latin typeface="Calibri"/>
              </a:rPr>
              <a:t>  — the 'price of post-quantum', same machine &amp; compiler.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49E3CE"/>
                </a:solidFill>
                <a:latin typeface="Calibri"/>
              </a:rPr>
              <a:t>HOW IT WAS MEASURED</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Methodology &amp; rigour — and where to be careful</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03</a:t>
            </a:r>
          </a:p>
        </p:txBody>
      </p:sp>
      <p:sp>
        <p:nvSpPr>
          <p:cNvPr id="18" name="TextBox 17"/>
          <p:cNvSpPr txBox="1"/>
          <p:nvPr/>
        </p:nvSpPr>
        <p:spPr>
          <a:xfrm>
            <a:off x="566928" y="1828800"/>
            <a:ext cx="5669280" cy="3108960"/>
          </a:xfrm>
          <a:prstGeom prst="rect">
            <a:avLst/>
          </a:prstGeom>
          <a:noFill/>
        </p:spPr>
        <p:txBody>
          <a:bodyPr wrap="square" anchor="t" lIns="54864" rIns="54864" tIns="27432" bIns="27432">
            <a:spAutoFit/>
          </a:bodyPr>
          <a:lstStyle/>
          <a:p>
            <a:pPr algn="l">
              <a:lnSpc>
                <a:spcPct val="100000"/>
              </a:lnSpc>
              <a:spcBef>
                <a:spcPts val="0"/>
              </a:spcBef>
              <a:spcAft>
                <a:spcPts val="1400"/>
              </a:spcAft>
            </a:pPr>
            <a:r>
              <a:rPr sz="1400" b="1" i="0">
                <a:solidFill>
                  <a:srgbClr val="49E3CE"/>
                </a:solidFill>
                <a:latin typeface="Calibri"/>
              </a:rPr>
              <a:t>▸  </a:t>
            </a:r>
            <a:r>
              <a:rPr sz="1400" b="0" i="0">
                <a:solidFill>
                  <a:srgbClr val="ECEEFF"/>
                </a:solidFill>
                <a:latin typeface="Calibri"/>
              </a:rPr>
              <a:t>Wall-clock µs/op, </a:t>
            </a:r>
            <a:r>
              <a:rPr sz="1400" b="1" i="0">
                <a:solidFill>
                  <a:srgbClr val="49E3CE"/>
                </a:solidFill>
                <a:latin typeface="Calibri"/>
              </a:rPr>
              <a:t>mode 3, 2000 iters, −O3</a:t>
            </a:r>
            <a:r>
              <a:rPr sz="1400" b="0" i="0">
                <a:solidFill>
                  <a:srgbClr val="ECEEFF"/>
                </a:solidFill>
                <a:latin typeface="Calibri"/>
              </a:rPr>
              <a:t>; medians reported, run-to-run variation a few %.</a:t>
            </a:r>
          </a:p>
          <a:p>
            <a:pPr algn="l">
              <a:lnSpc>
                <a:spcPct val="100000"/>
              </a:lnSpc>
              <a:spcBef>
                <a:spcPts val="0"/>
              </a:spcBef>
              <a:spcAft>
                <a:spcPts val="1400"/>
              </a:spcAft>
            </a:pPr>
            <a:r>
              <a:rPr sz="1400" b="1" i="0">
                <a:solidFill>
                  <a:srgbClr val="49E3CE"/>
                </a:solidFill>
                <a:latin typeface="Calibri"/>
              </a:rPr>
              <a:t>▸  </a:t>
            </a:r>
            <a:r>
              <a:rPr sz="1400" b="0" i="0">
                <a:solidFill>
                  <a:srgbClr val="ECEEFF"/>
                </a:solidFill>
                <a:latin typeface="Calibri"/>
              </a:rPr>
              <a:t>Acceptance measured </a:t>
            </a:r>
            <a:r>
              <a:rPr sz="1400" b="1" i="0">
                <a:solidFill>
                  <a:srgbClr val="49E3CE"/>
                </a:solidFill>
                <a:latin typeface="Calibri"/>
              </a:rPr>
              <a:t>directly</a:t>
            </a:r>
            <a:r>
              <a:rPr sz="1400" b="0" i="0">
                <a:solidFill>
                  <a:srgbClr val="ECEEFF"/>
                </a:solidFill>
                <a:latin typeface="Calibri"/>
              </a:rPr>
              <a:t> via the </a:t>
            </a:r>
            <a:r>
              <a:rPr sz="1400" b="0" i="0">
                <a:solidFill>
                  <a:srgbClr val="49E3CE"/>
                </a:solidFill>
                <a:latin typeface="Consolas"/>
              </a:rPr>
              <a:t>las_attempts</a:t>
            </a:r>
            <a:r>
              <a:rPr sz="1400" b="0" i="0">
                <a:solidFill>
                  <a:srgbClr val="ECEEFF"/>
                </a:solidFill>
                <a:latin typeface="Calibri"/>
              </a:rPr>
              <a:t> counter — not estimated from a timing ratio.</a:t>
            </a:r>
          </a:p>
          <a:p>
            <a:pPr algn="l">
              <a:lnSpc>
                <a:spcPct val="100000"/>
              </a:lnSpc>
              <a:spcBef>
                <a:spcPts val="0"/>
              </a:spcBef>
              <a:spcAft>
                <a:spcPts val="1400"/>
              </a:spcAft>
            </a:pPr>
            <a:r>
              <a:rPr sz="1400" b="1" i="0">
                <a:solidFill>
                  <a:srgbClr val="49E3CE"/>
                </a:solidFill>
                <a:latin typeface="Calibri"/>
              </a:rPr>
              <a:t>▸  </a:t>
            </a:r>
            <a:r>
              <a:rPr sz="1400" b="0" i="0">
                <a:solidFill>
                  <a:srgbClr val="ECEEFF"/>
                </a:solidFill>
                <a:latin typeface="Calibri"/>
              </a:rPr>
              <a:t>Sizes are the </a:t>
            </a:r>
            <a:r>
              <a:rPr sz="1400" b="1" i="0">
                <a:solidFill>
                  <a:srgbClr val="49E3CE"/>
                </a:solidFill>
                <a:latin typeface="Calibri"/>
              </a:rPr>
              <a:t>actual serialised bytes</a:t>
            </a:r>
            <a:r>
              <a:rPr sz="1400" b="0" i="0">
                <a:solidFill>
                  <a:srgbClr val="ECEEFF"/>
                </a:solidFill>
                <a:latin typeface="Calibri"/>
              </a:rPr>
              <a:t> from serialize.c, validated by test_serde — not formulas.</a:t>
            </a:r>
          </a:p>
          <a:p>
            <a:pPr algn="l">
              <a:lnSpc>
                <a:spcPct val="100000"/>
              </a:lnSpc>
              <a:spcBef>
                <a:spcPts val="0"/>
              </a:spcBef>
              <a:spcAft>
                <a:spcPts val="1400"/>
              </a:spcAft>
            </a:pPr>
            <a:r>
              <a:rPr sz="1400" b="1" i="0">
                <a:solidFill>
                  <a:srgbClr val="49E3CE"/>
                </a:solidFill>
                <a:latin typeface="Calibri"/>
              </a:rPr>
              <a:t>▸  </a:t>
            </a:r>
            <a:r>
              <a:rPr sz="1400" b="0" i="0">
                <a:solidFill>
                  <a:srgbClr val="ECEEFF"/>
                </a:solidFill>
                <a:latin typeface="Calibri"/>
              </a:rPr>
              <a:t>EVM gas is </a:t>
            </a:r>
            <a:r>
              <a:rPr sz="1400" b="1" i="0">
                <a:solidFill>
                  <a:srgbClr val="49E3CE"/>
                </a:solidFill>
                <a:latin typeface="Calibri"/>
              </a:rPr>
              <a:t>deterministic</a:t>
            </a:r>
            <a:r>
              <a:rPr sz="1400" b="0" i="0">
                <a:solidFill>
                  <a:srgbClr val="ECEEFF"/>
                </a:solidFill>
                <a:latin typeface="Calibri"/>
              </a:rPr>
              <a:t> (not machine-dependent); same harness mirrors the LAS op-set 1:1.</a:t>
            </a:r>
          </a:p>
        </p:txBody>
      </p:sp>
      <p:sp>
        <p:nvSpPr>
          <p:cNvPr id="19" name="Rounded Rectangle 18"/>
          <p:cNvSpPr/>
          <p:nvPr/>
        </p:nvSpPr>
        <p:spPr>
          <a:xfrm>
            <a:off x="6400800" y="1783080"/>
            <a:ext cx="5138928" cy="4160520"/>
          </a:xfrm>
          <a:prstGeom prst="roundRect">
            <a:avLst>
              <a:gd name="adj" fmla="val 4500"/>
            </a:avLst>
          </a:prstGeom>
          <a:solidFill>
            <a:srgbClr val="161B45"/>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1968" y="1920240"/>
            <a:ext cx="4754880" cy="365760"/>
          </a:xfrm>
          <a:prstGeom prst="rect">
            <a:avLst/>
          </a:prstGeom>
          <a:noFill/>
        </p:spPr>
        <p:txBody>
          <a:bodyPr wrap="square" anchor="t" lIns="54864" rIns="54864" tIns="27432" bIns="27432">
            <a:spAutoFit/>
          </a:bodyPr>
          <a:lstStyle/>
          <a:p>
            <a:pPr algn="l">
              <a:spcBef>
                <a:spcPts val="0"/>
              </a:spcBef>
              <a:spcAft>
                <a:spcPts val="0"/>
              </a:spcAft>
            </a:pPr>
            <a:r>
              <a:rPr sz="1200" b="1" i="0" spc="80">
                <a:solidFill>
                  <a:srgbClr val="FF6B6B"/>
                </a:solidFill>
                <a:latin typeface="Calibri"/>
              </a:rPr>
              <a:t>THREATS TO VALIDITY (stated up front)</a:t>
            </a:r>
          </a:p>
        </p:txBody>
      </p:sp>
      <p:sp>
        <p:nvSpPr>
          <p:cNvPr id="21" name="TextBox 20"/>
          <p:cNvSpPr txBox="1"/>
          <p:nvPr/>
        </p:nvSpPr>
        <p:spPr>
          <a:xfrm>
            <a:off x="6601968" y="2377440"/>
            <a:ext cx="4800600" cy="3383280"/>
          </a:xfrm>
          <a:prstGeom prst="rect">
            <a:avLst/>
          </a:prstGeom>
          <a:noFill/>
        </p:spPr>
        <p:txBody>
          <a:bodyPr wrap="square" anchor="t" lIns="54864" rIns="54864" tIns="27432" bIns="27432">
            <a:spAutoFit/>
          </a:bodyPr>
          <a:lstStyle/>
          <a:p>
            <a:pPr algn="l">
              <a:lnSpc>
                <a:spcPct val="100000"/>
              </a:lnSpc>
              <a:spcBef>
                <a:spcPts val="0"/>
              </a:spcBef>
              <a:spcAft>
                <a:spcPts val="1100"/>
              </a:spcAft>
            </a:pPr>
            <a:r>
              <a:rPr sz="1250" b="1" i="0">
                <a:solidFill>
                  <a:srgbClr val="FF6B6B"/>
                </a:solidFill>
                <a:latin typeface="Calibri"/>
              </a:rPr>
              <a:t>!  </a:t>
            </a:r>
            <a:r>
              <a:rPr sz="1250" b="1" i="0">
                <a:solidFill>
                  <a:srgbClr val="ECEEFF"/>
                </a:solidFill>
                <a:latin typeface="Calibri"/>
              </a:rPr>
              <a:t>libsecp256k1 is constant-time, optimised production code</a:t>
            </a:r>
            <a:r>
              <a:rPr sz="1250" b="0" i="0">
                <a:solidFill>
                  <a:srgbClr val="9AA0D0"/>
                </a:solidFill>
                <a:latin typeface="Calibri"/>
              </a:rPr>
              <a:t> — the timing comparison flatters the classical side.</a:t>
            </a:r>
          </a:p>
          <a:p>
            <a:pPr algn="l">
              <a:lnSpc>
                <a:spcPct val="100000"/>
              </a:lnSpc>
              <a:spcBef>
                <a:spcPts val="0"/>
              </a:spcBef>
              <a:spcAft>
                <a:spcPts val="1100"/>
              </a:spcAft>
            </a:pPr>
            <a:r>
              <a:rPr sz="1250" b="1" i="0">
                <a:solidFill>
                  <a:srgbClr val="FF6B6B"/>
                </a:solidFill>
                <a:latin typeface="Calibri"/>
              </a:rPr>
              <a:t>!  </a:t>
            </a:r>
            <a:r>
              <a:rPr sz="1250" b="1" i="0">
                <a:solidFill>
                  <a:srgbClr val="ECEEFF"/>
                </a:solidFill>
                <a:latin typeface="Calibri"/>
              </a:rPr>
              <a:t>Not a same-security comparison</a:t>
            </a:r>
            <a:r>
              <a:rPr sz="1250" b="0" i="0">
                <a:solidFill>
                  <a:srgbClr val="9AA0D0"/>
                </a:solidFill>
                <a:latin typeface="Calibri"/>
              </a:rPr>
              <a:t>: LAS sits at q≈2²³ with smaller dimensions than Dilithium-3.</a:t>
            </a:r>
          </a:p>
          <a:p>
            <a:pPr algn="l">
              <a:lnSpc>
                <a:spcPct val="100000"/>
              </a:lnSpc>
              <a:spcBef>
                <a:spcPts val="0"/>
              </a:spcBef>
              <a:spcAft>
                <a:spcPts val="1100"/>
              </a:spcAft>
            </a:pPr>
            <a:r>
              <a:rPr sz="1250" b="1" i="0">
                <a:solidFill>
                  <a:srgbClr val="FF6B6B"/>
                </a:solidFill>
                <a:latin typeface="Calibri"/>
              </a:rPr>
              <a:t>!  </a:t>
            </a:r>
            <a:r>
              <a:rPr sz="1250" b="1" i="0">
                <a:solidFill>
                  <a:srgbClr val="ECEEFF"/>
                </a:solidFill>
                <a:latin typeface="Calibri"/>
              </a:rPr>
              <a:t>App-level uses a simulated ledger</a:t>
            </a:r>
            <a:r>
              <a:rPr sz="1250" b="0" i="0">
                <a:solidFill>
                  <a:srgbClr val="9AA0D0"/>
                </a:solidFill>
                <a:latin typeface="Calibri"/>
              </a:rPr>
              <a:t> — byte payloads are a proxy; only §8.4 is real EVM gas.</a:t>
            </a:r>
          </a:p>
          <a:p>
            <a:pPr algn="l">
              <a:lnSpc>
                <a:spcPct val="100000"/>
              </a:lnSpc>
              <a:spcBef>
                <a:spcPts val="0"/>
              </a:spcBef>
              <a:spcAft>
                <a:spcPts val="1100"/>
              </a:spcAft>
            </a:pPr>
            <a:r>
              <a:rPr sz="1250" b="1" i="0">
                <a:solidFill>
                  <a:srgbClr val="FF6B6B"/>
                </a:solidFill>
                <a:latin typeface="Calibri"/>
              </a:rPr>
              <a:t>!  </a:t>
            </a:r>
            <a:r>
              <a:rPr sz="1250" b="1" i="0">
                <a:solidFill>
                  <a:srgbClr val="ECEEFF"/>
                </a:solidFill>
                <a:latin typeface="Calibri"/>
              </a:rPr>
              <a:t>The native-verify probe is gas-faithful, not numerically correct</a:t>
            </a:r>
            <a:r>
              <a:rPr sz="1250" b="0" i="0">
                <a:solidFill>
                  <a:srgbClr val="9AA0D0"/>
                </a:solidFill>
                <a:latin typeface="Calibri"/>
              </a:rPr>
              <a:t> — a lower bound (excludes A′ expansion + unpacking).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49E3CE"/>
                </a:solidFill>
                <a:latin typeface="Calibri"/>
              </a:rPr>
              <a:t>SIGNATURE-LEVEL · TIMINGS</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Per-operation cost — and the adaptor overhead</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04</a:t>
            </a:r>
          </a:p>
        </p:txBody>
      </p:sp>
      <p:sp>
        <p:nvSpPr>
          <p:cNvPr id="18" name="TextBox 17"/>
          <p:cNvSpPr txBox="1"/>
          <p:nvPr/>
        </p:nvSpPr>
        <p:spPr>
          <a:xfrm>
            <a:off x="566928" y="1572768"/>
            <a:ext cx="6949440" cy="320040"/>
          </a:xfrm>
          <a:prstGeom prst="rect">
            <a:avLst/>
          </a:prstGeom>
          <a:noFill/>
        </p:spPr>
        <p:txBody>
          <a:bodyPr wrap="square" anchor="t" lIns="54864" rIns="54864" tIns="27432" bIns="27432">
            <a:spAutoFit/>
          </a:bodyPr>
          <a:lstStyle/>
          <a:p>
            <a:pPr algn="l">
              <a:spcBef>
                <a:spcPts val="0"/>
              </a:spcBef>
              <a:spcAft>
                <a:spcPts val="0"/>
              </a:spcAft>
            </a:pPr>
            <a:r>
              <a:rPr sz="1250" b="0" i="1">
                <a:solidFill>
                  <a:srgbClr val="9AA0D0"/>
                </a:solidFill>
                <a:latin typeface="Calibri"/>
              </a:rPr>
              <a:t>Standalone LAS, mode 3 (bench_las3) — µs/op</a:t>
            </a:r>
          </a:p>
        </p:txBody>
      </p:sp>
      <p:sp>
        <p:nvSpPr>
          <p:cNvPr id="19" name="TextBox 18"/>
          <p:cNvSpPr txBox="1"/>
          <p:nvPr/>
        </p:nvSpPr>
        <p:spPr>
          <a:xfrm>
            <a:off x="566928" y="1993392"/>
            <a:ext cx="1600200" cy="33832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Sign</a:t>
            </a:r>
          </a:p>
        </p:txBody>
      </p:sp>
      <p:sp>
        <p:nvSpPr>
          <p:cNvPr id="20" name="Rounded Rectangle 19"/>
          <p:cNvSpPr/>
          <p:nvPr/>
        </p:nvSpPr>
        <p:spPr>
          <a:xfrm>
            <a:off x="2240280" y="2011680"/>
            <a:ext cx="4480560" cy="301752"/>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240280" y="2011680"/>
            <a:ext cx="4002633" cy="301752"/>
          </a:xfrm>
          <a:prstGeom prst="roundRect">
            <a:avLst>
              <a:gd name="adj" fmla="val 50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353" y="1993392"/>
            <a:ext cx="1554480" cy="338328"/>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49E3CE"/>
                </a:solidFill>
                <a:latin typeface="Consolas"/>
              </a:rPr>
              <a:t>804</a:t>
            </a:r>
          </a:p>
        </p:txBody>
      </p:sp>
      <p:sp>
        <p:nvSpPr>
          <p:cNvPr id="23" name="TextBox 22"/>
          <p:cNvSpPr txBox="1"/>
          <p:nvPr/>
        </p:nvSpPr>
        <p:spPr>
          <a:xfrm>
            <a:off x="566928" y="2418588"/>
            <a:ext cx="1600200" cy="33832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FFB454"/>
                </a:solidFill>
                <a:latin typeface="Calibri"/>
              </a:rPr>
              <a:t>PreSign</a:t>
            </a:r>
          </a:p>
        </p:txBody>
      </p:sp>
      <p:sp>
        <p:nvSpPr>
          <p:cNvPr id="24" name="Rounded Rectangle 23"/>
          <p:cNvSpPr/>
          <p:nvPr/>
        </p:nvSpPr>
        <p:spPr>
          <a:xfrm>
            <a:off x="2240280" y="2436876"/>
            <a:ext cx="4480560" cy="301752"/>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240280" y="2436876"/>
            <a:ext cx="4122115" cy="301752"/>
          </a:xfrm>
          <a:prstGeom prst="roundRect">
            <a:avLst>
              <a:gd name="adj" fmla="val 5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3835" y="2418588"/>
            <a:ext cx="1554480" cy="338328"/>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FFB454"/>
                </a:solidFill>
                <a:latin typeface="Consolas"/>
              </a:rPr>
              <a:t>828</a:t>
            </a:r>
          </a:p>
        </p:txBody>
      </p:sp>
      <p:sp>
        <p:nvSpPr>
          <p:cNvPr id="27" name="TextBox 26"/>
          <p:cNvSpPr txBox="1"/>
          <p:nvPr/>
        </p:nvSpPr>
        <p:spPr>
          <a:xfrm>
            <a:off x="566928" y="2843784"/>
            <a:ext cx="1600200" cy="33832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Verify</a:t>
            </a:r>
          </a:p>
        </p:txBody>
      </p:sp>
      <p:sp>
        <p:nvSpPr>
          <p:cNvPr id="28" name="Rounded Rectangle 27"/>
          <p:cNvSpPr/>
          <p:nvPr/>
        </p:nvSpPr>
        <p:spPr>
          <a:xfrm>
            <a:off x="2240280" y="2862072"/>
            <a:ext cx="4480560" cy="301752"/>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240280" y="2862072"/>
            <a:ext cx="950874" cy="301752"/>
          </a:xfrm>
          <a:prstGeom prst="roundRect">
            <a:avLst>
              <a:gd name="adj" fmla="val 50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82594" y="2843784"/>
            <a:ext cx="1554480" cy="338328"/>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49E3CE"/>
                </a:solidFill>
                <a:latin typeface="Consolas"/>
              </a:rPr>
              <a:t>191</a:t>
            </a:r>
          </a:p>
        </p:txBody>
      </p:sp>
      <p:sp>
        <p:nvSpPr>
          <p:cNvPr id="31" name="TextBox 30"/>
          <p:cNvSpPr txBox="1"/>
          <p:nvPr/>
        </p:nvSpPr>
        <p:spPr>
          <a:xfrm>
            <a:off x="566928" y="3268980"/>
            <a:ext cx="1600200" cy="33832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FFB454"/>
                </a:solidFill>
                <a:latin typeface="Calibri"/>
              </a:rPr>
              <a:t>PreVerify</a:t>
            </a:r>
          </a:p>
        </p:txBody>
      </p:sp>
      <p:sp>
        <p:nvSpPr>
          <p:cNvPr id="32" name="Rounded Rectangle 31"/>
          <p:cNvSpPr/>
          <p:nvPr/>
        </p:nvSpPr>
        <p:spPr>
          <a:xfrm>
            <a:off x="2240280" y="3287268"/>
            <a:ext cx="4480560" cy="301752"/>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240280" y="3287268"/>
            <a:ext cx="980744" cy="301752"/>
          </a:xfrm>
          <a:prstGeom prst="roundRect">
            <a:avLst>
              <a:gd name="adj" fmla="val 5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12464" y="3268980"/>
            <a:ext cx="1554480" cy="338328"/>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FFB454"/>
                </a:solidFill>
                <a:latin typeface="Consolas"/>
              </a:rPr>
              <a:t>197</a:t>
            </a:r>
          </a:p>
        </p:txBody>
      </p:sp>
      <p:sp>
        <p:nvSpPr>
          <p:cNvPr id="35" name="TextBox 34"/>
          <p:cNvSpPr txBox="1"/>
          <p:nvPr/>
        </p:nvSpPr>
        <p:spPr>
          <a:xfrm>
            <a:off x="566928" y="3694176"/>
            <a:ext cx="1600200" cy="33832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FFB454"/>
                </a:solidFill>
                <a:latin typeface="Calibri"/>
              </a:rPr>
              <a:t>Adapt</a:t>
            </a:r>
          </a:p>
        </p:txBody>
      </p:sp>
      <p:sp>
        <p:nvSpPr>
          <p:cNvPr id="36" name="Rounded Rectangle 35"/>
          <p:cNvSpPr/>
          <p:nvPr/>
        </p:nvSpPr>
        <p:spPr>
          <a:xfrm>
            <a:off x="2240280" y="3712464"/>
            <a:ext cx="4480560" cy="301752"/>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240280" y="3712464"/>
            <a:ext cx="1010615" cy="301752"/>
          </a:xfrm>
          <a:prstGeom prst="roundRect">
            <a:avLst>
              <a:gd name="adj" fmla="val 5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42335" y="3694176"/>
            <a:ext cx="1554480" cy="338328"/>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FFB454"/>
                </a:solidFill>
                <a:latin typeface="Consolas"/>
              </a:rPr>
              <a:t>203</a:t>
            </a:r>
          </a:p>
        </p:txBody>
      </p:sp>
      <p:sp>
        <p:nvSpPr>
          <p:cNvPr id="39" name="TextBox 38"/>
          <p:cNvSpPr txBox="1"/>
          <p:nvPr/>
        </p:nvSpPr>
        <p:spPr>
          <a:xfrm>
            <a:off x="566928" y="4119372"/>
            <a:ext cx="1600200" cy="33832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Ext</a:t>
            </a:r>
          </a:p>
        </p:txBody>
      </p:sp>
      <p:sp>
        <p:nvSpPr>
          <p:cNvPr id="40" name="Rounded Rectangle 39"/>
          <p:cNvSpPr/>
          <p:nvPr/>
        </p:nvSpPr>
        <p:spPr>
          <a:xfrm>
            <a:off x="2240280" y="4137660"/>
            <a:ext cx="4480560" cy="301752"/>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240280" y="4137660"/>
            <a:ext cx="338531" cy="301752"/>
          </a:xfrm>
          <a:prstGeom prst="roundRect">
            <a:avLst>
              <a:gd name="adj" fmla="val 50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70251" y="4119372"/>
            <a:ext cx="1554480" cy="338328"/>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49E3CE"/>
                </a:solidFill>
                <a:latin typeface="Consolas"/>
              </a:rPr>
              <a:t>68</a:t>
            </a:r>
          </a:p>
        </p:txBody>
      </p:sp>
      <p:sp>
        <p:nvSpPr>
          <p:cNvPr id="43" name="TextBox 42"/>
          <p:cNvSpPr txBox="1"/>
          <p:nvPr/>
        </p:nvSpPr>
        <p:spPr>
          <a:xfrm>
            <a:off x="566928" y="4544568"/>
            <a:ext cx="1600200" cy="33832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KeyGen</a:t>
            </a:r>
          </a:p>
        </p:txBody>
      </p:sp>
      <p:sp>
        <p:nvSpPr>
          <p:cNvPr id="44" name="Rounded Rectangle 43"/>
          <p:cNvSpPr/>
          <p:nvPr/>
        </p:nvSpPr>
        <p:spPr>
          <a:xfrm>
            <a:off x="2240280" y="4562856"/>
            <a:ext cx="4480560" cy="301752"/>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240280" y="4562856"/>
            <a:ext cx="388315" cy="301752"/>
          </a:xfrm>
          <a:prstGeom prst="roundRect">
            <a:avLst>
              <a:gd name="adj" fmla="val 50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20035" y="4544568"/>
            <a:ext cx="1554480" cy="338328"/>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49E3CE"/>
                </a:solidFill>
                <a:latin typeface="Consolas"/>
              </a:rPr>
              <a:t>78</a:t>
            </a:r>
          </a:p>
        </p:txBody>
      </p:sp>
      <p:sp>
        <p:nvSpPr>
          <p:cNvPr id="47" name="TextBox 46"/>
          <p:cNvSpPr txBox="1"/>
          <p:nvPr/>
        </p:nvSpPr>
        <p:spPr>
          <a:xfrm>
            <a:off x="566928" y="4969764"/>
            <a:ext cx="1600200" cy="33832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Setup</a:t>
            </a:r>
          </a:p>
        </p:txBody>
      </p:sp>
      <p:sp>
        <p:nvSpPr>
          <p:cNvPr id="48" name="Rounded Rectangle 47"/>
          <p:cNvSpPr/>
          <p:nvPr/>
        </p:nvSpPr>
        <p:spPr>
          <a:xfrm>
            <a:off x="2240280" y="4988052"/>
            <a:ext cx="4480560" cy="301752"/>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240280" y="4988052"/>
            <a:ext cx="288747" cy="301752"/>
          </a:xfrm>
          <a:prstGeom prst="roundRect">
            <a:avLst>
              <a:gd name="adj" fmla="val 50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20467" y="4969764"/>
            <a:ext cx="1554480" cy="338328"/>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49E3CE"/>
                </a:solidFill>
                <a:latin typeface="Consolas"/>
              </a:rPr>
              <a:t>58</a:t>
            </a:r>
          </a:p>
        </p:txBody>
      </p:sp>
      <p:sp>
        <p:nvSpPr>
          <p:cNvPr id="51" name="Rounded Rectangle 50"/>
          <p:cNvSpPr/>
          <p:nvPr/>
        </p:nvSpPr>
        <p:spPr>
          <a:xfrm>
            <a:off x="7360920" y="1828800"/>
            <a:ext cx="4160520" cy="1874519"/>
          </a:xfrm>
          <a:prstGeom prst="roundRect">
            <a:avLst>
              <a:gd name="adj" fmla="val 4500"/>
            </a:avLst>
          </a:prstGeom>
          <a:solidFill>
            <a:srgbClr val="262D66"/>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62088" y="1956816"/>
            <a:ext cx="3749039" cy="365760"/>
          </a:xfrm>
          <a:prstGeom prst="rect">
            <a:avLst/>
          </a:prstGeom>
          <a:noFill/>
        </p:spPr>
        <p:txBody>
          <a:bodyPr wrap="square" anchor="t" lIns="54864" rIns="54864" tIns="27432" bIns="27432">
            <a:spAutoFit/>
          </a:bodyPr>
          <a:lstStyle/>
          <a:p>
            <a:pPr algn="l">
              <a:spcBef>
                <a:spcPts val="0"/>
              </a:spcBef>
              <a:spcAft>
                <a:spcPts val="0"/>
              </a:spcAft>
            </a:pPr>
            <a:r>
              <a:rPr sz="1200" b="1" i="0" spc="80">
                <a:solidFill>
                  <a:srgbClr val="49E3CE"/>
                </a:solidFill>
                <a:latin typeface="Calibri"/>
              </a:rPr>
              <a:t>THE ADAPTOR OVERHEAD ≈ 0</a:t>
            </a:r>
          </a:p>
        </p:txBody>
      </p:sp>
      <p:sp>
        <p:nvSpPr>
          <p:cNvPr id="53" name="TextBox 52"/>
          <p:cNvSpPr txBox="1"/>
          <p:nvPr/>
        </p:nvSpPr>
        <p:spPr>
          <a:xfrm>
            <a:off x="7562088" y="2359152"/>
            <a:ext cx="3794760" cy="1280160"/>
          </a:xfrm>
          <a:prstGeom prst="rect">
            <a:avLst/>
          </a:prstGeom>
          <a:noFill/>
        </p:spPr>
        <p:txBody>
          <a:bodyPr wrap="square" anchor="t" lIns="54864" rIns="54864" tIns="27432" bIns="27432">
            <a:spAutoFit/>
          </a:bodyPr>
          <a:lstStyle/>
          <a:p>
            <a:pPr algn="l">
              <a:lnSpc>
                <a:spcPct val="100000"/>
              </a:lnSpc>
              <a:spcBef>
                <a:spcPts val="0"/>
              </a:spcBef>
              <a:spcAft>
                <a:spcPts val="800"/>
              </a:spcAft>
            </a:pPr>
            <a:r>
              <a:rPr sz="1250" b="1" i="0">
                <a:solidFill>
                  <a:srgbClr val="FFB454"/>
                </a:solidFill>
                <a:latin typeface="Consolas"/>
              </a:rPr>
              <a:t>PreSign ≈ Sign</a:t>
            </a:r>
            <a:r>
              <a:rPr sz="1250" b="0" i="0">
                <a:solidFill>
                  <a:srgbClr val="ECEEFF"/>
                </a:solidFill>
                <a:latin typeface="Calibri"/>
              </a:rPr>
              <a:t>  (828 vs 804, ×1.03)</a:t>
            </a:r>
          </a:p>
          <a:p>
            <a:pPr algn="l">
              <a:lnSpc>
                <a:spcPct val="100000"/>
              </a:lnSpc>
              <a:spcBef>
                <a:spcPts val="0"/>
              </a:spcBef>
              <a:spcAft>
                <a:spcPts val="800"/>
              </a:spcAft>
            </a:pPr>
            <a:r>
              <a:rPr sz="1250" b="1" i="0">
                <a:solidFill>
                  <a:srgbClr val="FFB454"/>
                </a:solidFill>
                <a:latin typeface="Consolas"/>
              </a:rPr>
              <a:t>PreVerify ≈ Verify</a:t>
            </a:r>
            <a:r>
              <a:rPr sz="1250" b="0" i="0">
                <a:solidFill>
                  <a:srgbClr val="ECEEFF"/>
                </a:solidFill>
                <a:latin typeface="Calibri"/>
              </a:rPr>
              <a:t>  (197 vs 191, ×1.03)</a:t>
            </a:r>
          </a:p>
          <a:p>
            <a:pPr algn="l">
              <a:lnSpc>
                <a:spcPct val="100000"/>
              </a:lnSpc>
              <a:spcBef>
                <a:spcPts val="0"/>
              </a:spcBef>
              <a:spcAft>
                <a:spcPts val="800"/>
              </a:spcAft>
            </a:pPr>
            <a:r>
              <a:rPr sz="1250" b="0" i="0">
                <a:solidFill>
                  <a:srgbClr val="ECEEFF"/>
                </a:solidFill>
                <a:latin typeface="Calibri"/>
              </a:rPr>
              <a:t>Adapt ≈ Verify</a:t>
            </a:r>
            <a:r>
              <a:rPr sz="1250" b="0" i="0">
                <a:solidFill>
                  <a:srgbClr val="9AA0D0"/>
                </a:solidFill>
                <a:latin typeface="Calibri"/>
              </a:rPr>
              <a:t>;  </a:t>
            </a:r>
            <a:r>
              <a:rPr sz="1250" b="0" i="0">
                <a:solidFill>
                  <a:srgbClr val="ECEEFF"/>
                </a:solidFill>
                <a:latin typeface="Calibri"/>
              </a:rPr>
              <a:t>Ext is the cheapest op.</a:t>
            </a:r>
          </a:p>
        </p:txBody>
      </p:sp>
      <p:sp>
        <p:nvSpPr>
          <p:cNvPr id="54" name="Rounded Rectangle 53"/>
          <p:cNvSpPr/>
          <p:nvPr/>
        </p:nvSpPr>
        <p:spPr>
          <a:xfrm>
            <a:off x="7360920" y="3886200"/>
            <a:ext cx="4160520" cy="205740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62088" y="4005072"/>
            <a:ext cx="3749039" cy="365760"/>
          </a:xfrm>
          <a:prstGeom prst="rect">
            <a:avLst/>
          </a:prstGeom>
          <a:noFill/>
        </p:spPr>
        <p:txBody>
          <a:bodyPr wrap="square" anchor="t" lIns="54864" rIns="54864" tIns="27432" bIns="27432">
            <a:spAutoFit/>
          </a:bodyPr>
          <a:lstStyle/>
          <a:p>
            <a:pPr algn="l">
              <a:spcBef>
                <a:spcPts val="0"/>
              </a:spcBef>
              <a:spcAft>
                <a:spcPts val="0"/>
              </a:spcAft>
            </a:pPr>
            <a:r>
              <a:rPr sz="1150" b="1" i="0" spc="100">
                <a:solidFill>
                  <a:srgbClr val="9AA0D0"/>
                </a:solidFill>
                <a:latin typeface="Calibri"/>
              </a:rPr>
              <a:t>WHY</a:t>
            </a:r>
          </a:p>
        </p:txBody>
      </p:sp>
      <p:sp>
        <p:nvSpPr>
          <p:cNvPr id="56" name="TextBox 55"/>
          <p:cNvSpPr txBox="1"/>
          <p:nvPr/>
        </p:nvSpPr>
        <p:spPr>
          <a:xfrm>
            <a:off x="7562088" y="4370832"/>
            <a:ext cx="3794760" cy="1463040"/>
          </a:xfrm>
          <a:prstGeom prst="rect">
            <a:avLst/>
          </a:prstGeom>
          <a:noFill/>
        </p:spPr>
        <p:txBody>
          <a:bodyPr wrap="square" anchor="t" lIns="54864" rIns="54864" tIns="27432" bIns="27432">
            <a:spAutoFit/>
          </a:bodyPr>
          <a:lstStyle/>
          <a:p>
            <a:pPr algn="l">
              <a:lnSpc>
                <a:spcPct val="100000"/>
              </a:lnSpc>
              <a:spcBef>
                <a:spcPts val="0"/>
              </a:spcBef>
              <a:spcAft>
                <a:spcPts val="900"/>
              </a:spcAft>
            </a:pPr>
            <a:r>
              <a:rPr sz="1250" b="1" i="0">
                <a:solidFill>
                  <a:srgbClr val="49E3CE"/>
                </a:solidFill>
                <a:latin typeface="Calibri"/>
              </a:rPr>
              <a:t>▸  </a:t>
            </a:r>
            <a:r>
              <a:rPr sz="1250" b="0" i="0">
                <a:solidFill>
                  <a:srgbClr val="ECEEFF"/>
                </a:solidFill>
                <a:latin typeface="Calibri"/>
              </a:rPr>
              <a:t>Folding the statement into the hash, </a:t>
            </a:r>
            <a:r>
              <a:rPr sz="1250" b="0" i="0">
                <a:solidFill>
                  <a:srgbClr val="49E3CE"/>
                </a:solidFill>
                <a:latin typeface="Consolas"/>
              </a:rPr>
              <a:t>H(pk, w+Y, M)</a:t>
            </a:r>
            <a:r>
              <a:rPr sz="1250" b="0" i="0">
                <a:solidFill>
                  <a:srgbClr val="ECEEFF"/>
                </a:solidFill>
                <a:latin typeface="Calibri"/>
              </a:rPr>
              <a:t>, is free — one extra polynomial add.</a:t>
            </a:r>
          </a:p>
          <a:p>
            <a:pPr algn="l">
              <a:lnSpc>
                <a:spcPct val="100000"/>
              </a:lnSpc>
              <a:spcBef>
                <a:spcPts val="0"/>
              </a:spcBef>
              <a:spcAft>
                <a:spcPts val="900"/>
              </a:spcAft>
            </a:pPr>
            <a:r>
              <a:rPr sz="1250" b="1" i="0">
                <a:solidFill>
                  <a:srgbClr val="49E3CE"/>
                </a:solidFill>
                <a:latin typeface="Calibri"/>
              </a:rPr>
              <a:t>▸  </a:t>
            </a:r>
            <a:r>
              <a:rPr sz="1250" b="0" i="0">
                <a:solidFill>
                  <a:srgbClr val="ECEEFF"/>
                </a:solidFill>
                <a:latin typeface="Calibri"/>
              </a:rPr>
              <a:t>Adding adaptor capability costs </a:t>
            </a:r>
            <a:r>
              <a:rPr sz="1250" b="1" i="0">
                <a:solidFill>
                  <a:srgbClr val="49E3CE"/>
                </a:solidFill>
                <a:latin typeface="Calibri"/>
              </a:rPr>
              <a:t>essentially nothing</a:t>
            </a:r>
            <a:r>
              <a:rPr sz="1250" b="0" i="0">
                <a:solidFill>
                  <a:srgbClr val="ECEEFF"/>
                </a:solidFill>
                <a:latin typeface="Calibri"/>
              </a:rPr>
              <a:t> over the base scheme.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49E3CE"/>
                </a:solidFill>
                <a:latin typeface="Calibri"/>
              </a:rPr>
              <a:t>SIGNATURE-LEVEL · REJECTION SAMPLING</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Acceptance rate: measured, and it matches theory</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05</a:t>
            </a:r>
          </a:p>
        </p:txBody>
      </p:sp>
      <p:sp>
        <p:nvSpPr>
          <p:cNvPr id="18" name="Rounded Rectangle 17"/>
          <p:cNvSpPr/>
          <p:nvPr/>
        </p:nvSpPr>
        <p:spPr>
          <a:xfrm>
            <a:off x="566928" y="1828800"/>
            <a:ext cx="3200400" cy="1554480"/>
          </a:xfrm>
          <a:prstGeom prst="roundRect">
            <a:avLst>
              <a:gd name="adj" fmla="val 4500"/>
            </a:avLst>
          </a:prstGeom>
          <a:solidFill>
            <a:srgbClr val="262D66"/>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1956816"/>
            <a:ext cx="2798064" cy="777240"/>
          </a:xfrm>
          <a:prstGeom prst="rect">
            <a:avLst/>
          </a:prstGeom>
          <a:noFill/>
        </p:spPr>
        <p:txBody>
          <a:bodyPr wrap="square" anchor="t" lIns="54864" rIns="54864" tIns="27432" bIns="27432">
            <a:spAutoFit/>
          </a:bodyPr>
          <a:lstStyle/>
          <a:p>
            <a:pPr algn="l">
              <a:spcBef>
                <a:spcPts val="0"/>
              </a:spcBef>
              <a:spcAft>
                <a:spcPts val="0"/>
              </a:spcAft>
            </a:pPr>
            <a:r>
              <a:rPr sz="4200" b="1" i="0">
                <a:solidFill>
                  <a:srgbClr val="49E3CE"/>
                </a:solidFill>
                <a:latin typeface="Georgia"/>
              </a:rPr>
              <a:t>≈ 37%</a:t>
            </a:r>
          </a:p>
        </p:txBody>
      </p:sp>
      <p:sp>
        <p:nvSpPr>
          <p:cNvPr id="20" name="TextBox 19"/>
          <p:cNvSpPr txBox="1"/>
          <p:nvPr/>
        </p:nvSpPr>
        <p:spPr>
          <a:xfrm>
            <a:off x="768096" y="2660904"/>
            <a:ext cx="2798064" cy="685800"/>
          </a:xfrm>
          <a:prstGeom prst="rect">
            <a:avLst/>
          </a:prstGeom>
          <a:noFill/>
        </p:spPr>
        <p:txBody>
          <a:bodyPr wrap="square" anchor="t" lIns="54864" rIns="54864" tIns="27432" bIns="27432">
            <a:spAutoFit/>
          </a:bodyPr>
          <a:lstStyle/>
          <a:p>
            <a:pPr algn="l">
              <a:lnSpc>
                <a:spcPct val="104000"/>
              </a:lnSpc>
              <a:spcBef>
                <a:spcPts val="0"/>
              </a:spcBef>
              <a:spcAft>
                <a:spcPts val="0"/>
              </a:spcAft>
            </a:pPr>
            <a:r>
              <a:rPr sz="1200" b="0" i="0">
                <a:solidFill>
                  <a:srgbClr val="ECEEFF"/>
                </a:solidFill>
                <a:latin typeface="Calibri"/>
              </a:rPr>
              <a:t>per-attempt acceptance
(Sign 36.9% · PreSign 36.1%)</a:t>
            </a:r>
          </a:p>
        </p:txBody>
      </p:sp>
      <p:sp>
        <p:nvSpPr>
          <p:cNvPr id="21" name="Rounded Rectangle 20"/>
          <p:cNvSpPr/>
          <p:nvPr/>
        </p:nvSpPr>
        <p:spPr>
          <a:xfrm>
            <a:off x="3931920" y="1828800"/>
            <a:ext cx="3200400" cy="1554480"/>
          </a:xfrm>
          <a:prstGeom prst="roundRect">
            <a:avLst>
              <a:gd name="adj" fmla="val 4500"/>
            </a:avLst>
          </a:prstGeom>
          <a:solidFill>
            <a:srgbClr val="262D66"/>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33087" y="1956816"/>
            <a:ext cx="2798064" cy="777240"/>
          </a:xfrm>
          <a:prstGeom prst="rect">
            <a:avLst/>
          </a:prstGeom>
          <a:noFill/>
        </p:spPr>
        <p:txBody>
          <a:bodyPr wrap="square" anchor="t" lIns="54864" rIns="54864" tIns="27432" bIns="27432">
            <a:spAutoFit/>
          </a:bodyPr>
          <a:lstStyle/>
          <a:p>
            <a:pPr algn="l">
              <a:spcBef>
                <a:spcPts val="0"/>
              </a:spcBef>
              <a:spcAft>
                <a:spcPts val="0"/>
              </a:spcAft>
            </a:pPr>
            <a:r>
              <a:rPr sz="4200" b="1" i="0">
                <a:solidFill>
                  <a:srgbClr val="49E3CE"/>
                </a:solidFill>
                <a:latin typeface="Georgia"/>
              </a:rPr>
              <a:t>≈ 2.7</a:t>
            </a:r>
          </a:p>
        </p:txBody>
      </p:sp>
      <p:sp>
        <p:nvSpPr>
          <p:cNvPr id="23" name="TextBox 22"/>
          <p:cNvSpPr txBox="1"/>
          <p:nvPr/>
        </p:nvSpPr>
        <p:spPr>
          <a:xfrm>
            <a:off x="4133087" y="2660904"/>
            <a:ext cx="2798064" cy="685800"/>
          </a:xfrm>
          <a:prstGeom prst="rect">
            <a:avLst/>
          </a:prstGeom>
          <a:noFill/>
        </p:spPr>
        <p:txBody>
          <a:bodyPr wrap="square" anchor="t" lIns="54864" rIns="54864" tIns="27432" bIns="27432">
            <a:spAutoFit/>
          </a:bodyPr>
          <a:lstStyle/>
          <a:p>
            <a:pPr algn="l">
              <a:lnSpc>
                <a:spcPct val="104000"/>
              </a:lnSpc>
              <a:spcBef>
                <a:spcPts val="0"/>
              </a:spcBef>
              <a:spcAft>
                <a:spcPts val="0"/>
              </a:spcAft>
            </a:pPr>
            <a:r>
              <a:rPr sz="1200" b="0" i="0">
                <a:solidFill>
                  <a:srgbClr val="ECEEFF"/>
                </a:solidFill>
                <a:latin typeface="Calibri"/>
              </a:rPr>
              <a:t>attempts / signature
(Sign 2.71 · PreSign 2.77)</a:t>
            </a:r>
          </a:p>
        </p:txBody>
      </p:sp>
      <p:sp>
        <p:nvSpPr>
          <p:cNvPr id="24" name="Rounded Rectangle 23"/>
          <p:cNvSpPr/>
          <p:nvPr/>
        </p:nvSpPr>
        <p:spPr>
          <a:xfrm>
            <a:off x="566928" y="3611880"/>
            <a:ext cx="6565392" cy="1417320"/>
          </a:xfrm>
          <a:prstGeom prst="roundRect">
            <a:avLst>
              <a:gd name="adj" fmla="val 4000"/>
            </a:avLst>
          </a:prstGeom>
          <a:solidFill>
            <a:srgbClr val="0A0D28"/>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3758184"/>
            <a:ext cx="6272783" cy="274320"/>
          </a:xfrm>
          <a:prstGeom prst="rect">
            <a:avLst/>
          </a:prstGeom>
          <a:noFill/>
        </p:spPr>
        <p:txBody>
          <a:bodyPr wrap="square" anchor="t" lIns="54864" rIns="54864" tIns="27432" bIns="27432">
            <a:spAutoFit/>
          </a:bodyPr>
          <a:lstStyle/>
          <a:p>
            <a:pPr algn="l">
              <a:spcBef>
                <a:spcPts val="0"/>
              </a:spcBef>
              <a:spcAft>
                <a:spcPts val="0"/>
              </a:spcAft>
            </a:pPr>
            <a:r>
              <a:rPr sz="1100" b="1" i="0" spc="150">
                <a:solidFill>
                  <a:srgbClr val="49E3CE"/>
                </a:solidFill>
                <a:latin typeface="Calibri"/>
              </a:rPr>
              <a:t>MATCHES THE CLOSED FORM</a:t>
            </a:r>
          </a:p>
        </p:txBody>
      </p:sp>
      <p:sp>
        <p:nvSpPr>
          <p:cNvPr id="26" name="TextBox 25"/>
          <p:cNvSpPr txBox="1"/>
          <p:nvPr/>
        </p:nvSpPr>
        <p:spPr>
          <a:xfrm>
            <a:off x="713232" y="4069080"/>
            <a:ext cx="6272783" cy="813816"/>
          </a:xfrm>
          <a:prstGeom prst="rect">
            <a:avLst/>
          </a:prstGeom>
          <a:noFill/>
        </p:spPr>
        <p:txBody>
          <a:bodyPr wrap="square" anchor="t" lIns="54864" rIns="54864" tIns="27432" bIns="27432">
            <a:spAutoFit/>
          </a:bodyPr>
          <a:lstStyle/>
          <a:p>
            <a:pPr algn="l">
              <a:lnSpc>
                <a:spcPct val="104000"/>
              </a:lnSpc>
              <a:spcBef>
                <a:spcPts val="0"/>
              </a:spcBef>
              <a:spcAft>
                <a:spcPts val="300"/>
              </a:spcAft>
            </a:pPr>
            <a:r>
              <a:rPr sz="1350" b="0" i="0">
                <a:solidFill>
                  <a:srgbClr val="ECEEFF"/>
                </a:solidFill>
                <a:latin typeface="Consolas"/>
              </a:rPr>
              <a:t>(1 - k/g)^((n+l)*N) = (1 - 60/122880)^2048</a:t>
            </a:r>
          </a:p>
          <a:p>
            <a:pPr algn="l">
              <a:lnSpc>
                <a:spcPct val="104000"/>
              </a:lnSpc>
              <a:spcBef>
                <a:spcPts val="0"/>
              </a:spcBef>
              <a:spcAft>
                <a:spcPts val="300"/>
              </a:spcAft>
            </a:pPr>
            <a:r>
              <a:rPr sz="1350" b="0" i="0">
                <a:solidFill>
                  <a:srgbClr val="ECEEFF"/>
                </a:solidFill>
                <a:latin typeface="Consolas"/>
              </a:rPr>
              <a:t>                   ~= e^(-1) ~= 36.8%   -&gt;  ~2.72 attempts</a:t>
            </a:r>
          </a:p>
        </p:txBody>
      </p:sp>
      <p:sp>
        <p:nvSpPr>
          <p:cNvPr id="27" name="TextBox 26"/>
          <p:cNvSpPr txBox="1"/>
          <p:nvPr/>
        </p:nvSpPr>
        <p:spPr>
          <a:xfrm>
            <a:off x="566928" y="5212080"/>
            <a:ext cx="6583680" cy="1097280"/>
          </a:xfrm>
          <a:prstGeom prst="rect">
            <a:avLst/>
          </a:prstGeom>
          <a:noFill/>
        </p:spPr>
        <p:txBody>
          <a:bodyPr wrap="square" anchor="t" lIns="54864" rIns="54864" tIns="27432" bIns="27432">
            <a:spAutoFit/>
          </a:bodyPr>
          <a:lstStyle/>
          <a:p>
            <a:pPr algn="l">
              <a:lnSpc>
                <a:spcPct val="100000"/>
              </a:lnSpc>
              <a:spcBef>
                <a:spcPts val="0"/>
              </a:spcBef>
              <a:spcAft>
                <a:spcPts val="800"/>
              </a:spcAft>
            </a:pPr>
            <a:r>
              <a:rPr sz="1250" b="1" i="0">
                <a:solidFill>
                  <a:srgbClr val="49E3CE"/>
                </a:solidFill>
                <a:latin typeface="Calibri"/>
              </a:rPr>
              <a:t>▸  </a:t>
            </a:r>
            <a:r>
              <a:rPr sz="1250" b="0" i="0">
                <a:solidFill>
                  <a:srgbClr val="ECEEFF"/>
                </a:solidFill>
                <a:latin typeface="Calibri"/>
              </a:rPr>
              <a:t>Intrinsic to Fiat–Shamir-with-aborts; </a:t>
            </a:r>
            <a:r>
              <a:rPr sz="1250" b="0" i="0">
                <a:solidFill>
                  <a:srgbClr val="49E3CE"/>
                </a:solidFill>
                <a:latin typeface="Consolas"/>
              </a:rPr>
              <a:t>γ = κ·d·(n+ℓ)</a:t>
            </a:r>
            <a:r>
              <a:rPr sz="1250" b="0" i="0">
                <a:solidFill>
                  <a:srgbClr val="ECEEFF"/>
                </a:solidFill>
                <a:latin typeface="Calibri"/>
              </a:rPr>
              <a:t> governs MSIS hardness, not the accept rate.</a:t>
            </a:r>
          </a:p>
          <a:p>
            <a:pPr algn="l">
              <a:lnSpc>
                <a:spcPct val="100000"/>
              </a:lnSpc>
              <a:spcBef>
                <a:spcPts val="0"/>
              </a:spcBef>
              <a:spcAft>
                <a:spcPts val="800"/>
              </a:spcAft>
            </a:pPr>
            <a:r>
              <a:rPr sz="1250" b="1" i="0">
                <a:solidFill>
                  <a:srgbClr val="49E3CE"/>
                </a:solidFill>
                <a:latin typeface="Calibri"/>
              </a:rPr>
              <a:t>▸  </a:t>
            </a:r>
            <a:r>
              <a:rPr sz="1250" b="0" i="0">
                <a:solidFill>
                  <a:srgbClr val="ECEEFF"/>
                </a:solidFill>
                <a:latin typeface="Calibri"/>
              </a:rPr>
              <a:t>Hint-free does </a:t>
            </a:r>
            <a:r>
              <a:rPr sz="1250" b="1" i="0">
                <a:solidFill>
                  <a:srgbClr val="FFB454"/>
                </a:solidFill>
                <a:latin typeface="Calibri"/>
              </a:rPr>
              <a:t>not</a:t>
            </a:r>
            <a:r>
              <a:rPr sz="1250" b="0" i="0">
                <a:solidFill>
                  <a:srgbClr val="ECEEFF"/>
                </a:solidFill>
                <a:latin typeface="Calibri"/>
              </a:rPr>
              <a:t> worsen acceptance — optimised Dilithium rejects on more conditions, not fewer.</a:t>
            </a:r>
          </a:p>
        </p:txBody>
      </p:sp>
      <p:sp>
        <p:nvSpPr>
          <p:cNvPr id="28" name="Rounded Rectangle 27"/>
          <p:cNvSpPr/>
          <p:nvPr/>
        </p:nvSpPr>
        <p:spPr>
          <a:xfrm>
            <a:off x="7315200" y="1828800"/>
            <a:ext cx="4224528" cy="4114800"/>
          </a:xfrm>
          <a:prstGeom prst="roundRect">
            <a:avLst>
              <a:gd name="adj" fmla="val 4500"/>
            </a:avLst>
          </a:prstGeom>
          <a:solidFill>
            <a:srgbClr val="161B45"/>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6368" y="1956816"/>
            <a:ext cx="3840480" cy="365760"/>
          </a:xfrm>
          <a:prstGeom prst="rect">
            <a:avLst/>
          </a:prstGeom>
          <a:noFill/>
        </p:spPr>
        <p:txBody>
          <a:bodyPr wrap="square" anchor="t" lIns="54864" rIns="54864" tIns="27432" bIns="27432">
            <a:spAutoFit/>
          </a:bodyPr>
          <a:lstStyle/>
          <a:p>
            <a:pPr algn="l">
              <a:spcBef>
                <a:spcPts val="0"/>
              </a:spcBef>
              <a:spcAft>
                <a:spcPts val="0"/>
              </a:spcAft>
            </a:pPr>
            <a:r>
              <a:rPr sz="1200" b="1" i="0" spc="80">
                <a:solidFill>
                  <a:srgbClr val="FFB454"/>
                </a:solidFill>
                <a:latin typeface="Calibri"/>
              </a:rPr>
              <a:t>A METHODOLOGY CORRECTION</a:t>
            </a:r>
          </a:p>
        </p:txBody>
      </p:sp>
      <p:sp>
        <p:nvSpPr>
          <p:cNvPr id="30" name="TextBox 29"/>
          <p:cNvSpPr txBox="1"/>
          <p:nvPr/>
        </p:nvSpPr>
        <p:spPr>
          <a:xfrm>
            <a:off x="7516368" y="2395728"/>
            <a:ext cx="3886200" cy="3383280"/>
          </a:xfrm>
          <a:prstGeom prst="rect">
            <a:avLst/>
          </a:prstGeom>
          <a:noFill/>
        </p:spPr>
        <p:txBody>
          <a:bodyPr wrap="square" anchor="t" lIns="54864" rIns="54864" tIns="27432" bIns="27432">
            <a:spAutoFit/>
          </a:bodyPr>
          <a:lstStyle/>
          <a:p>
            <a:pPr algn="l">
              <a:lnSpc>
                <a:spcPct val="100000"/>
              </a:lnSpc>
              <a:spcBef>
                <a:spcPts val="0"/>
              </a:spcBef>
              <a:spcAft>
                <a:spcPts val="1100"/>
              </a:spcAft>
            </a:pPr>
            <a:r>
              <a:rPr sz="1250" b="1" i="0">
                <a:solidFill>
                  <a:srgbClr val="FFB454"/>
                </a:solidFill>
                <a:latin typeface="Calibri"/>
              </a:rPr>
              <a:t>▸  </a:t>
            </a:r>
            <a:r>
              <a:rPr sz="1250" b="0" i="0">
                <a:solidFill>
                  <a:srgbClr val="ECEEFF"/>
                </a:solidFill>
                <a:latin typeface="Calibri"/>
              </a:rPr>
              <a:t>An earlier bench </a:t>
            </a:r>
            <a:r>
              <a:rPr sz="1250" b="1" i="0">
                <a:solidFill>
                  <a:srgbClr val="FF6B6B"/>
                </a:solidFill>
                <a:latin typeface="Calibri"/>
              </a:rPr>
              <a:t>estimated</a:t>
            </a:r>
            <a:r>
              <a:rPr sz="1250" b="0" i="0">
                <a:solidFill>
                  <a:srgbClr val="ECEEFF"/>
                </a:solidFill>
                <a:latin typeface="Calibri"/>
              </a:rPr>
              <a:t> retries from the timing ratio </a:t>
            </a:r>
            <a:r>
              <a:rPr sz="1250" b="0" i="0">
                <a:solidFill>
                  <a:srgbClr val="FF6B6B"/>
                </a:solidFill>
                <a:latin typeface="Consolas"/>
              </a:rPr>
              <a:t>t_sign / t_verify</a:t>
            </a:r>
            <a:r>
              <a:rPr sz="1250" b="0" i="0">
                <a:solidFill>
                  <a:srgbClr val="ECEEFF"/>
                </a:solidFill>
                <a:latin typeface="Calibri"/>
              </a:rPr>
              <a:t> → reported ~23% (~4.3 attempts).</a:t>
            </a:r>
          </a:p>
          <a:p>
            <a:pPr algn="l">
              <a:lnSpc>
                <a:spcPct val="100000"/>
              </a:lnSpc>
              <a:spcBef>
                <a:spcPts val="0"/>
              </a:spcBef>
              <a:spcAft>
                <a:spcPts val="1100"/>
              </a:spcAft>
            </a:pPr>
            <a:r>
              <a:rPr sz="1250" b="1" i="0">
                <a:solidFill>
                  <a:srgbClr val="FFB454"/>
                </a:solidFill>
                <a:latin typeface="Calibri"/>
              </a:rPr>
              <a:t>▸  </a:t>
            </a:r>
            <a:r>
              <a:rPr sz="1250" b="0" i="0">
                <a:solidFill>
                  <a:srgbClr val="ECEEFF"/>
                </a:solidFill>
                <a:latin typeface="Calibri"/>
              </a:rPr>
              <a:t>That estimator is </a:t>
            </a:r>
            <a:r>
              <a:rPr sz="1250" b="1" i="0">
                <a:solidFill>
                  <a:srgbClr val="FF6B6B"/>
                </a:solidFill>
                <a:latin typeface="Calibri"/>
              </a:rPr>
              <a:t>biased</a:t>
            </a:r>
            <a:r>
              <a:rPr sz="1250" b="0" i="0">
                <a:solidFill>
                  <a:srgbClr val="ECEEFF"/>
                </a:solidFill>
                <a:latin typeface="Calibri"/>
              </a:rPr>
              <a:t>: a Sign attempt does n+ℓ=8 c·r products vs Verify's n=4 — so it over-counts.</a:t>
            </a:r>
          </a:p>
          <a:p>
            <a:pPr algn="l">
              <a:lnSpc>
                <a:spcPct val="100000"/>
              </a:lnSpc>
              <a:spcBef>
                <a:spcPts val="0"/>
              </a:spcBef>
              <a:spcAft>
                <a:spcPts val="1100"/>
              </a:spcAft>
            </a:pPr>
            <a:r>
              <a:rPr sz="1250" b="1" i="0">
                <a:solidFill>
                  <a:srgbClr val="FFB454"/>
                </a:solidFill>
                <a:latin typeface="Calibri"/>
              </a:rPr>
              <a:t>▸  </a:t>
            </a:r>
            <a:r>
              <a:rPr sz="1250" b="0" i="0">
                <a:solidFill>
                  <a:srgbClr val="ECEEFF"/>
                </a:solidFill>
                <a:latin typeface="Calibri"/>
              </a:rPr>
              <a:t>The </a:t>
            </a:r>
            <a:r>
              <a:rPr sz="1250" b="1" i="0">
                <a:solidFill>
                  <a:srgbClr val="49E3CE"/>
                </a:solidFill>
                <a:latin typeface="Calibri"/>
              </a:rPr>
              <a:t>direct counter</a:t>
            </a:r>
            <a:r>
              <a:rPr sz="1250" b="0" i="0">
                <a:solidFill>
                  <a:srgbClr val="ECEEFF"/>
                </a:solidFill>
                <a:latin typeface="Calibri"/>
              </a:rPr>
              <a:t> (~37%, ~2.7) supersedes it and agrees with the e⁻¹ line.</a:t>
            </a:r>
          </a:p>
          <a:p>
            <a:pPr algn="l">
              <a:lnSpc>
                <a:spcPct val="100000"/>
              </a:lnSpc>
              <a:spcBef>
                <a:spcPts val="0"/>
              </a:spcBef>
              <a:spcAft>
                <a:spcPts val="1100"/>
              </a:spcAft>
            </a:pPr>
            <a:r>
              <a:rPr sz="1250" b="1" i="0">
                <a:solidFill>
                  <a:srgbClr val="FFB454"/>
                </a:solidFill>
                <a:latin typeface="Calibri"/>
              </a:rPr>
              <a:t>▸  </a:t>
            </a:r>
            <a:r>
              <a:rPr sz="1250" b="1" i="1">
                <a:solidFill>
                  <a:srgbClr val="49E3CE"/>
                </a:solidFill>
                <a:latin typeface="Calibri"/>
              </a:rPr>
              <a:t>Prefer direct measurement to a proxy.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49E3CE"/>
                </a:solidFill>
                <a:latin typeface="Calibri"/>
              </a:rPr>
              <a:t>SIGNATURE-LEVEL · SIZES</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Object sizes: three distinct numbers — don't confuse them</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06</a:t>
            </a:r>
          </a:p>
        </p:txBody>
      </p:sp>
      <p:sp>
        <p:nvSpPr>
          <p:cNvPr id="18" name="Rectangle 17"/>
          <p:cNvSpPr/>
          <p:nvPr/>
        </p:nvSpPr>
        <p:spPr>
          <a:xfrm>
            <a:off x="566928" y="1828800"/>
            <a:ext cx="9235440" cy="457200"/>
          </a:xfrm>
          <a:prstGeom prst="rect">
            <a:avLst/>
          </a:prstGeom>
          <a:solidFill>
            <a:srgbClr val="262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1828800"/>
            <a:ext cx="2148839" cy="457200"/>
          </a:xfrm>
          <a:prstGeom prst="rect">
            <a:avLst/>
          </a:prstGeom>
          <a:noFill/>
        </p:spPr>
        <p:txBody>
          <a:bodyPr wrap="square" anchor="ctr" lIns="54864" rIns="54864" tIns="27432" bIns="27432">
            <a:spAutoFit/>
          </a:bodyPr>
          <a:lstStyle/>
          <a:p>
            <a:pPr algn="l">
              <a:spcBef>
                <a:spcPts val="0"/>
              </a:spcBef>
              <a:spcAft>
                <a:spcPts val="0"/>
              </a:spcAft>
            </a:pPr>
            <a:r>
              <a:rPr sz="1150" b="1" i="0" spc="60">
                <a:solidFill>
                  <a:srgbClr val="9AA0D0"/>
                </a:solidFill>
                <a:latin typeface="Calibri"/>
              </a:rPr>
              <a:t>OBJECT</a:t>
            </a:r>
          </a:p>
        </p:txBody>
      </p:sp>
      <p:sp>
        <p:nvSpPr>
          <p:cNvPr id="20" name="TextBox 19"/>
          <p:cNvSpPr txBox="1"/>
          <p:nvPr/>
        </p:nvSpPr>
        <p:spPr>
          <a:xfrm>
            <a:off x="3063240" y="1828800"/>
            <a:ext cx="2057400" cy="457200"/>
          </a:xfrm>
          <a:prstGeom prst="rect">
            <a:avLst/>
          </a:prstGeom>
          <a:noFill/>
        </p:spPr>
        <p:txBody>
          <a:bodyPr wrap="square" anchor="ctr" lIns="54864" rIns="54864" tIns="27432" bIns="27432">
            <a:spAutoFit/>
          </a:bodyPr>
          <a:lstStyle/>
          <a:p>
            <a:pPr algn="l">
              <a:spcBef>
                <a:spcPts val="0"/>
              </a:spcBef>
              <a:spcAft>
                <a:spcPts val="0"/>
              </a:spcAft>
            </a:pPr>
            <a:r>
              <a:rPr sz="1150" b="1" i="0" spc="60">
                <a:solidFill>
                  <a:srgbClr val="9AA0D0"/>
                </a:solidFill>
                <a:latin typeface="Calibri"/>
              </a:rPr>
              <a:t>IN-MEMORY sizeof</a:t>
            </a:r>
          </a:p>
        </p:txBody>
      </p:sp>
      <p:sp>
        <p:nvSpPr>
          <p:cNvPr id="21" name="TextBox 20"/>
          <p:cNvSpPr txBox="1"/>
          <p:nvPr/>
        </p:nvSpPr>
        <p:spPr>
          <a:xfrm>
            <a:off x="5303520" y="1828800"/>
            <a:ext cx="2194560" cy="457200"/>
          </a:xfrm>
          <a:prstGeom prst="rect">
            <a:avLst/>
          </a:prstGeom>
          <a:noFill/>
        </p:spPr>
        <p:txBody>
          <a:bodyPr wrap="square" anchor="ctr" lIns="54864" rIns="54864" tIns="27432" bIns="27432">
            <a:spAutoFit/>
          </a:bodyPr>
          <a:lstStyle/>
          <a:p>
            <a:pPr algn="l">
              <a:spcBef>
                <a:spcPts val="0"/>
              </a:spcBef>
              <a:spcAft>
                <a:spcPts val="0"/>
              </a:spcAft>
            </a:pPr>
            <a:r>
              <a:rPr sz="1150" b="1" i="0" spc="60">
                <a:solidFill>
                  <a:srgbClr val="49E3CE"/>
                </a:solidFill>
                <a:latin typeface="Calibri"/>
              </a:rPr>
              <a:t>PACKED (measured)</a:t>
            </a:r>
          </a:p>
        </p:txBody>
      </p:sp>
      <p:sp>
        <p:nvSpPr>
          <p:cNvPr id="22" name="TextBox 21"/>
          <p:cNvSpPr txBox="1"/>
          <p:nvPr/>
        </p:nvSpPr>
        <p:spPr>
          <a:xfrm>
            <a:off x="7680959" y="1828800"/>
            <a:ext cx="2011679" cy="457200"/>
          </a:xfrm>
          <a:prstGeom prst="rect">
            <a:avLst/>
          </a:prstGeom>
          <a:noFill/>
        </p:spPr>
        <p:txBody>
          <a:bodyPr wrap="square" anchor="ctr" lIns="54864" rIns="54864" tIns="27432" bIns="27432">
            <a:spAutoFit/>
          </a:bodyPr>
          <a:lstStyle/>
          <a:p>
            <a:pPr algn="l">
              <a:spcBef>
                <a:spcPts val="0"/>
              </a:spcBef>
              <a:spcAft>
                <a:spcPts val="0"/>
              </a:spcAft>
            </a:pPr>
            <a:r>
              <a:rPr sz="1150" b="1" i="0" spc="60">
                <a:solidFill>
                  <a:srgbClr val="9AA0D0"/>
                </a:solidFill>
                <a:latin typeface="Calibri"/>
              </a:rPr>
              <a:t>PAPER (optimised)</a:t>
            </a:r>
          </a:p>
        </p:txBody>
      </p:sp>
      <p:sp>
        <p:nvSpPr>
          <p:cNvPr id="23" name="Rectangle 22"/>
          <p:cNvSpPr/>
          <p:nvPr/>
        </p:nvSpPr>
        <p:spPr>
          <a:xfrm>
            <a:off x="566928" y="2286000"/>
            <a:ext cx="9235440" cy="603504"/>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286000"/>
            <a:ext cx="2103120" cy="603504"/>
          </a:xfrm>
          <a:prstGeom prst="rect">
            <a:avLst/>
          </a:prstGeom>
          <a:noFill/>
        </p:spPr>
        <p:txBody>
          <a:bodyPr wrap="square" anchor="ctr" lIns="54864" rIns="54864" tIns="27432" bIns="27432">
            <a:spAutoFit/>
          </a:bodyPr>
          <a:lstStyle/>
          <a:p>
            <a:pPr algn="l">
              <a:spcBef>
                <a:spcPts val="0"/>
              </a:spcBef>
              <a:spcAft>
                <a:spcPts val="0"/>
              </a:spcAft>
            </a:pPr>
            <a:r>
              <a:rPr sz="1350" b="1" i="0">
                <a:solidFill>
                  <a:srgbClr val="ECEEFF"/>
                </a:solidFill>
                <a:latin typeface="Calibri"/>
              </a:rPr>
              <a:t>pk / statement Y</a:t>
            </a:r>
          </a:p>
        </p:txBody>
      </p:sp>
      <p:sp>
        <p:nvSpPr>
          <p:cNvPr id="25" name="TextBox 24"/>
          <p:cNvSpPr txBox="1"/>
          <p:nvPr/>
        </p:nvSpPr>
        <p:spPr>
          <a:xfrm>
            <a:off x="3063240" y="2286000"/>
            <a:ext cx="2011680" cy="603504"/>
          </a:xfrm>
          <a:prstGeom prst="rect">
            <a:avLst/>
          </a:prstGeom>
          <a:noFill/>
        </p:spPr>
        <p:txBody>
          <a:bodyPr wrap="square" anchor="ctr" lIns="54864" rIns="54864" tIns="27432" bIns="27432">
            <a:spAutoFit/>
          </a:bodyPr>
          <a:lstStyle/>
          <a:p>
            <a:pPr algn="l">
              <a:spcBef>
                <a:spcPts val="0"/>
              </a:spcBef>
              <a:spcAft>
                <a:spcPts val="0"/>
              </a:spcAft>
            </a:pPr>
            <a:r>
              <a:rPr sz="1350" b="0" i="0">
                <a:solidFill>
                  <a:srgbClr val="ECEEFF"/>
                </a:solidFill>
                <a:latin typeface="Consolas"/>
              </a:rPr>
              <a:t>4096 B</a:t>
            </a:r>
          </a:p>
        </p:txBody>
      </p:sp>
      <p:sp>
        <p:nvSpPr>
          <p:cNvPr id="26" name="TextBox 25"/>
          <p:cNvSpPr txBox="1"/>
          <p:nvPr/>
        </p:nvSpPr>
        <p:spPr>
          <a:xfrm>
            <a:off x="5303520" y="2286000"/>
            <a:ext cx="2148840" cy="603504"/>
          </a:xfrm>
          <a:prstGeom prst="rect">
            <a:avLst/>
          </a:prstGeom>
          <a:noFill/>
        </p:spPr>
        <p:txBody>
          <a:bodyPr wrap="square" anchor="ctr" lIns="54864" rIns="54864" tIns="27432" bIns="27432">
            <a:spAutoFit/>
          </a:bodyPr>
          <a:lstStyle/>
          <a:p>
            <a:pPr algn="l">
              <a:spcBef>
                <a:spcPts val="0"/>
              </a:spcBef>
              <a:spcAft>
                <a:spcPts val="0"/>
              </a:spcAft>
            </a:pPr>
            <a:r>
              <a:rPr sz="1350" b="1" i="0">
                <a:solidFill>
                  <a:srgbClr val="49E3CE"/>
                </a:solidFill>
                <a:latin typeface="Consolas"/>
              </a:rPr>
              <a:t>2944 B</a:t>
            </a:r>
          </a:p>
        </p:txBody>
      </p:sp>
      <p:sp>
        <p:nvSpPr>
          <p:cNvPr id="27" name="TextBox 26"/>
          <p:cNvSpPr txBox="1"/>
          <p:nvPr/>
        </p:nvSpPr>
        <p:spPr>
          <a:xfrm>
            <a:off x="7680959" y="2286000"/>
            <a:ext cx="1965960" cy="603504"/>
          </a:xfrm>
          <a:prstGeom prst="rect">
            <a:avLst/>
          </a:prstGeom>
          <a:noFill/>
        </p:spPr>
        <p:txBody>
          <a:bodyPr wrap="square" anchor="ctr" lIns="54864" rIns="54864" tIns="27432" bIns="27432">
            <a:spAutoFit/>
          </a:bodyPr>
          <a:lstStyle/>
          <a:p>
            <a:pPr algn="l">
              <a:spcBef>
                <a:spcPts val="0"/>
              </a:spcBef>
              <a:spcAft>
                <a:spcPts val="0"/>
              </a:spcAft>
            </a:pPr>
            <a:r>
              <a:rPr sz="1350" b="0" i="0">
                <a:solidFill>
                  <a:srgbClr val="9AA0D0"/>
                </a:solidFill>
                <a:latin typeface="Consolas"/>
              </a:rPr>
              <a:t>—</a:t>
            </a:r>
          </a:p>
        </p:txBody>
      </p:sp>
      <p:sp>
        <p:nvSpPr>
          <p:cNvPr id="28" name="Rectangle 27"/>
          <p:cNvSpPr/>
          <p:nvPr/>
        </p:nvSpPr>
        <p:spPr>
          <a:xfrm>
            <a:off x="566928" y="2889504"/>
            <a:ext cx="9235440" cy="603504"/>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2889504"/>
            <a:ext cx="2103120" cy="603504"/>
          </a:xfrm>
          <a:prstGeom prst="rect">
            <a:avLst/>
          </a:prstGeom>
          <a:noFill/>
        </p:spPr>
        <p:txBody>
          <a:bodyPr wrap="square" anchor="ctr" lIns="54864" rIns="54864" tIns="27432" bIns="27432">
            <a:spAutoFit/>
          </a:bodyPr>
          <a:lstStyle/>
          <a:p>
            <a:pPr algn="l">
              <a:spcBef>
                <a:spcPts val="0"/>
              </a:spcBef>
              <a:spcAft>
                <a:spcPts val="0"/>
              </a:spcAft>
            </a:pPr>
            <a:r>
              <a:rPr sz="1350" b="1" i="0">
                <a:solidFill>
                  <a:srgbClr val="ECEEFF"/>
                </a:solidFill>
                <a:latin typeface="Calibri"/>
              </a:rPr>
              <a:t>sk / witness y</a:t>
            </a:r>
          </a:p>
        </p:txBody>
      </p:sp>
      <p:sp>
        <p:nvSpPr>
          <p:cNvPr id="30" name="TextBox 29"/>
          <p:cNvSpPr txBox="1"/>
          <p:nvPr/>
        </p:nvSpPr>
        <p:spPr>
          <a:xfrm>
            <a:off x="3063240" y="2889504"/>
            <a:ext cx="2011680" cy="603504"/>
          </a:xfrm>
          <a:prstGeom prst="rect">
            <a:avLst/>
          </a:prstGeom>
          <a:noFill/>
        </p:spPr>
        <p:txBody>
          <a:bodyPr wrap="square" anchor="ctr" lIns="54864" rIns="54864" tIns="27432" bIns="27432">
            <a:spAutoFit/>
          </a:bodyPr>
          <a:lstStyle/>
          <a:p>
            <a:pPr algn="l">
              <a:spcBef>
                <a:spcPts val="0"/>
              </a:spcBef>
              <a:spcAft>
                <a:spcPts val="0"/>
              </a:spcAft>
            </a:pPr>
            <a:r>
              <a:rPr sz="1350" b="0" i="0">
                <a:solidFill>
                  <a:srgbClr val="ECEEFF"/>
                </a:solidFill>
                <a:latin typeface="Consolas"/>
              </a:rPr>
              <a:t>8192 B</a:t>
            </a:r>
          </a:p>
        </p:txBody>
      </p:sp>
      <p:sp>
        <p:nvSpPr>
          <p:cNvPr id="31" name="TextBox 30"/>
          <p:cNvSpPr txBox="1"/>
          <p:nvPr/>
        </p:nvSpPr>
        <p:spPr>
          <a:xfrm>
            <a:off x="5303520" y="2889504"/>
            <a:ext cx="2148840" cy="603504"/>
          </a:xfrm>
          <a:prstGeom prst="rect">
            <a:avLst/>
          </a:prstGeom>
          <a:noFill/>
        </p:spPr>
        <p:txBody>
          <a:bodyPr wrap="square" anchor="ctr" lIns="54864" rIns="54864" tIns="27432" bIns="27432">
            <a:spAutoFit/>
          </a:bodyPr>
          <a:lstStyle/>
          <a:p>
            <a:pPr algn="l">
              <a:spcBef>
                <a:spcPts val="0"/>
              </a:spcBef>
              <a:spcAft>
                <a:spcPts val="0"/>
              </a:spcAft>
            </a:pPr>
            <a:r>
              <a:rPr sz="1350" b="1" i="0">
                <a:solidFill>
                  <a:srgbClr val="49E3CE"/>
                </a:solidFill>
                <a:latin typeface="Consolas"/>
              </a:rPr>
              <a:t>512 B</a:t>
            </a:r>
          </a:p>
        </p:txBody>
      </p:sp>
      <p:sp>
        <p:nvSpPr>
          <p:cNvPr id="32" name="TextBox 31"/>
          <p:cNvSpPr txBox="1"/>
          <p:nvPr/>
        </p:nvSpPr>
        <p:spPr>
          <a:xfrm>
            <a:off x="7680959" y="2889504"/>
            <a:ext cx="1965960" cy="603504"/>
          </a:xfrm>
          <a:prstGeom prst="rect">
            <a:avLst/>
          </a:prstGeom>
          <a:noFill/>
        </p:spPr>
        <p:txBody>
          <a:bodyPr wrap="square" anchor="ctr" lIns="54864" rIns="54864" tIns="27432" bIns="27432">
            <a:spAutoFit/>
          </a:bodyPr>
          <a:lstStyle/>
          <a:p>
            <a:pPr algn="l">
              <a:spcBef>
                <a:spcPts val="0"/>
              </a:spcBef>
              <a:spcAft>
                <a:spcPts val="0"/>
              </a:spcAft>
            </a:pPr>
            <a:r>
              <a:rPr sz="1350" b="0" i="0">
                <a:solidFill>
                  <a:srgbClr val="9AA0D0"/>
                </a:solidFill>
                <a:latin typeface="Consolas"/>
              </a:rPr>
              <a:t>—</a:t>
            </a:r>
          </a:p>
        </p:txBody>
      </p:sp>
      <p:sp>
        <p:nvSpPr>
          <p:cNvPr id="33" name="Rectangle 32"/>
          <p:cNvSpPr/>
          <p:nvPr/>
        </p:nvSpPr>
        <p:spPr>
          <a:xfrm>
            <a:off x="566928" y="3493008"/>
            <a:ext cx="9235440" cy="603504"/>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493008"/>
            <a:ext cx="2103120" cy="603504"/>
          </a:xfrm>
          <a:prstGeom prst="rect">
            <a:avLst/>
          </a:prstGeom>
          <a:noFill/>
        </p:spPr>
        <p:txBody>
          <a:bodyPr wrap="square" anchor="ctr" lIns="54864" rIns="54864" tIns="27432" bIns="27432">
            <a:spAutoFit/>
          </a:bodyPr>
          <a:lstStyle/>
          <a:p>
            <a:pPr algn="l">
              <a:spcBef>
                <a:spcPts val="0"/>
              </a:spcBef>
              <a:spcAft>
                <a:spcPts val="0"/>
              </a:spcAft>
            </a:pPr>
            <a:r>
              <a:rPr sz="1350" b="1" i="0">
                <a:solidFill>
                  <a:srgbClr val="ECEEFF"/>
                </a:solidFill>
                <a:latin typeface="Calibri"/>
              </a:rPr>
              <a:t>sig / pre-sig</a:t>
            </a:r>
          </a:p>
        </p:txBody>
      </p:sp>
      <p:sp>
        <p:nvSpPr>
          <p:cNvPr id="35" name="TextBox 34"/>
          <p:cNvSpPr txBox="1"/>
          <p:nvPr/>
        </p:nvSpPr>
        <p:spPr>
          <a:xfrm>
            <a:off x="3063240" y="3493008"/>
            <a:ext cx="2011680" cy="603504"/>
          </a:xfrm>
          <a:prstGeom prst="rect">
            <a:avLst/>
          </a:prstGeom>
          <a:noFill/>
        </p:spPr>
        <p:txBody>
          <a:bodyPr wrap="square" anchor="ctr" lIns="54864" rIns="54864" tIns="27432" bIns="27432">
            <a:spAutoFit/>
          </a:bodyPr>
          <a:lstStyle/>
          <a:p>
            <a:pPr algn="l">
              <a:spcBef>
                <a:spcPts val="0"/>
              </a:spcBef>
              <a:spcAft>
                <a:spcPts val="0"/>
              </a:spcAft>
            </a:pPr>
            <a:r>
              <a:rPr sz="1350" b="0" i="0">
                <a:solidFill>
                  <a:srgbClr val="ECEEFF"/>
                </a:solidFill>
                <a:latin typeface="Consolas"/>
              </a:rPr>
              <a:t>9216 B</a:t>
            </a:r>
          </a:p>
        </p:txBody>
      </p:sp>
      <p:sp>
        <p:nvSpPr>
          <p:cNvPr id="36" name="TextBox 35"/>
          <p:cNvSpPr txBox="1"/>
          <p:nvPr/>
        </p:nvSpPr>
        <p:spPr>
          <a:xfrm>
            <a:off x="5303520" y="3493008"/>
            <a:ext cx="2148840" cy="603504"/>
          </a:xfrm>
          <a:prstGeom prst="rect">
            <a:avLst/>
          </a:prstGeom>
          <a:noFill/>
        </p:spPr>
        <p:txBody>
          <a:bodyPr wrap="square" anchor="ctr" lIns="54864" rIns="54864" tIns="27432" bIns="27432">
            <a:spAutoFit/>
          </a:bodyPr>
          <a:lstStyle/>
          <a:p>
            <a:pPr algn="l">
              <a:spcBef>
                <a:spcPts val="0"/>
              </a:spcBef>
              <a:spcAft>
                <a:spcPts val="0"/>
              </a:spcAft>
            </a:pPr>
            <a:r>
              <a:rPr sz="1350" b="1" i="0">
                <a:solidFill>
                  <a:srgbClr val="49E3CE"/>
                </a:solidFill>
                <a:latin typeface="Consolas"/>
              </a:rPr>
              <a:t>4672 B</a:t>
            </a:r>
          </a:p>
        </p:txBody>
      </p:sp>
      <p:sp>
        <p:nvSpPr>
          <p:cNvPr id="37" name="TextBox 36"/>
          <p:cNvSpPr txBox="1"/>
          <p:nvPr/>
        </p:nvSpPr>
        <p:spPr>
          <a:xfrm>
            <a:off x="7680959" y="3493008"/>
            <a:ext cx="1965960" cy="603504"/>
          </a:xfrm>
          <a:prstGeom prst="rect">
            <a:avLst/>
          </a:prstGeom>
          <a:noFill/>
        </p:spPr>
        <p:txBody>
          <a:bodyPr wrap="square" anchor="ctr" lIns="54864" rIns="54864" tIns="27432" bIns="27432">
            <a:spAutoFit/>
          </a:bodyPr>
          <a:lstStyle/>
          <a:p>
            <a:pPr algn="l">
              <a:spcBef>
                <a:spcPts val="0"/>
              </a:spcBef>
              <a:spcAft>
                <a:spcPts val="0"/>
              </a:spcAft>
            </a:pPr>
            <a:r>
              <a:rPr sz="1350" b="0" i="0">
                <a:solidFill>
                  <a:srgbClr val="9AA0D0"/>
                </a:solidFill>
                <a:latin typeface="Consolas"/>
              </a:rPr>
              <a:t>~3210 B</a:t>
            </a:r>
          </a:p>
        </p:txBody>
      </p:sp>
      <p:sp>
        <p:nvSpPr>
          <p:cNvPr id="38" name="Rounded Rectangle 37"/>
          <p:cNvSpPr/>
          <p:nvPr/>
        </p:nvSpPr>
        <p:spPr>
          <a:xfrm>
            <a:off x="566928" y="4297680"/>
            <a:ext cx="9235440" cy="1600200"/>
          </a:xfrm>
          <a:prstGeom prst="roundRect">
            <a:avLst>
              <a:gd name="adj" fmla="val 4000"/>
            </a:avLst>
          </a:prstGeom>
          <a:solidFill>
            <a:srgbClr val="0A0D28"/>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4443984"/>
            <a:ext cx="8942832" cy="274320"/>
          </a:xfrm>
          <a:prstGeom prst="rect">
            <a:avLst/>
          </a:prstGeom>
          <a:noFill/>
        </p:spPr>
        <p:txBody>
          <a:bodyPr wrap="square" anchor="t" lIns="54864" rIns="54864" tIns="27432" bIns="27432">
            <a:spAutoFit/>
          </a:bodyPr>
          <a:lstStyle/>
          <a:p>
            <a:pPr algn="l">
              <a:spcBef>
                <a:spcPts val="0"/>
              </a:spcBef>
              <a:spcAft>
                <a:spcPts val="0"/>
              </a:spcAft>
            </a:pPr>
            <a:r>
              <a:rPr sz="1100" b="1" i="0" spc="150">
                <a:solidFill>
                  <a:srgbClr val="49E3CE"/>
                </a:solidFill>
                <a:latin typeface="Calibri"/>
              </a:rPr>
              <a:t>WHERE THE PACKED SIG (4672 B) COMES FROM — bit-budget, not a formula guess</a:t>
            </a:r>
          </a:p>
        </p:txBody>
      </p:sp>
      <p:sp>
        <p:nvSpPr>
          <p:cNvPr id="40" name="TextBox 39"/>
          <p:cNvSpPr txBox="1"/>
          <p:nvPr/>
        </p:nvSpPr>
        <p:spPr>
          <a:xfrm>
            <a:off x="713232" y="4754880"/>
            <a:ext cx="8942832" cy="996696"/>
          </a:xfrm>
          <a:prstGeom prst="rect">
            <a:avLst/>
          </a:prstGeom>
          <a:noFill/>
        </p:spPr>
        <p:txBody>
          <a:bodyPr wrap="square" anchor="t" lIns="54864" rIns="54864" tIns="27432" bIns="27432">
            <a:spAutoFit/>
          </a:bodyPr>
          <a:lstStyle/>
          <a:p>
            <a:pPr algn="l">
              <a:lnSpc>
                <a:spcPct val="104000"/>
              </a:lnSpc>
              <a:spcBef>
                <a:spcPts val="0"/>
              </a:spcBef>
              <a:spcAft>
                <a:spcPts val="300"/>
              </a:spcAft>
            </a:pPr>
            <a:r>
              <a:rPr sz="1250" b="0" i="0">
                <a:solidFill>
                  <a:srgbClr val="ECEEFF"/>
                </a:solidFill>
                <a:latin typeface="Consolas"/>
              </a:rPr>
              <a:t>challenge c : ternary, 2 bits/coeff  -&gt;  256*2/8        =   64 B</a:t>
            </a:r>
          </a:p>
          <a:p>
            <a:pPr algn="l">
              <a:lnSpc>
                <a:spcPct val="104000"/>
              </a:lnSpc>
              <a:spcBef>
                <a:spcPts val="0"/>
              </a:spcBef>
              <a:spcAft>
                <a:spcPts val="300"/>
              </a:spcAft>
            </a:pPr>
            <a:r>
              <a:rPr sz="1250" b="0" i="0">
                <a:solidFill>
                  <a:srgbClr val="ECEEFF"/>
                </a:solidFill>
                <a:latin typeface="Consolas"/>
              </a:rPr>
              <a:t>response  z : 18 bits/coeff (2*(g-k)+1 = 245641 &lt; 2^18) -&gt;  8*256*18/8 = 4608 B</a:t>
            </a:r>
          </a:p>
          <a:p>
            <a:pPr algn="l">
              <a:lnSpc>
                <a:spcPct val="104000"/>
              </a:lnSpc>
              <a:spcBef>
                <a:spcPts val="0"/>
              </a:spcBef>
              <a:spcAft>
                <a:spcPts val="300"/>
              </a:spcAft>
            </a:pPr>
            <a:r>
              <a:rPr sz="1250" b="1" i="0">
                <a:solidFill>
                  <a:srgbClr val="49E3CE"/>
                </a:solidFill>
                <a:latin typeface="Consolas"/>
              </a:rPr>
              <a:t>total       :                                              4672 B   (validated by test_serde)</a:t>
            </a:r>
          </a:p>
        </p:txBody>
      </p:sp>
      <p:sp>
        <p:nvSpPr>
          <p:cNvPr id="41" name="Rounded Rectangle 40"/>
          <p:cNvSpPr/>
          <p:nvPr/>
        </p:nvSpPr>
        <p:spPr>
          <a:xfrm>
            <a:off x="9921240" y="1828800"/>
            <a:ext cx="1618488" cy="2267712"/>
          </a:xfrm>
          <a:prstGeom prst="roundRect">
            <a:avLst>
              <a:gd name="adj" fmla="val 4500"/>
            </a:avLst>
          </a:prstGeom>
          <a:solidFill>
            <a:srgbClr val="161B45"/>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0" y="1938528"/>
            <a:ext cx="1371600" cy="914400"/>
          </a:xfrm>
          <a:prstGeom prst="rect">
            <a:avLst/>
          </a:prstGeom>
          <a:noFill/>
        </p:spPr>
        <p:txBody>
          <a:bodyPr wrap="square" anchor="t" lIns="54864" rIns="54864" tIns="27432" bIns="27432">
            <a:spAutoFit/>
          </a:bodyPr>
          <a:lstStyle/>
          <a:p>
            <a:pPr algn="l">
              <a:lnSpc>
                <a:spcPct val="100000"/>
              </a:lnSpc>
              <a:spcBef>
                <a:spcPts val="0"/>
              </a:spcBef>
              <a:spcAft>
                <a:spcPts val="0"/>
              </a:spcAft>
            </a:pPr>
            <a:r>
              <a:rPr sz="1050" b="1" i="0">
                <a:solidFill>
                  <a:srgbClr val="FFB454"/>
                </a:solidFill>
                <a:latin typeface="Calibri"/>
              </a:rPr>
              <a:t>Compare LIKE FOR LIKE:</a:t>
            </a:r>
          </a:p>
        </p:txBody>
      </p:sp>
      <p:sp>
        <p:nvSpPr>
          <p:cNvPr id="43" name="TextBox 42"/>
          <p:cNvSpPr txBox="1"/>
          <p:nvPr/>
        </p:nvSpPr>
        <p:spPr>
          <a:xfrm>
            <a:off x="10058400" y="2697480"/>
            <a:ext cx="1371600" cy="1371600"/>
          </a:xfrm>
          <a:prstGeom prst="rect">
            <a:avLst/>
          </a:prstGeom>
          <a:noFill/>
        </p:spPr>
        <p:txBody>
          <a:bodyPr wrap="square" anchor="t" lIns="54864" rIns="54864" tIns="27432" bIns="27432">
            <a:spAutoFit/>
          </a:bodyPr>
          <a:lstStyle/>
          <a:p>
            <a:pPr algn="l">
              <a:lnSpc>
                <a:spcPct val="105000"/>
              </a:lnSpc>
              <a:spcBef>
                <a:spcPts val="0"/>
              </a:spcBef>
              <a:spcAft>
                <a:spcPts val="0"/>
              </a:spcAft>
            </a:pPr>
            <a:r>
              <a:rPr sz="1050" b="0" i="0">
                <a:solidFill>
                  <a:srgbClr val="9AA0D0"/>
                </a:solidFill>
                <a:latin typeface="Calibri"/>
              </a:rPr>
              <a:t>the paper's ~3210 B is a different (q≈2²⁴, hinted) scheme — use the PACKED column.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49E3CE"/>
                </a:solidFill>
                <a:latin typeface="Calibri"/>
              </a:rPr>
              <a:t>THE 2×2 MATRIX</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Four schemes, one machine: basic/exotic × classical/PQ</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07</a:t>
            </a:r>
          </a:p>
        </p:txBody>
      </p:sp>
      <p:sp>
        <p:nvSpPr>
          <p:cNvPr id="18" name="TextBox 17"/>
          <p:cNvSpPr txBox="1"/>
          <p:nvPr/>
        </p:nvSpPr>
        <p:spPr>
          <a:xfrm>
            <a:off x="566928" y="1572768"/>
            <a:ext cx="10972800" cy="320040"/>
          </a:xfrm>
          <a:prstGeom prst="rect">
            <a:avLst/>
          </a:prstGeom>
          <a:noFill/>
        </p:spPr>
        <p:txBody>
          <a:bodyPr wrap="square" anchor="t" lIns="54864" rIns="54864" tIns="27432" bIns="27432">
            <a:spAutoFit/>
          </a:bodyPr>
          <a:lstStyle/>
          <a:p>
            <a:pPr algn="l">
              <a:spcBef>
                <a:spcPts val="0"/>
              </a:spcBef>
              <a:spcAft>
                <a:spcPts val="0"/>
              </a:spcAft>
            </a:pPr>
            <a:r>
              <a:rPr sz="1200" b="0" i="1">
                <a:solidFill>
                  <a:srgbClr val="9AA0D0"/>
                </a:solidFill>
                <a:latin typeface="Calibri"/>
              </a:rPr>
              <a:t>µs/op, 2000 iters, same machine &amp; compiler (bench_classical + bench_las3)</a:t>
            </a:r>
          </a:p>
        </p:txBody>
      </p:sp>
      <p:sp>
        <p:nvSpPr>
          <p:cNvPr id="19" name="Rectangle 18"/>
          <p:cNvSpPr/>
          <p:nvPr/>
        </p:nvSpPr>
        <p:spPr>
          <a:xfrm>
            <a:off x="566928" y="1993392"/>
            <a:ext cx="10954512" cy="475488"/>
          </a:xfrm>
          <a:prstGeom prst="rect">
            <a:avLst/>
          </a:prstGeom>
          <a:solidFill>
            <a:srgbClr val="262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1993392"/>
            <a:ext cx="2148839" cy="47548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9AA0D0"/>
                </a:solidFill>
                <a:latin typeface="Calibri"/>
              </a:rPr>
              <a:t>OPERATION</a:t>
            </a:r>
          </a:p>
        </p:txBody>
      </p:sp>
      <p:sp>
        <p:nvSpPr>
          <p:cNvPr id="21" name="TextBox 20"/>
          <p:cNvSpPr txBox="1"/>
          <p:nvPr/>
        </p:nvSpPr>
        <p:spPr>
          <a:xfrm>
            <a:off x="3063240" y="1993392"/>
            <a:ext cx="1508760" cy="47548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7078B0"/>
                </a:solidFill>
                <a:latin typeface="Calibri"/>
              </a:rPr>
              <a:t>ECDSA</a:t>
            </a:r>
          </a:p>
        </p:txBody>
      </p:sp>
      <p:sp>
        <p:nvSpPr>
          <p:cNvPr id="22" name="TextBox 21"/>
          <p:cNvSpPr txBox="1"/>
          <p:nvPr/>
        </p:nvSpPr>
        <p:spPr>
          <a:xfrm>
            <a:off x="4800600" y="1993392"/>
            <a:ext cx="1965960" cy="47548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FF6B6B"/>
                </a:solidFill>
                <a:latin typeface="Calibri"/>
              </a:rPr>
              <a:t>ECDSA-adaptor</a:t>
            </a:r>
          </a:p>
        </p:txBody>
      </p:sp>
      <p:sp>
        <p:nvSpPr>
          <p:cNvPr id="23" name="TextBox 22"/>
          <p:cNvSpPr txBox="1"/>
          <p:nvPr/>
        </p:nvSpPr>
        <p:spPr>
          <a:xfrm>
            <a:off x="6995160" y="1993392"/>
            <a:ext cx="1691639" cy="47548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9B8CFF"/>
                </a:solidFill>
                <a:latin typeface="Calibri"/>
              </a:rPr>
              <a:t>Dilithium-3</a:t>
            </a:r>
          </a:p>
        </p:txBody>
      </p:sp>
      <p:sp>
        <p:nvSpPr>
          <p:cNvPr id="24" name="TextBox 23"/>
          <p:cNvSpPr txBox="1"/>
          <p:nvPr/>
        </p:nvSpPr>
        <p:spPr>
          <a:xfrm>
            <a:off x="8915400" y="1993392"/>
            <a:ext cx="2560320" cy="475488"/>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LAS</a:t>
            </a:r>
          </a:p>
        </p:txBody>
      </p:sp>
      <p:sp>
        <p:nvSpPr>
          <p:cNvPr id="25" name="Rectangle 24"/>
          <p:cNvSpPr/>
          <p:nvPr/>
        </p:nvSpPr>
        <p:spPr>
          <a:xfrm>
            <a:off x="566928" y="2468880"/>
            <a:ext cx="10954512" cy="45720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778240" y="2468880"/>
            <a:ext cx="2743200" cy="457200"/>
          </a:xfrm>
          <a:prstGeom prst="rect">
            <a:avLst/>
          </a:prstGeom>
          <a:solidFill>
            <a:srgbClr val="262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2468880"/>
            <a:ext cx="2148839"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ECEEFF"/>
                </a:solidFill>
                <a:latin typeface="Calibri"/>
              </a:rPr>
              <a:t>KeyGen / stmt</a:t>
            </a:r>
          </a:p>
        </p:txBody>
      </p:sp>
      <p:sp>
        <p:nvSpPr>
          <p:cNvPr id="28" name="TextBox 27"/>
          <p:cNvSpPr txBox="1"/>
          <p:nvPr/>
        </p:nvSpPr>
        <p:spPr>
          <a:xfrm>
            <a:off x="3063240" y="2468880"/>
            <a:ext cx="15087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31</a:t>
            </a:r>
          </a:p>
        </p:txBody>
      </p:sp>
      <p:sp>
        <p:nvSpPr>
          <p:cNvPr id="29" name="TextBox 28"/>
          <p:cNvSpPr txBox="1"/>
          <p:nvPr/>
        </p:nvSpPr>
        <p:spPr>
          <a:xfrm>
            <a:off x="4800600" y="2468880"/>
            <a:ext cx="19659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31</a:t>
            </a:r>
          </a:p>
        </p:txBody>
      </p:sp>
      <p:sp>
        <p:nvSpPr>
          <p:cNvPr id="30" name="TextBox 29"/>
          <p:cNvSpPr txBox="1"/>
          <p:nvPr/>
        </p:nvSpPr>
        <p:spPr>
          <a:xfrm>
            <a:off x="6995160" y="2468880"/>
            <a:ext cx="1691639"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162</a:t>
            </a:r>
          </a:p>
        </p:txBody>
      </p:sp>
      <p:sp>
        <p:nvSpPr>
          <p:cNvPr id="31" name="TextBox 30"/>
          <p:cNvSpPr txBox="1"/>
          <p:nvPr/>
        </p:nvSpPr>
        <p:spPr>
          <a:xfrm>
            <a:off x="8915400" y="2468880"/>
            <a:ext cx="2560320"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49E3CE"/>
                </a:solidFill>
                <a:latin typeface="Consolas"/>
              </a:rPr>
              <a:t>78</a:t>
            </a:r>
          </a:p>
        </p:txBody>
      </p:sp>
      <p:sp>
        <p:nvSpPr>
          <p:cNvPr id="32" name="Rectangle 31"/>
          <p:cNvSpPr/>
          <p:nvPr/>
        </p:nvSpPr>
        <p:spPr>
          <a:xfrm>
            <a:off x="566928" y="2926080"/>
            <a:ext cx="10954512" cy="45720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778240" y="2926080"/>
            <a:ext cx="2743200" cy="45720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4088" y="2926080"/>
            <a:ext cx="2148839"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ECEEFF"/>
                </a:solidFill>
                <a:latin typeface="Calibri"/>
              </a:rPr>
              <a:t>Sign</a:t>
            </a:r>
          </a:p>
        </p:txBody>
      </p:sp>
      <p:sp>
        <p:nvSpPr>
          <p:cNvPr id="35" name="TextBox 34"/>
          <p:cNvSpPr txBox="1"/>
          <p:nvPr/>
        </p:nvSpPr>
        <p:spPr>
          <a:xfrm>
            <a:off x="3063240" y="2926080"/>
            <a:ext cx="15087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41</a:t>
            </a:r>
          </a:p>
        </p:txBody>
      </p:sp>
      <p:sp>
        <p:nvSpPr>
          <p:cNvPr id="36" name="TextBox 35"/>
          <p:cNvSpPr txBox="1"/>
          <p:nvPr/>
        </p:nvSpPr>
        <p:spPr>
          <a:xfrm>
            <a:off x="4800600" y="2926080"/>
            <a:ext cx="19659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37" name="TextBox 36"/>
          <p:cNvSpPr txBox="1"/>
          <p:nvPr/>
        </p:nvSpPr>
        <p:spPr>
          <a:xfrm>
            <a:off x="6995160" y="2926080"/>
            <a:ext cx="1691639"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642</a:t>
            </a:r>
          </a:p>
        </p:txBody>
      </p:sp>
      <p:sp>
        <p:nvSpPr>
          <p:cNvPr id="38" name="TextBox 37"/>
          <p:cNvSpPr txBox="1"/>
          <p:nvPr/>
        </p:nvSpPr>
        <p:spPr>
          <a:xfrm>
            <a:off x="8915400" y="2926080"/>
            <a:ext cx="2560320"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49E3CE"/>
                </a:solidFill>
                <a:latin typeface="Consolas"/>
              </a:rPr>
              <a:t>804</a:t>
            </a:r>
          </a:p>
        </p:txBody>
      </p:sp>
      <p:sp>
        <p:nvSpPr>
          <p:cNvPr id="39" name="Rectangle 38"/>
          <p:cNvSpPr/>
          <p:nvPr/>
        </p:nvSpPr>
        <p:spPr>
          <a:xfrm>
            <a:off x="566928" y="3383280"/>
            <a:ext cx="10954512" cy="45720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778240" y="3383280"/>
            <a:ext cx="2743200" cy="457200"/>
          </a:xfrm>
          <a:prstGeom prst="rect">
            <a:avLst/>
          </a:prstGeom>
          <a:solidFill>
            <a:srgbClr val="262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 y="3383280"/>
            <a:ext cx="2148839"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ECEEFF"/>
                </a:solidFill>
                <a:latin typeface="Calibri"/>
              </a:rPr>
              <a:t>Verify</a:t>
            </a:r>
          </a:p>
        </p:txBody>
      </p:sp>
      <p:sp>
        <p:nvSpPr>
          <p:cNvPr id="42" name="TextBox 41"/>
          <p:cNvSpPr txBox="1"/>
          <p:nvPr/>
        </p:nvSpPr>
        <p:spPr>
          <a:xfrm>
            <a:off x="3063240" y="3383280"/>
            <a:ext cx="15087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62</a:t>
            </a:r>
          </a:p>
        </p:txBody>
      </p:sp>
      <p:sp>
        <p:nvSpPr>
          <p:cNvPr id="43" name="TextBox 42"/>
          <p:cNvSpPr txBox="1"/>
          <p:nvPr/>
        </p:nvSpPr>
        <p:spPr>
          <a:xfrm>
            <a:off x="4800600" y="3383280"/>
            <a:ext cx="19659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44" name="TextBox 43"/>
          <p:cNvSpPr txBox="1"/>
          <p:nvPr/>
        </p:nvSpPr>
        <p:spPr>
          <a:xfrm>
            <a:off x="6995160" y="3383280"/>
            <a:ext cx="1691639"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155</a:t>
            </a:r>
          </a:p>
        </p:txBody>
      </p:sp>
      <p:sp>
        <p:nvSpPr>
          <p:cNvPr id="45" name="TextBox 44"/>
          <p:cNvSpPr txBox="1"/>
          <p:nvPr/>
        </p:nvSpPr>
        <p:spPr>
          <a:xfrm>
            <a:off x="8915400" y="3383280"/>
            <a:ext cx="2560320"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49E3CE"/>
                </a:solidFill>
                <a:latin typeface="Consolas"/>
              </a:rPr>
              <a:t>191</a:t>
            </a:r>
          </a:p>
        </p:txBody>
      </p:sp>
      <p:sp>
        <p:nvSpPr>
          <p:cNvPr id="46" name="Rectangle 45"/>
          <p:cNvSpPr/>
          <p:nvPr/>
        </p:nvSpPr>
        <p:spPr>
          <a:xfrm>
            <a:off x="566928" y="3840480"/>
            <a:ext cx="10954512" cy="45720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778240" y="3840480"/>
            <a:ext cx="2743200" cy="45720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04088" y="3840480"/>
            <a:ext cx="2148839"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ECEEFF"/>
                </a:solidFill>
                <a:latin typeface="Calibri"/>
              </a:rPr>
              <a:t>PreSign</a:t>
            </a:r>
          </a:p>
        </p:txBody>
      </p:sp>
      <p:sp>
        <p:nvSpPr>
          <p:cNvPr id="49" name="TextBox 48"/>
          <p:cNvSpPr txBox="1"/>
          <p:nvPr/>
        </p:nvSpPr>
        <p:spPr>
          <a:xfrm>
            <a:off x="3063240" y="3840480"/>
            <a:ext cx="15087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50" name="TextBox 49"/>
          <p:cNvSpPr txBox="1"/>
          <p:nvPr/>
        </p:nvSpPr>
        <p:spPr>
          <a:xfrm>
            <a:off x="4800600" y="3840480"/>
            <a:ext cx="19659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189</a:t>
            </a:r>
          </a:p>
        </p:txBody>
      </p:sp>
      <p:sp>
        <p:nvSpPr>
          <p:cNvPr id="51" name="TextBox 50"/>
          <p:cNvSpPr txBox="1"/>
          <p:nvPr/>
        </p:nvSpPr>
        <p:spPr>
          <a:xfrm>
            <a:off x="6995160" y="3840480"/>
            <a:ext cx="1691639"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52" name="TextBox 51"/>
          <p:cNvSpPr txBox="1"/>
          <p:nvPr/>
        </p:nvSpPr>
        <p:spPr>
          <a:xfrm>
            <a:off x="8915400" y="3840480"/>
            <a:ext cx="2560320"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49E3CE"/>
                </a:solidFill>
                <a:latin typeface="Consolas"/>
              </a:rPr>
              <a:t>828</a:t>
            </a:r>
          </a:p>
        </p:txBody>
      </p:sp>
      <p:sp>
        <p:nvSpPr>
          <p:cNvPr id="53" name="Rectangle 52"/>
          <p:cNvSpPr/>
          <p:nvPr/>
        </p:nvSpPr>
        <p:spPr>
          <a:xfrm>
            <a:off x="566928" y="4297680"/>
            <a:ext cx="10954512" cy="45720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78240" y="4297680"/>
            <a:ext cx="2743200" cy="457200"/>
          </a:xfrm>
          <a:prstGeom prst="rect">
            <a:avLst/>
          </a:prstGeom>
          <a:solidFill>
            <a:srgbClr val="262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4088" y="4297680"/>
            <a:ext cx="2148839"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ECEEFF"/>
                </a:solidFill>
                <a:latin typeface="Calibri"/>
              </a:rPr>
              <a:t>PreVerify</a:t>
            </a:r>
          </a:p>
        </p:txBody>
      </p:sp>
      <p:sp>
        <p:nvSpPr>
          <p:cNvPr id="56" name="TextBox 55"/>
          <p:cNvSpPr txBox="1"/>
          <p:nvPr/>
        </p:nvSpPr>
        <p:spPr>
          <a:xfrm>
            <a:off x="3063240" y="4297680"/>
            <a:ext cx="15087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57" name="TextBox 56"/>
          <p:cNvSpPr txBox="1"/>
          <p:nvPr/>
        </p:nvSpPr>
        <p:spPr>
          <a:xfrm>
            <a:off x="4800600" y="4297680"/>
            <a:ext cx="19659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244</a:t>
            </a:r>
          </a:p>
        </p:txBody>
      </p:sp>
      <p:sp>
        <p:nvSpPr>
          <p:cNvPr id="58" name="TextBox 57"/>
          <p:cNvSpPr txBox="1"/>
          <p:nvPr/>
        </p:nvSpPr>
        <p:spPr>
          <a:xfrm>
            <a:off x="6995160" y="4297680"/>
            <a:ext cx="1691639"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59" name="TextBox 58"/>
          <p:cNvSpPr txBox="1"/>
          <p:nvPr/>
        </p:nvSpPr>
        <p:spPr>
          <a:xfrm>
            <a:off x="8915400" y="4297680"/>
            <a:ext cx="2560320"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49E3CE"/>
                </a:solidFill>
                <a:latin typeface="Consolas"/>
              </a:rPr>
              <a:t>197</a:t>
            </a:r>
          </a:p>
        </p:txBody>
      </p:sp>
      <p:sp>
        <p:nvSpPr>
          <p:cNvPr id="60" name="Rectangle 59"/>
          <p:cNvSpPr/>
          <p:nvPr/>
        </p:nvSpPr>
        <p:spPr>
          <a:xfrm>
            <a:off x="566928" y="4754880"/>
            <a:ext cx="10954512" cy="45720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778240" y="4754880"/>
            <a:ext cx="2743200" cy="45720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8" y="4754880"/>
            <a:ext cx="2148839"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ECEEFF"/>
                </a:solidFill>
                <a:latin typeface="Calibri"/>
              </a:rPr>
              <a:t>Adapt</a:t>
            </a:r>
          </a:p>
        </p:txBody>
      </p:sp>
      <p:sp>
        <p:nvSpPr>
          <p:cNvPr id="63" name="TextBox 62"/>
          <p:cNvSpPr txBox="1"/>
          <p:nvPr/>
        </p:nvSpPr>
        <p:spPr>
          <a:xfrm>
            <a:off x="3063240" y="4754880"/>
            <a:ext cx="15087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64" name="TextBox 63"/>
          <p:cNvSpPr txBox="1"/>
          <p:nvPr/>
        </p:nvSpPr>
        <p:spPr>
          <a:xfrm>
            <a:off x="4800600" y="4754880"/>
            <a:ext cx="19659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3</a:t>
            </a:r>
          </a:p>
        </p:txBody>
      </p:sp>
      <p:sp>
        <p:nvSpPr>
          <p:cNvPr id="65" name="TextBox 64"/>
          <p:cNvSpPr txBox="1"/>
          <p:nvPr/>
        </p:nvSpPr>
        <p:spPr>
          <a:xfrm>
            <a:off x="6995160" y="4754880"/>
            <a:ext cx="1691639"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66" name="TextBox 65"/>
          <p:cNvSpPr txBox="1"/>
          <p:nvPr/>
        </p:nvSpPr>
        <p:spPr>
          <a:xfrm>
            <a:off x="8915400" y="4754880"/>
            <a:ext cx="2560320"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49E3CE"/>
                </a:solidFill>
                <a:latin typeface="Consolas"/>
              </a:rPr>
              <a:t>203</a:t>
            </a:r>
          </a:p>
        </p:txBody>
      </p:sp>
      <p:sp>
        <p:nvSpPr>
          <p:cNvPr id="67" name="Rectangle 66"/>
          <p:cNvSpPr/>
          <p:nvPr/>
        </p:nvSpPr>
        <p:spPr>
          <a:xfrm>
            <a:off x="566928" y="5212080"/>
            <a:ext cx="10954512" cy="45720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778240" y="5212080"/>
            <a:ext cx="2743200" cy="457200"/>
          </a:xfrm>
          <a:prstGeom prst="rect">
            <a:avLst/>
          </a:prstGeom>
          <a:solidFill>
            <a:srgbClr val="262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04088" y="5212080"/>
            <a:ext cx="2148839"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ECEEFF"/>
                </a:solidFill>
                <a:latin typeface="Calibri"/>
              </a:rPr>
              <a:t>Ext</a:t>
            </a:r>
          </a:p>
        </p:txBody>
      </p:sp>
      <p:sp>
        <p:nvSpPr>
          <p:cNvPr id="70" name="TextBox 69"/>
          <p:cNvSpPr txBox="1"/>
          <p:nvPr/>
        </p:nvSpPr>
        <p:spPr>
          <a:xfrm>
            <a:off x="3063240" y="5212080"/>
            <a:ext cx="15087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71" name="TextBox 70"/>
          <p:cNvSpPr txBox="1"/>
          <p:nvPr/>
        </p:nvSpPr>
        <p:spPr>
          <a:xfrm>
            <a:off x="4800600" y="5212080"/>
            <a:ext cx="1965960"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ECEEFF"/>
                </a:solidFill>
                <a:latin typeface="Consolas"/>
              </a:rPr>
              <a:t>35</a:t>
            </a:r>
          </a:p>
        </p:txBody>
      </p:sp>
      <p:sp>
        <p:nvSpPr>
          <p:cNvPr id="72" name="TextBox 71"/>
          <p:cNvSpPr txBox="1"/>
          <p:nvPr/>
        </p:nvSpPr>
        <p:spPr>
          <a:xfrm>
            <a:off x="6995160" y="5212080"/>
            <a:ext cx="1691639" cy="457200"/>
          </a:xfrm>
          <a:prstGeom prst="rect">
            <a:avLst/>
          </a:prstGeom>
          <a:noFill/>
        </p:spPr>
        <p:txBody>
          <a:bodyPr wrap="square" anchor="ctr" lIns="54864" rIns="54864" tIns="27432" bIns="27432">
            <a:spAutoFit/>
          </a:bodyPr>
          <a:lstStyle/>
          <a:p>
            <a:pPr algn="l">
              <a:spcBef>
                <a:spcPts val="0"/>
              </a:spcBef>
              <a:spcAft>
                <a:spcPts val="0"/>
              </a:spcAft>
            </a:pPr>
            <a:r>
              <a:rPr sz="1300" b="0" i="0">
                <a:solidFill>
                  <a:srgbClr val="7078B0"/>
                </a:solidFill>
                <a:latin typeface="Consolas"/>
              </a:rPr>
              <a:t>—</a:t>
            </a:r>
          </a:p>
        </p:txBody>
      </p:sp>
      <p:sp>
        <p:nvSpPr>
          <p:cNvPr id="73" name="TextBox 72"/>
          <p:cNvSpPr txBox="1"/>
          <p:nvPr/>
        </p:nvSpPr>
        <p:spPr>
          <a:xfrm>
            <a:off x="8915400" y="5212080"/>
            <a:ext cx="2560320" cy="457200"/>
          </a:xfrm>
          <a:prstGeom prst="rect">
            <a:avLst/>
          </a:prstGeom>
          <a:noFill/>
        </p:spPr>
        <p:txBody>
          <a:bodyPr wrap="square" anchor="ctr" lIns="54864" rIns="54864" tIns="27432" bIns="27432">
            <a:spAutoFit/>
          </a:bodyPr>
          <a:lstStyle/>
          <a:p>
            <a:pPr algn="l">
              <a:spcBef>
                <a:spcPts val="0"/>
              </a:spcBef>
              <a:spcAft>
                <a:spcPts val="0"/>
              </a:spcAft>
            </a:pPr>
            <a:r>
              <a:rPr sz="1300" b="1" i="0">
                <a:solidFill>
                  <a:srgbClr val="49E3CE"/>
                </a:solidFill>
                <a:latin typeface="Consolas"/>
              </a:rPr>
              <a:t>68</a:t>
            </a:r>
          </a:p>
        </p:txBody>
      </p:sp>
      <p:sp>
        <p:nvSpPr>
          <p:cNvPr id="74" name="TextBox 73"/>
          <p:cNvSpPr txBox="1"/>
          <p:nvPr/>
        </p:nvSpPr>
        <p:spPr>
          <a:xfrm>
            <a:off x="566928" y="5943600"/>
            <a:ext cx="10972800" cy="365760"/>
          </a:xfrm>
          <a:prstGeom prst="rect">
            <a:avLst/>
          </a:prstGeom>
          <a:noFill/>
        </p:spPr>
        <p:txBody>
          <a:bodyPr wrap="square" anchor="t" lIns="54864" rIns="54864" tIns="27432" bIns="27432">
            <a:spAutoFit/>
          </a:bodyPr>
          <a:lstStyle/>
          <a:p>
            <a:pPr algn="l">
              <a:spcBef>
                <a:spcPts val="0"/>
              </a:spcBef>
              <a:spcAft>
                <a:spcPts val="0"/>
              </a:spcAft>
            </a:pPr>
            <a:r>
              <a:rPr sz="1300" b="1" i="1">
                <a:solidFill>
                  <a:srgbClr val="49E3CE"/>
                </a:solidFill>
                <a:latin typeface="Calibri"/>
              </a:rPr>
              <a:t>Everything stays sub-millisecond on commodity hardware — the PQ column is feasible, not exotic-slow.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FFB454"/>
                </a:solidFill>
                <a:latin typeface="Calibri"/>
              </a:rPr>
              <a:t>FINDING 1</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The price of post-quantum is communication, not computation</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08</a:t>
            </a:r>
          </a:p>
        </p:txBody>
      </p:sp>
      <p:sp>
        <p:nvSpPr>
          <p:cNvPr id="18" name="TextBox 17"/>
          <p:cNvSpPr txBox="1"/>
          <p:nvPr/>
        </p:nvSpPr>
        <p:spPr>
          <a:xfrm>
            <a:off x="822960" y="1783080"/>
            <a:ext cx="5120640" cy="320040"/>
          </a:xfrm>
          <a:prstGeom prst="rect">
            <a:avLst/>
          </a:prstGeom>
          <a:noFill/>
        </p:spPr>
        <p:txBody>
          <a:bodyPr wrap="square" anchor="t" lIns="54864" rIns="54864" tIns="27432" bIns="27432">
            <a:spAutoFit/>
          </a:bodyPr>
          <a:lstStyle/>
          <a:p>
            <a:pPr algn="l">
              <a:spcBef>
                <a:spcPts val="0"/>
              </a:spcBef>
              <a:spcAft>
                <a:spcPts val="0"/>
              </a:spcAft>
            </a:pPr>
            <a:r>
              <a:rPr sz="1200" b="1" i="0" spc="40">
                <a:solidFill>
                  <a:srgbClr val="FF6B6B"/>
                </a:solidFill>
                <a:latin typeface="Calibri"/>
              </a:rPr>
              <a:t>COMMUNICATION — size ratio (LAS ÷ ECDSA)</a:t>
            </a:r>
          </a:p>
        </p:txBody>
      </p:sp>
      <p:sp>
        <p:nvSpPr>
          <p:cNvPr id="19" name="Rounded Rectangle 18"/>
          <p:cNvSpPr/>
          <p:nvPr/>
        </p:nvSpPr>
        <p:spPr>
          <a:xfrm>
            <a:off x="914400" y="2499360"/>
            <a:ext cx="777240" cy="271272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4380" y="2188464"/>
            <a:ext cx="109728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FF6B6B"/>
                </a:solidFill>
                <a:latin typeface="Consolas"/>
              </a:rPr>
              <a:t>×89</a:t>
            </a:r>
          </a:p>
        </p:txBody>
      </p:sp>
      <p:sp>
        <p:nvSpPr>
          <p:cNvPr id="21" name="TextBox 20"/>
          <p:cNvSpPr txBox="1"/>
          <p:nvPr/>
        </p:nvSpPr>
        <p:spPr>
          <a:xfrm>
            <a:off x="754380" y="5266944"/>
            <a:ext cx="109728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pk</a:t>
            </a:r>
          </a:p>
        </p:txBody>
      </p:sp>
      <p:sp>
        <p:nvSpPr>
          <p:cNvPr id="22" name="Rounded Rectangle 21"/>
          <p:cNvSpPr/>
          <p:nvPr/>
        </p:nvSpPr>
        <p:spPr>
          <a:xfrm>
            <a:off x="2148840" y="2987040"/>
            <a:ext cx="777240" cy="222504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88819" y="2676144"/>
            <a:ext cx="109728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FF6B6B"/>
                </a:solidFill>
                <a:latin typeface="Consolas"/>
              </a:rPr>
              <a:t>×73</a:t>
            </a:r>
          </a:p>
        </p:txBody>
      </p:sp>
      <p:sp>
        <p:nvSpPr>
          <p:cNvPr id="24" name="TextBox 23"/>
          <p:cNvSpPr txBox="1"/>
          <p:nvPr/>
        </p:nvSpPr>
        <p:spPr>
          <a:xfrm>
            <a:off x="1988819" y="5266944"/>
            <a:ext cx="109728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sig</a:t>
            </a:r>
          </a:p>
        </p:txBody>
      </p:sp>
      <p:sp>
        <p:nvSpPr>
          <p:cNvPr id="25" name="Rounded Rectangle 24"/>
          <p:cNvSpPr/>
          <p:nvPr/>
        </p:nvSpPr>
        <p:spPr>
          <a:xfrm>
            <a:off x="3383280" y="4328160"/>
            <a:ext cx="777240" cy="88392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23260" y="4017264"/>
            <a:ext cx="109728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FF6B6B"/>
                </a:solidFill>
                <a:latin typeface="Consolas"/>
              </a:rPr>
              <a:t>×29</a:t>
            </a:r>
          </a:p>
        </p:txBody>
      </p:sp>
      <p:sp>
        <p:nvSpPr>
          <p:cNvPr id="27" name="TextBox 26"/>
          <p:cNvSpPr txBox="1"/>
          <p:nvPr/>
        </p:nvSpPr>
        <p:spPr>
          <a:xfrm>
            <a:off x="3223260" y="5266944"/>
            <a:ext cx="109728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pre-sig</a:t>
            </a:r>
          </a:p>
        </p:txBody>
      </p:sp>
      <p:sp>
        <p:nvSpPr>
          <p:cNvPr id="28" name="Rounded Rectangle 27"/>
          <p:cNvSpPr/>
          <p:nvPr/>
        </p:nvSpPr>
        <p:spPr>
          <a:xfrm>
            <a:off x="4617720" y="4724400"/>
            <a:ext cx="777240" cy="48768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57700" y="4413504"/>
            <a:ext cx="109728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FF6B6B"/>
                </a:solidFill>
                <a:latin typeface="Consolas"/>
              </a:rPr>
              <a:t>×16</a:t>
            </a:r>
          </a:p>
        </p:txBody>
      </p:sp>
      <p:sp>
        <p:nvSpPr>
          <p:cNvPr id="30" name="TextBox 29"/>
          <p:cNvSpPr txBox="1"/>
          <p:nvPr/>
        </p:nvSpPr>
        <p:spPr>
          <a:xfrm>
            <a:off x="4457700" y="5266944"/>
            <a:ext cx="109728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sk</a:t>
            </a:r>
          </a:p>
        </p:txBody>
      </p:sp>
      <p:sp>
        <p:nvSpPr>
          <p:cNvPr id="31" name="TextBox 30"/>
          <p:cNvSpPr txBox="1"/>
          <p:nvPr/>
        </p:nvSpPr>
        <p:spPr>
          <a:xfrm>
            <a:off x="6766560" y="1783080"/>
            <a:ext cx="4754880" cy="320040"/>
          </a:xfrm>
          <a:prstGeom prst="rect">
            <a:avLst/>
          </a:prstGeom>
          <a:noFill/>
        </p:spPr>
        <p:txBody>
          <a:bodyPr wrap="square" anchor="t" lIns="54864" rIns="54864" tIns="27432" bIns="27432">
            <a:spAutoFit/>
          </a:bodyPr>
          <a:lstStyle/>
          <a:p>
            <a:pPr algn="l">
              <a:spcBef>
                <a:spcPts val="0"/>
              </a:spcBef>
              <a:spcAft>
                <a:spcPts val="0"/>
              </a:spcAft>
            </a:pPr>
            <a:r>
              <a:rPr sz="1200" b="1" i="0" spc="40">
                <a:solidFill>
                  <a:srgbClr val="49E3CE"/>
                </a:solidFill>
                <a:latin typeface="Calibri"/>
              </a:rPr>
              <a:t>COMPUTATION — time ratio (LAS ÷ ECDSA)</a:t>
            </a:r>
          </a:p>
        </p:txBody>
      </p:sp>
      <p:sp>
        <p:nvSpPr>
          <p:cNvPr id="32" name="Rounded Rectangle 31"/>
          <p:cNvSpPr/>
          <p:nvPr/>
        </p:nvSpPr>
        <p:spPr>
          <a:xfrm>
            <a:off x="6903720" y="4617720"/>
            <a:ext cx="868680" cy="594360"/>
          </a:xfrm>
          <a:prstGeom prst="roundRect">
            <a:avLst>
              <a:gd name="adj" fmla="val 12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97980" y="4306824"/>
            <a:ext cx="128016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49E3CE"/>
                </a:solidFill>
                <a:latin typeface="Consolas"/>
              </a:rPr>
              <a:t>×19.5</a:t>
            </a:r>
          </a:p>
        </p:txBody>
      </p:sp>
      <p:sp>
        <p:nvSpPr>
          <p:cNvPr id="34" name="TextBox 33"/>
          <p:cNvSpPr txBox="1"/>
          <p:nvPr/>
        </p:nvSpPr>
        <p:spPr>
          <a:xfrm>
            <a:off x="6697980" y="5266944"/>
            <a:ext cx="128016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Sign</a:t>
            </a:r>
          </a:p>
        </p:txBody>
      </p:sp>
      <p:sp>
        <p:nvSpPr>
          <p:cNvPr id="35" name="Rounded Rectangle 34"/>
          <p:cNvSpPr/>
          <p:nvPr/>
        </p:nvSpPr>
        <p:spPr>
          <a:xfrm>
            <a:off x="8321040" y="5077968"/>
            <a:ext cx="868680" cy="134112"/>
          </a:xfrm>
          <a:prstGeom prst="roundRect">
            <a:avLst>
              <a:gd name="adj" fmla="val 12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15300" y="4767072"/>
            <a:ext cx="128016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49E3CE"/>
                </a:solidFill>
                <a:latin typeface="Consolas"/>
              </a:rPr>
              <a:t>×4.4</a:t>
            </a:r>
          </a:p>
        </p:txBody>
      </p:sp>
      <p:sp>
        <p:nvSpPr>
          <p:cNvPr id="37" name="TextBox 36"/>
          <p:cNvSpPr txBox="1"/>
          <p:nvPr/>
        </p:nvSpPr>
        <p:spPr>
          <a:xfrm>
            <a:off x="8115300" y="5266944"/>
            <a:ext cx="128016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PreSign</a:t>
            </a:r>
          </a:p>
        </p:txBody>
      </p:sp>
      <p:sp>
        <p:nvSpPr>
          <p:cNvPr id="38" name="Rounded Rectangle 37"/>
          <p:cNvSpPr/>
          <p:nvPr/>
        </p:nvSpPr>
        <p:spPr>
          <a:xfrm>
            <a:off x="9738360" y="5117592"/>
            <a:ext cx="868680" cy="94488"/>
          </a:xfrm>
          <a:prstGeom prst="roundRect">
            <a:avLst>
              <a:gd name="adj" fmla="val 12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32620" y="4806696"/>
            <a:ext cx="128016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49E3CE"/>
                </a:solidFill>
                <a:latin typeface="Consolas"/>
              </a:rPr>
              <a:t>×3.1</a:t>
            </a:r>
          </a:p>
        </p:txBody>
      </p:sp>
      <p:sp>
        <p:nvSpPr>
          <p:cNvPr id="40" name="TextBox 39"/>
          <p:cNvSpPr txBox="1"/>
          <p:nvPr/>
        </p:nvSpPr>
        <p:spPr>
          <a:xfrm>
            <a:off x="9532620" y="5266944"/>
            <a:ext cx="128016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Verify</a:t>
            </a:r>
          </a:p>
        </p:txBody>
      </p:sp>
      <p:sp>
        <p:nvSpPr>
          <p:cNvPr id="41" name="Rectangle 40"/>
          <p:cNvSpPr/>
          <p:nvPr/>
        </p:nvSpPr>
        <p:spPr>
          <a:xfrm>
            <a:off x="6355080" y="1828800"/>
            <a:ext cx="12801" cy="3611880"/>
          </a:xfrm>
          <a:prstGeom prst="rect">
            <a:avLst/>
          </a:prstGeom>
          <a:solidFill>
            <a:srgbClr val="2E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2960" y="5212080"/>
            <a:ext cx="10698480" cy="16459"/>
          </a:xfrm>
          <a:prstGeom prst="rect">
            <a:avLst/>
          </a:prstGeom>
          <a:solidFill>
            <a:srgbClr val="2E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566928" y="5623560"/>
            <a:ext cx="10972800" cy="868680"/>
          </a:xfrm>
          <a:prstGeom prst="roundRect">
            <a:avLst>
              <a:gd name="adj" fmla="val 4500"/>
            </a:avLst>
          </a:prstGeom>
          <a:solidFill>
            <a:srgbClr val="262D66"/>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05856"/>
            <a:ext cx="10607040" cy="731520"/>
          </a:xfrm>
          <a:prstGeom prst="rect">
            <a:avLst/>
          </a:prstGeom>
          <a:noFill/>
        </p:spPr>
        <p:txBody>
          <a:bodyPr wrap="square" anchor="t" lIns="54864" rIns="54864" tIns="27432" bIns="27432">
            <a:spAutoFit/>
          </a:bodyPr>
          <a:lstStyle/>
          <a:p>
            <a:pPr algn="l">
              <a:lnSpc>
                <a:spcPct val="100000"/>
              </a:lnSpc>
              <a:spcBef>
                <a:spcPts val="0"/>
              </a:spcBef>
              <a:spcAft>
                <a:spcPts val="200"/>
              </a:spcAft>
            </a:pPr>
            <a:r>
              <a:rPr sz="1300" b="1" i="0">
                <a:solidFill>
                  <a:srgbClr val="ECEEFF"/>
                </a:solidFill>
                <a:latin typeface="Calibri"/>
              </a:rPr>
              <a:t>Sizes grow ×16–×89; times grow ×3–×20 and stay sub-ms. </a:t>
            </a:r>
            <a:r>
              <a:rPr sz="1300" b="0" i="0">
                <a:solidFill>
                  <a:srgbClr val="ECEEFF"/>
                </a:solidFill>
                <a:latin typeface="Calibri"/>
              </a:rPr>
              <a:t>For a blockchain the size column is the binding constraint — on-chain the 4672-B sig's calldata alone (74,476 gas) exceeds the entire classical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49E3CE"/>
                </a:solidFill>
                <a:latin typeface="Calibri"/>
              </a:rPr>
              <a:t>FINDING 2 · LAS'S HEADLINE WIN</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The adaptor overhead is inverted</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09</a:t>
            </a:r>
          </a:p>
        </p:txBody>
      </p:sp>
      <p:sp>
        <p:nvSpPr>
          <p:cNvPr id="18" name="TextBox 17"/>
          <p:cNvSpPr txBox="1"/>
          <p:nvPr/>
        </p:nvSpPr>
        <p:spPr>
          <a:xfrm>
            <a:off x="566928" y="1627632"/>
            <a:ext cx="10972800" cy="365760"/>
          </a:xfrm>
          <a:prstGeom prst="rect">
            <a:avLst/>
          </a:prstGeom>
          <a:noFill/>
        </p:spPr>
        <p:txBody>
          <a:bodyPr wrap="square" anchor="t" lIns="54864" rIns="54864" tIns="27432" bIns="27432">
            <a:spAutoFit/>
          </a:bodyPr>
          <a:lstStyle/>
          <a:p>
            <a:pPr algn="l">
              <a:spcBef>
                <a:spcPts val="0"/>
              </a:spcBef>
              <a:spcAft>
                <a:spcPts val="0"/>
              </a:spcAft>
            </a:pPr>
            <a:r>
              <a:rPr sz="1400" b="1" i="0">
                <a:solidFill>
                  <a:srgbClr val="ECEEFF"/>
                </a:solidFill>
                <a:latin typeface="Calibri"/>
              </a:rPr>
              <a:t>Cost of the adaptor operation relative to its own base operation (× base):</a:t>
            </a:r>
          </a:p>
        </p:txBody>
      </p:sp>
      <p:sp>
        <p:nvSpPr>
          <p:cNvPr id="19" name="TextBox 18"/>
          <p:cNvSpPr txBox="1"/>
          <p:nvPr/>
        </p:nvSpPr>
        <p:spPr>
          <a:xfrm>
            <a:off x="566928" y="2221992"/>
            <a:ext cx="3657600" cy="420623"/>
          </a:xfrm>
          <a:prstGeom prst="rect">
            <a:avLst/>
          </a:prstGeom>
          <a:noFill/>
        </p:spPr>
        <p:txBody>
          <a:bodyPr wrap="square" anchor="ctr" lIns="54864" rIns="54864" tIns="27432" bIns="27432">
            <a:spAutoFit/>
          </a:bodyPr>
          <a:lstStyle/>
          <a:p>
            <a:pPr algn="l">
              <a:spcBef>
                <a:spcPts val="0"/>
              </a:spcBef>
              <a:spcAft>
                <a:spcPts val="0"/>
              </a:spcAft>
            </a:pPr>
            <a:r>
              <a:rPr sz="1250" b="0" i="0">
                <a:solidFill>
                  <a:srgbClr val="ECEEFF"/>
                </a:solidFill>
                <a:latin typeface="Calibri"/>
              </a:rPr>
              <a:t>Classical PreSign / Sign</a:t>
            </a:r>
          </a:p>
        </p:txBody>
      </p:sp>
      <p:sp>
        <p:nvSpPr>
          <p:cNvPr id="20" name="Rounded Rectangle 19"/>
          <p:cNvSpPr/>
          <p:nvPr/>
        </p:nvSpPr>
        <p:spPr>
          <a:xfrm>
            <a:off x="4343400" y="2240280"/>
            <a:ext cx="5760720" cy="384048"/>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43400" y="2240280"/>
            <a:ext cx="5299862" cy="384048"/>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34702" y="2221992"/>
            <a:ext cx="1554480" cy="420623"/>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FF6B6B"/>
                </a:solidFill>
                <a:latin typeface="Consolas"/>
              </a:rPr>
              <a:t>×4.6</a:t>
            </a:r>
          </a:p>
        </p:txBody>
      </p:sp>
      <p:sp>
        <p:nvSpPr>
          <p:cNvPr id="23" name="TextBox 22"/>
          <p:cNvSpPr txBox="1"/>
          <p:nvPr/>
        </p:nvSpPr>
        <p:spPr>
          <a:xfrm>
            <a:off x="566928" y="2862072"/>
            <a:ext cx="3657600" cy="420623"/>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LAS PreSign / Sign</a:t>
            </a:r>
          </a:p>
        </p:txBody>
      </p:sp>
      <p:sp>
        <p:nvSpPr>
          <p:cNvPr id="24" name="Rounded Rectangle 23"/>
          <p:cNvSpPr/>
          <p:nvPr/>
        </p:nvSpPr>
        <p:spPr>
          <a:xfrm>
            <a:off x="4343400" y="2880360"/>
            <a:ext cx="5760720" cy="384048"/>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343400" y="2880360"/>
            <a:ext cx="1186708" cy="384048"/>
          </a:xfrm>
          <a:prstGeom prst="roundRect">
            <a:avLst>
              <a:gd name="adj" fmla="val 50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21548" y="2862072"/>
            <a:ext cx="1554480" cy="420623"/>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49E3CE"/>
                </a:solidFill>
                <a:latin typeface="Consolas"/>
              </a:rPr>
              <a:t>×1.03</a:t>
            </a:r>
          </a:p>
        </p:txBody>
      </p:sp>
      <p:sp>
        <p:nvSpPr>
          <p:cNvPr id="27" name="TextBox 26"/>
          <p:cNvSpPr txBox="1"/>
          <p:nvPr/>
        </p:nvSpPr>
        <p:spPr>
          <a:xfrm>
            <a:off x="566928" y="3502152"/>
            <a:ext cx="3657600" cy="420623"/>
          </a:xfrm>
          <a:prstGeom prst="rect">
            <a:avLst/>
          </a:prstGeom>
          <a:noFill/>
        </p:spPr>
        <p:txBody>
          <a:bodyPr wrap="square" anchor="ctr" lIns="54864" rIns="54864" tIns="27432" bIns="27432">
            <a:spAutoFit/>
          </a:bodyPr>
          <a:lstStyle/>
          <a:p>
            <a:pPr algn="l">
              <a:spcBef>
                <a:spcPts val="0"/>
              </a:spcBef>
              <a:spcAft>
                <a:spcPts val="0"/>
              </a:spcAft>
            </a:pPr>
            <a:r>
              <a:rPr sz="1250" b="0" i="0">
                <a:solidFill>
                  <a:srgbClr val="ECEEFF"/>
                </a:solidFill>
                <a:latin typeface="Calibri"/>
              </a:rPr>
              <a:t>Classical PreVerify / Verify</a:t>
            </a:r>
          </a:p>
        </p:txBody>
      </p:sp>
      <p:sp>
        <p:nvSpPr>
          <p:cNvPr id="28" name="Rounded Rectangle 27"/>
          <p:cNvSpPr/>
          <p:nvPr/>
        </p:nvSpPr>
        <p:spPr>
          <a:xfrm>
            <a:off x="4343400" y="3520440"/>
            <a:ext cx="5760720" cy="384048"/>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343400" y="3520440"/>
            <a:ext cx="4493361" cy="384048"/>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28201" y="3502152"/>
            <a:ext cx="1554480" cy="420623"/>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FF6B6B"/>
                </a:solidFill>
                <a:latin typeface="Consolas"/>
              </a:rPr>
              <a:t>×3.9</a:t>
            </a:r>
          </a:p>
        </p:txBody>
      </p:sp>
      <p:sp>
        <p:nvSpPr>
          <p:cNvPr id="31" name="TextBox 30"/>
          <p:cNvSpPr txBox="1"/>
          <p:nvPr/>
        </p:nvSpPr>
        <p:spPr>
          <a:xfrm>
            <a:off x="566928" y="4142232"/>
            <a:ext cx="3657600" cy="420623"/>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LAS PreVerify / Verify</a:t>
            </a:r>
          </a:p>
        </p:txBody>
      </p:sp>
      <p:sp>
        <p:nvSpPr>
          <p:cNvPr id="32" name="Rounded Rectangle 31"/>
          <p:cNvSpPr/>
          <p:nvPr/>
        </p:nvSpPr>
        <p:spPr>
          <a:xfrm>
            <a:off x="4343400" y="4160520"/>
            <a:ext cx="5760720" cy="384048"/>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43400" y="4160520"/>
            <a:ext cx="1186708" cy="384048"/>
          </a:xfrm>
          <a:prstGeom prst="roundRect">
            <a:avLst>
              <a:gd name="adj" fmla="val 50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21548" y="4142232"/>
            <a:ext cx="1554480" cy="420623"/>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49E3CE"/>
                </a:solidFill>
                <a:latin typeface="Consolas"/>
              </a:rPr>
              <a:t>×1.03</a:t>
            </a:r>
          </a:p>
        </p:txBody>
      </p:sp>
      <p:sp>
        <p:nvSpPr>
          <p:cNvPr id="35" name="Rectangle 34"/>
          <p:cNvSpPr/>
          <p:nvPr/>
        </p:nvSpPr>
        <p:spPr>
          <a:xfrm>
            <a:off x="5495544" y="2130552"/>
            <a:ext cx="12801" cy="2414015"/>
          </a:xfrm>
          <a:prstGeom prst="rect">
            <a:avLst/>
          </a:prstGeom>
          <a:solidFill>
            <a:srgbClr val="9AA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84064" y="1856232"/>
            <a:ext cx="914400" cy="274320"/>
          </a:xfrm>
          <a:prstGeom prst="rect">
            <a:avLst/>
          </a:prstGeom>
          <a:noFill/>
        </p:spPr>
        <p:txBody>
          <a:bodyPr wrap="square" anchor="t" lIns="54864" rIns="54864" tIns="27432" bIns="27432">
            <a:spAutoFit/>
          </a:bodyPr>
          <a:lstStyle/>
          <a:p>
            <a:pPr algn="ctr">
              <a:spcBef>
                <a:spcPts val="0"/>
              </a:spcBef>
              <a:spcAft>
                <a:spcPts val="0"/>
              </a:spcAft>
            </a:pPr>
            <a:r>
              <a:rPr sz="1000" b="0" i="1">
                <a:solidFill>
                  <a:srgbClr val="9AA0D0"/>
                </a:solidFill>
                <a:latin typeface="Calibri"/>
              </a:rPr>
              <a:t>×1 (free)</a:t>
            </a:r>
          </a:p>
        </p:txBody>
      </p:sp>
      <p:sp>
        <p:nvSpPr>
          <p:cNvPr id="37" name="Rounded Rectangle 36"/>
          <p:cNvSpPr/>
          <p:nvPr/>
        </p:nvSpPr>
        <p:spPr>
          <a:xfrm>
            <a:off x="566928" y="5029200"/>
            <a:ext cx="5440680" cy="1325880"/>
          </a:xfrm>
          <a:prstGeom prst="roundRect">
            <a:avLst>
              <a:gd name="adj" fmla="val 4500"/>
            </a:avLst>
          </a:prstGeom>
          <a:solidFill>
            <a:srgbClr val="262D66"/>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138928"/>
            <a:ext cx="5120640" cy="1097280"/>
          </a:xfrm>
          <a:prstGeom prst="rect">
            <a:avLst/>
          </a:prstGeom>
          <a:noFill/>
        </p:spPr>
        <p:txBody>
          <a:bodyPr wrap="square" anchor="t" lIns="54864" rIns="54864" tIns="27432" bIns="27432">
            <a:spAutoFit/>
          </a:bodyPr>
          <a:lstStyle/>
          <a:p>
            <a:pPr algn="l">
              <a:lnSpc>
                <a:spcPct val="100000"/>
              </a:lnSpc>
              <a:spcBef>
                <a:spcPts val="0"/>
              </a:spcBef>
              <a:spcAft>
                <a:spcPts val="200"/>
              </a:spcAft>
            </a:pPr>
            <a:r>
              <a:rPr sz="1300" b="0" i="0">
                <a:solidFill>
                  <a:srgbClr val="ECEEFF"/>
                </a:solidFill>
                <a:latin typeface="Calibri"/>
              </a:rPr>
              <a:t>Classical pays for a </a:t>
            </a:r>
            <a:r>
              <a:rPr sz="1300" b="1" i="0">
                <a:solidFill>
                  <a:srgbClr val="FF6B6B"/>
                </a:solidFill>
                <a:latin typeface="Calibri"/>
              </a:rPr>
              <a:t>DLEQ proof</a:t>
            </a:r>
            <a:r>
              <a:rPr sz="1300" b="0" i="0">
                <a:solidFill>
                  <a:srgbClr val="ECEEFF"/>
                </a:solidFill>
                <a:latin typeface="Calibri"/>
              </a:rPr>
              <a:t> in the pre-signature; LAS folds Y into the hash for free.</a:t>
            </a:r>
          </a:p>
        </p:txBody>
      </p:sp>
      <p:sp>
        <p:nvSpPr>
          <p:cNvPr id="39" name="Rounded Rectangle 38"/>
          <p:cNvSpPr/>
          <p:nvPr/>
        </p:nvSpPr>
        <p:spPr>
          <a:xfrm>
            <a:off x="6126480" y="5029200"/>
            <a:ext cx="5413248" cy="1325880"/>
          </a:xfrm>
          <a:prstGeom prst="roundRect">
            <a:avLst>
              <a:gd name="adj" fmla="val 4500"/>
            </a:avLst>
          </a:prstGeom>
          <a:solidFill>
            <a:srgbClr val="262D66"/>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36792" y="5138928"/>
            <a:ext cx="5074920" cy="1097280"/>
          </a:xfrm>
          <a:prstGeom prst="rect">
            <a:avLst/>
          </a:prstGeom>
          <a:noFill/>
        </p:spPr>
        <p:txBody>
          <a:bodyPr wrap="square" anchor="t" lIns="54864" rIns="54864" tIns="27432" bIns="27432">
            <a:spAutoFit/>
          </a:bodyPr>
          <a:lstStyle/>
          <a:p>
            <a:pPr algn="l">
              <a:lnSpc>
                <a:spcPct val="100000"/>
              </a:lnSpc>
              <a:spcBef>
                <a:spcPts val="0"/>
              </a:spcBef>
              <a:spcAft>
                <a:spcPts val="200"/>
              </a:spcAft>
            </a:pPr>
            <a:r>
              <a:rPr sz="1300" b="0" i="0">
                <a:solidFill>
                  <a:srgbClr val="ECEEFF"/>
                </a:solidFill>
                <a:latin typeface="Calibri"/>
              </a:rPr>
              <a:t>LAS PreVerify (197 µs) is </a:t>
            </a:r>
            <a:r>
              <a:rPr sz="1300" b="1" i="0">
                <a:solidFill>
                  <a:srgbClr val="49E3CE"/>
                </a:solidFill>
                <a:latin typeface="Calibri"/>
              </a:rPr>
              <a:t>absolutely faster</a:t>
            </a:r>
            <a:r>
              <a:rPr sz="1300" b="0" i="0">
                <a:solidFill>
                  <a:srgbClr val="ECEEFF"/>
                </a:solidFill>
                <a:latin typeface="Calibri"/>
              </a:rPr>
              <a:t> than classical ECDSA-adaptor PreVerify (244 µs) — same machine.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FFB454"/>
                </a:solidFill>
                <a:latin typeface="Calibri"/>
              </a:rPr>
              <a:t>APPLICATION-LEVEL · ATOMIC SWAP</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Swap payload: what actually crosses the wire</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10</a:t>
            </a:r>
          </a:p>
        </p:txBody>
      </p:sp>
      <p:sp>
        <p:nvSpPr>
          <p:cNvPr id="18" name="TextBox 17"/>
          <p:cNvSpPr txBox="1"/>
          <p:nvPr/>
        </p:nvSpPr>
        <p:spPr>
          <a:xfrm>
            <a:off x="566928" y="1600200"/>
            <a:ext cx="10972800" cy="320040"/>
          </a:xfrm>
          <a:prstGeom prst="rect">
            <a:avLst/>
          </a:prstGeom>
          <a:noFill/>
        </p:spPr>
        <p:txBody>
          <a:bodyPr wrap="square" anchor="t" lIns="54864" rIns="54864" tIns="27432" bIns="27432">
            <a:spAutoFit/>
          </a:bodyPr>
          <a:lstStyle/>
          <a:p>
            <a:pPr algn="l">
              <a:spcBef>
                <a:spcPts val="0"/>
              </a:spcBef>
              <a:spcAft>
                <a:spcPts val="0"/>
              </a:spcAft>
            </a:pPr>
            <a:r>
              <a:rPr sz="1200" b="0" i="1">
                <a:solidFill>
                  <a:srgbClr val="9AA0D0"/>
                </a:solidFill>
                <a:latin typeface="Calibri"/>
              </a:rPr>
              <a:t>2 parties, 2 chains, scriptless (bench_app3) — actual serialised bytes</a:t>
            </a:r>
          </a:p>
        </p:txBody>
      </p:sp>
      <p:sp>
        <p:nvSpPr>
          <p:cNvPr id="19" name="Rounded Rectangle 18"/>
          <p:cNvSpPr/>
          <p:nvPr/>
        </p:nvSpPr>
        <p:spPr>
          <a:xfrm>
            <a:off x="566928" y="2148840"/>
            <a:ext cx="3520440" cy="2011680"/>
          </a:xfrm>
          <a:prstGeom prst="roundRect">
            <a:avLst>
              <a:gd name="adj" fmla="val 4500"/>
            </a:avLst>
          </a:prstGeom>
          <a:solidFill>
            <a:srgbClr val="1E2457"/>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148840"/>
            <a:ext cx="3520440" cy="45720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423160"/>
            <a:ext cx="3520440" cy="18288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148840"/>
            <a:ext cx="3154680" cy="457200"/>
          </a:xfrm>
          <a:prstGeom prst="rect">
            <a:avLst/>
          </a:prstGeom>
          <a:noFill/>
        </p:spPr>
        <p:txBody>
          <a:bodyPr wrap="square" anchor="ctr" lIns="54864" rIns="54864" tIns="27432" bIns="27432">
            <a:spAutoFit/>
          </a:bodyPr>
          <a:lstStyle/>
          <a:p>
            <a:pPr algn="l">
              <a:spcBef>
                <a:spcPts val="0"/>
              </a:spcBef>
              <a:spcAft>
                <a:spcPts val="0"/>
              </a:spcAft>
            </a:pPr>
            <a:r>
              <a:rPr sz="1200" b="1" i="0" spc="80">
                <a:solidFill>
                  <a:srgbClr val="FFB454"/>
                </a:solidFill>
                <a:latin typeface="Calibri"/>
              </a:rPr>
              <a:t>OFF-CHAIN</a:t>
            </a:r>
          </a:p>
        </p:txBody>
      </p:sp>
      <p:sp>
        <p:nvSpPr>
          <p:cNvPr id="23" name="TextBox 22"/>
          <p:cNvSpPr txBox="1"/>
          <p:nvPr/>
        </p:nvSpPr>
        <p:spPr>
          <a:xfrm>
            <a:off x="768096" y="2715768"/>
            <a:ext cx="3154680" cy="731520"/>
          </a:xfrm>
          <a:prstGeom prst="rect">
            <a:avLst/>
          </a:prstGeom>
          <a:noFill/>
        </p:spPr>
        <p:txBody>
          <a:bodyPr wrap="square" anchor="t" lIns="54864" rIns="54864" tIns="27432" bIns="27432">
            <a:spAutoFit/>
          </a:bodyPr>
          <a:lstStyle/>
          <a:p>
            <a:pPr algn="l">
              <a:spcBef>
                <a:spcPts val="0"/>
              </a:spcBef>
              <a:spcAft>
                <a:spcPts val="0"/>
              </a:spcAft>
            </a:pPr>
            <a:r>
              <a:rPr sz="3400" b="1" i="0">
                <a:solidFill>
                  <a:srgbClr val="FFB454"/>
                </a:solidFill>
                <a:latin typeface="Georgia"/>
              </a:rPr>
              <a:t>12,288 B</a:t>
            </a:r>
          </a:p>
        </p:txBody>
      </p:sp>
      <p:sp>
        <p:nvSpPr>
          <p:cNvPr id="24" name="TextBox 23"/>
          <p:cNvSpPr txBox="1"/>
          <p:nvPr/>
        </p:nvSpPr>
        <p:spPr>
          <a:xfrm>
            <a:off x="768096" y="3474720"/>
            <a:ext cx="3154680" cy="640080"/>
          </a:xfrm>
          <a:prstGeom prst="rect">
            <a:avLst/>
          </a:prstGeom>
          <a:noFill/>
        </p:spPr>
        <p:txBody>
          <a:bodyPr wrap="square" anchor="t" lIns="54864" rIns="54864" tIns="27432" bIns="27432">
            <a:spAutoFit/>
          </a:bodyPr>
          <a:lstStyle/>
          <a:p>
            <a:pPr algn="l">
              <a:lnSpc>
                <a:spcPct val="100000"/>
              </a:lnSpc>
              <a:spcBef>
                <a:spcPts val="0"/>
              </a:spcBef>
              <a:spcAft>
                <a:spcPts val="100"/>
              </a:spcAft>
            </a:pPr>
            <a:r>
              <a:rPr sz="1200" b="0" i="0">
                <a:solidFill>
                  <a:srgbClr val="ECEEFF"/>
                </a:solidFill>
                <a:latin typeface="Calibri"/>
              </a:rPr>
              <a:t>Y + σ̂_A + σ̂_B</a:t>
            </a:r>
          </a:p>
          <a:p>
            <a:pPr algn="l">
              <a:lnSpc>
                <a:spcPct val="100000"/>
              </a:lnSpc>
              <a:spcBef>
                <a:spcPts val="0"/>
              </a:spcBef>
              <a:spcAft>
                <a:spcPts val="100"/>
              </a:spcAft>
            </a:pPr>
            <a:r>
              <a:rPr sz="1200" b="0" i="0">
                <a:solidFill>
                  <a:srgbClr val="ECEEFF"/>
                </a:solidFill>
                <a:latin typeface="Calibri"/>
              </a:rPr>
              <a:t>(2944 + 4672 + 4672)</a:t>
            </a:r>
          </a:p>
        </p:txBody>
      </p:sp>
      <p:sp>
        <p:nvSpPr>
          <p:cNvPr id="25" name="TextBox 24"/>
          <p:cNvSpPr txBox="1"/>
          <p:nvPr/>
        </p:nvSpPr>
        <p:spPr>
          <a:xfrm>
            <a:off x="4096511" y="2148840"/>
            <a:ext cx="256032" cy="2011680"/>
          </a:xfrm>
          <a:prstGeom prst="rect">
            <a:avLst/>
          </a:prstGeom>
          <a:noFill/>
        </p:spPr>
        <p:txBody>
          <a:bodyPr wrap="square" anchor="ctr" lIns="54864" rIns="54864" tIns="27432" bIns="27432">
            <a:spAutoFit/>
          </a:bodyPr>
          <a:lstStyle/>
          <a:p>
            <a:pPr algn="ctr">
              <a:spcBef>
                <a:spcPts val="0"/>
              </a:spcBef>
              <a:spcAft>
                <a:spcPts val="0"/>
              </a:spcAft>
            </a:pPr>
            <a:r>
              <a:rPr sz="2200" b="1" i="0">
                <a:solidFill>
                  <a:srgbClr val="7078B0"/>
                </a:solidFill>
                <a:latin typeface="Calibri"/>
              </a:rPr>
              <a:t>→</a:t>
            </a:r>
          </a:p>
        </p:txBody>
      </p:sp>
      <p:sp>
        <p:nvSpPr>
          <p:cNvPr id="26" name="Rounded Rectangle 25"/>
          <p:cNvSpPr/>
          <p:nvPr/>
        </p:nvSpPr>
        <p:spPr>
          <a:xfrm>
            <a:off x="4343400" y="2148840"/>
            <a:ext cx="3520440" cy="2011680"/>
          </a:xfrm>
          <a:prstGeom prst="roundRect">
            <a:avLst>
              <a:gd name="adj" fmla="val 4500"/>
            </a:avLst>
          </a:prstGeom>
          <a:solidFill>
            <a:srgbClr val="1E2457"/>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3400" y="2148840"/>
            <a:ext cx="3520440" cy="45720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43400" y="2423160"/>
            <a:ext cx="3520440" cy="18288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4568" y="2148840"/>
            <a:ext cx="3154680" cy="457200"/>
          </a:xfrm>
          <a:prstGeom prst="rect">
            <a:avLst/>
          </a:prstGeom>
          <a:noFill/>
        </p:spPr>
        <p:txBody>
          <a:bodyPr wrap="square" anchor="ctr" lIns="54864" rIns="54864" tIns="27432" bIns="27432">
            <a:spAutoFit/>
          </a:bodyPr>
          <a:lstStyle/>
          <a:p>
            <a:pPr algn="l">
              <a:spcBef>
                <a:spcPts val="0"/>
              </a:spcBef>
              <a:spcAft>
                <a:spcPts val="0"/>
              </a:spcAft>
            </a:pPr>
            <a:r>
              <a:rPr sz="1200" b="1" i="0" spc="80">
                <a:solidFill>
                  <a:srgbClr val="49E3CE"/>
                </a:solidFill>
                <a:latin typeface="Calibri"/>
              </a:rPr>
              <a:t>SETTLEMENT</a:t>
            </a:r>
          </a:p>
        </p:txBody>
      </p:sp>
      <p:sp>
        <p:nvSpPr>
          <p:cNvPr id="30" name="TextBox 29"/>
          <p:cNvSpPr txBox="1"/>
          <p:nvPr/>
        </p:nvSpPr>
        <p:spPr>
          <a:xfrm>
            <a:off x="4544568" y="2715768"/>
            <a:ext cx="3154680" cy="731520"/>
          </a:xfrm>
          <a:prstGeom prst="rect">
            <a:avLst/>
          </a:prstGeom>
          <a:noFill/>
        </p:spPr>
        <p:txBody>
          <a:bodyPr wrap="square" anchor="t" lIns="54864" rIns="54864" tIns="27432" bIns="27432">
            <a:spAutoFit/>
          </a:bodyPr>
          <a:lstStyle/>
          <a:p>
            <a:pPr algn="l">
              <a:spcBef>
                <a:spcPts val="0"/>
              </a:spcBef>
              <a:spcAft>
                <a:spcPts val="0"/>
              </a:spcAft>
            </a:pPr>
            <a:r>
              <a:rPr sz="3400" b="1" i="0">
                <a:solidFill>
                  <a:srgbClr val="49E3CE"/>
                </a:solidFill>
                <a:latin typeface="Georgia"/>
              </a:rPr>
              <a:t>9,344 B</a:t>
            </a:r>
          </a:p>
        </p:txBody>
      </p:sp>
      <p:sp>
        <p:nvSpPr>
          <p:cNvPr id="31" name="TextBox 30"/>
          <p:cNvSpPr txBox="1"/>
          <p:nvPr/>
        </p:nvSpPr>
        <p:spPr>
          <a:xfrm>
            <a:off x="4544568" y="3474720"/>
            <a:ext cx="3154680" cy="640080"/>
          </a:xfrm>
          <a:prstGeom prst="rect">
            <a:avLst/>
          </a:prstGeom>
          <a:noFill/>
        </p:spPr>
        <p:txBody>
          <a:bodyPr wrap="square" anchor="t" lIns="54864" rIns="54864" tIns="27432" bIns="27432">
            <a:spAutoFit/>
          </a:bodyPr>
          <a:lstStyle/>
          <a:p>
            <a:pPr algn="l">
              <a:lnSpc>
                <a:spcPct val="100000"/>
              </a:lnSpc>
              <a:spcBef>
                <a:spcPts val="0"/>
              </a:spcBef>
              <a:spcAft>
                <a:spcPts val="100"/>
              </a:spcAft>
            </a:pPr>
            <a:r>
              <a:rPr sz="1200" b="0" i="0">
                <a:solidFill>
                  <a:srgbClr val="ECEEFF"/>
                </a:solidFill>
                <a:latin typeface="Calibri"/>
              </a:rPr>
              <a:t>σ_A, σ_B published</a:t>
            </a:r>
          </a:p>
          <a:p>
            <a:pPr algn="l">
              <a:lnSpc>
                <a:spcPct val="100000"/>
              </a:lnSpc>
              <a:spcBef>
                <a:spcPts val="0"/>
              </a:spcBef>
              <a:spcAft>
                <a:spcPts val="100"/>
              </a:spcAft>
            </a:pPr>
            <a:r>
              <a:rPr sz="1200" b="0" i="0">
                <a:solidFill>
                  <a:srgbClr val="ECEEFF"/>
                </a:solidFill>
                <a:latin typeface="Calibri"/>
              </a:rPr>
              <a:t>(2 × 4672)</a:t>
            </a:r>
          </a:p>
        </p:txBody>
      </p:sp>
      <p:sp>
        <p:nvSpPr>
          <p:cNvPr id="32" name="TextBox 31"/>
          <p:cNvSpPr txBox="1"/>
          <p:nvPr/>
        </p:nvSpPr>
        <p:spPr>
          <a:xfrm>
            <a:off x="7872983" y="2148840"/>
            <a:ext cx="256032" cy="2011680"/>
          </a:xfrm>
          <a:prstGeom prst="rect">
            <a:avLst/>
          </a:prstGeom>
          <a:noFill/>
        </p:spPr>
        <p:txBody>
          <a:bodyPr wrap="square" anchor="ctr" lIns="54864" rIns="54864" tIns="27432" bIns="27432">
            <a:spAutoFit/>
          </a:bodyPr>
          <a:lstStyle/>
          <a:p>
            <a:pPr algn="ctr">
              <a:spcBef>
                <a:spcPts val="0"/>
              </a:spcBef>
              <a:spcAft>
                <a:spcPts val="0"/>
              </a:spcAft>
            </a:pPr>
            <a:r>
              <a:rPr sz="2200" b="1" i="0">
                <a:solidFill>
                  <a:srgbClr val="7078B0"/>
                </a:solidFill>
                <a:latin typeface="Calibri"/>
              </a:rPr>
              <a:t>→</a:t>
            </a:r>
          </a:p>
        </p:txBody>
      </p:sp>
      <p:sp>
        <p:nvSpPr>
          <p:cNvPr id="33" name="Rounded Rectangle 32"/>
          <p:cNvSpPr/>
          <p:nvPr/>
        </p:nvSpPr>
        <p:spPr>
          <a:xfrm>
            <a:off x="8119871" y="2148840"/>
            <a:ext cx="3520440" cy="2011680"/>
          </a:xfrm>
          <a:prstGeom prst="roundRect">
            <a:avLst>
              <a:gd name="adj" fmla="val 4500"/>
            </a:avLst>
          </a:prstGeom>
          <a:solidFill>
            <a:srgbClr val="1E2457"/>
          </a:solidFill>
          <a:ln w="12700">
            <a:solidFill>
              <a:srgbClr val="9AA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19871" y="2148840"/>
            <a:ext cx="3520440" cy="45720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19871" y="2423160"/>
            <a:ext cx="3520440" cy="18288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0" y="2148840"/>
            <a:ext cx="3154680" cy="457200"/>
          </a:xfrm>
          <a:prstGeom prst="rect">
            <a:avLst/>
          </a:prstGeom>
          <a:noFill/>
        </p:spPr>
        <p:txBody>
          <a:bodyPr wrap="square" anchor="ctr" lIns="54864" rIns="54864" tIns="27432" bIns="27432">
            <a:spAutoFit/>
          </a:bodyPr>
          <a:lstStyle/>
          <a:p>
            <a:pPr algn="l">
              <a:spcBef>
                <a:spcPts val="0"/>
              </a:spcBef>
              <a:spcAft>
                <a:spcPts val="0"/>
              </a:spcAft>
            </a:pPr>
            <a:r>
              <a:rPr sz="1200" b="1" i="0" spc="80">
                <a:solidFill>
                  <a:srgbClr val="9AA0D0"/>
                </a:solidFill>
                <a:latin typeface="Calibri"/>
              </a:rPr>
              <a:t>+ ESCROWED Y</a:t>
            </a:r>
          </a:p>
        </p:txBody>
      </p:sp>
      <p:sp>
        <p:nvSpPr>
          <p:cNvPr id="37" name="TextBox 36"/>
          <p:cNvSpPr txBox="1"/>
          <p:nvPr/>
        </p:nvSpPr>
        <p:spPr>
          <a:xfrm>
            <a:off x="8321040" y="2715768"/>
            <a:ext cx="3154680" cy="731520"/>
          </a:xfrm>
          <a:prstGeom prst="rect">
            <a:avLst/>
          </a:prstGeom>
          <a:noFill/>
        </p:spPr>
        <p:txBody>
          <a:bodyPr wrap="square" anchor="t" lIns="54864" rIns="54864" tIns="27432" bIns="27432">
            <a:spAutoFit/>
          </a:bodyPr>
          <a:lstStyle/>
          <a:p>
            <a:pPr algn="l">
              <a:spcBef>
                <a:spcPts val="0"/>
              </a:spcBef>
              <a:spcAft>
                <a:spcPts val="0"/>
              </a:spcAft>
            </a:pPr>
            <a:r>
              <a:rPr sz="3400" b="1" i="0">
                <a:solidFill>
                  <a:srgbClr val="9AA0D0"/>
                </a:solidFill>
                <a:latin typeface="Georgia"/>
              </a:rPr>
              <a:t>15,232 B</a:t>
            </a:r>
          </a:p>
        </p:txBody>
      </p:sp>
      <p:sp>
        <p:nvSpPr>
          <p:cNvPr id="38" name="TextBox 37"/>
          <p:cNvSpPr txBox="1"/>
          <p:nvPr/>
        </p:nvSpPr>
        <p:spPr>
          <a:xfrm>
            <a:off x="8321040" y="3474720"/>
            <a:ext cx="3154680" cy="640080"/>
          </a:xfrm>
          <a:prstGeom prst="rect">
            <a:avLst/>
          </a:prstGeom>
          <a:noFill/>
        </p:spPr>
        <p:txBody>
          <a:bodyPr wrap="square" anchor="t" lIns="54864" rIns="54864" tIns="27432" bIns="27432">
            <a:spAutoFit/>
          </a:bodyPr>
          <a:lstStyle/>
          <a:p>
            <a:pPr algn="l">
              <a:lnSpc>
                <a:spcPct val="100000"/>
              </a:lnSpc>
              <a:spcBef>
                <a:spcPts val="0"/>
              </a:spcBef>
              <a:spcAft>
                <a:spcPts val="100"/>
              </a:spcAft>
            </a:pPr>
            <a:r>
              <a:rPr sz="1200" b="0" i="0">
                <a:solidFill>
                  <a:srgbClr val="ECEEFF"/>
                </a:solidFill>
                <a:latin typeface="Calibri"/>
              </a:rPr>
              <a:t>settlement + 2 × Y</a:t>
            </a:r>
          </a:p>
        </p:txBody>
      </p:sp>
      <p:sp>
        <p:nvSpPr>
          <p:cNvPr id="39" name="TextBox 38"/>
          <p:cNvSpPr txBox="1"/>
          <p:nvPr/>
        </p:nvSpPr>
        <p:spPr>
          <a:xfrm>
            <a:off x="566928" y="4434840"/>
            <a:ext cx="10972800" cy="1645920"/>
          </a:xfrm>
          <a:prstGeom prst="rect">
            <a:avLst/>
          </a:prstGeom>
          <a:noFill/>
        </p:spPr>
        <p:txBody>
          <a:bodyPr wrap="square" anchor="t" lIns="54864" rIns="54864" tIns="27432" bIns="27432">
            <a:spAutoFit/>
          </a:bodyPr>
          <a:lstStyle/>
          <a:p>
            <a:pPr algn="l">
              <a:lnSpc>
                <a:spcPct val="100000"/>
              </a:lnSpc>
              <a:spcBef>
                <a:spcPts val="0"/>
              </a:spcBef>
              <a:spcAft>
                <a:spcPts val="1000"/>
              </a:spcAft>
            </a:pPr>
            <a:r>
              <a:rPr sz="1350" b="1" i="0">
                <a:solidFill>
                  <a:srgbClr val="49E3CE"/>
                </a:solidFill>
                <a:latin typeface="Calibri"/>
              </a:rPr>
              <a:t>▸  </a:t>
            </a:r>
            <a:r>
              <a:rPr sz="1350" b="0" i="0">
                <a:solidFill>
                  <a:srgbClr val="ECEEFF"/>
                </a:solidFill>
                <a:latin typeface="Calibri"/>
              </a:rPr>
              <a:t>Only the </a:t>
            </a:r>
            <a:r>
              <a:rPr sz="1350" b="1" i="0">
                <a:solidFill>
                  <a:srgbClr val="49E3CE"/>
                </a:solidFill>
                <a:latin typeface="Calibri"/>
              </a:rPr>
              <a:t>two adapted signatures</a:t>
            </a:r>
            <a:r>
              <a:rPr sz="1350" b="0" i="0">
                <a:solidFill>
                  <a:srgbClr val="ECEEFF"/>
                </a:solidFill>
                <a:latin typeface="Calibri"/>
              </a:rPr>
              <a:t> would actually be published on a real chain — each is a single ordinary-looking LAS signature.</a:t>
            </a:r>
          </a:p>
          <a:p>
            <a:pPr algn="l">
              <a:lnSpc>
                <a:spcPct val="100000"/>
              </a:lnSpc>
              <a:spcBef>
                <a:spcPts val="0"/>
              </a:spcBef>
              <a:spcAft>
                <a:spcPts val="1000"/>
              </a:spcAft>
            </a:pPr>
            <a:r>
              <a:rPr sz="1350" b="1" i="0">
                <a:solidFill>
                  <a:srgbClr val="49E3CE"/>
                </a:solidFill>
                <a:latin typeface="Calibri"/>
              </a:rPr>
              <a:t>▸  </a:t>
            </a:r>
            <a:r>
              <a:rPr sz="1350" b="0" i="0">
                <a:solidFill>
                  <a:srgbClr val="ECEEFF"/>
                </a:solidFill>
                <a:latin typeface="Calibri"/>
              </a:rPr>
              <a:t>End-to-end signing work (2× PreSign + 2× Adapt + Ext) is </a:t>
            </a:r>
            <a:r>
              <a:rPr sz="1350" b="1" i="0">
                <a:solidFill>
                  <a:srgbClr val="49E3CE"/>
                </a:solidFill>
                <a:latin typeface="Calibri"/>
              </a:rPr>
              <a:t>a few milliseconds</a:t>
            </a:r>
            <a:r>
              <a:rPr sz="1350" b="0" i="0">
                <a:solidFill>
                  <a:srgbClr val="ECEEFF"/>
                </a:solidFill>
                <a:latin typeface="Calibri"/>
              </a:rPr>
              <a:t>, dominated by the two rejection-sampled pre-signs.</a:t>
            </a:r>
          </a:p>
          <a:p>
            <a:pPr algn="l">
              <a:lnSpc>
                <a:spcPct val="100000"/>
              </a:lnSpc>
              <a:spcBef>
                <a:spcPts val="0"/>
              </a:spcBef>
              <a:spcAft>
                <a:spcPts val="1000"/>
              </a:spcAft>
            </a:pPr>
            <a:r>
              <a:rPr sz="1350" b="1" i="0">
                <a:solidFill>
                  <a:srgbClr val="49E3CE"/>
                </a:solidFill>
                <a:latin typeface="Calibri"/>
              </a:rPr>
              <a:t>▸  </a:t>
            </a:r>
            <a:r>
              <a:rPr sz="1350" b="0" i="0">
                <a:solidFill>
                  <a:srgbClr val="ECEEFF"/>
                </a:solidFill>
                <a:latin typeface="Calibri"/>
              </a:rPr>
              <a:t>Harness re-asserts the fairness invariant: </a:t>
            </a:r>
            <a:r>
              <a:rPr sz="1350" b="1" i="0">
                <a:solidFill>
                  <a:srgbClr val="FFB454"/>
                </a:solidFill>
                <a:latin typeface="Calibri"/>
              </a:rPr>
              <a:t>adapted sigs verify, pre-sigs do not.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FFB454"/>
                </a:solidFill>
                <a:latin typeface="Calibri"/>
              </a:rPr>
              <a:t>APPLICATION-LEVEL · MULTI-HOP (AMHL)</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Cost as a function of path length K</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11</a:t>
            </a:r>
          </a:p>
        </p:txBody>
      </p:sp>
      <p:sp>
        <p:nvSpPr>
          <p:cNvPr id="18" name="TextBox 17"/>
          <p:cNvSpPr txBox="1"/>
          <p:nvPr/>
        </p:nvSpPr>
        <p:spPr>
          <a:xfrm>
            <a:off x="566928" y="1572768"/>
            <a:ext cx="10972800" cy="320040"/>
          </a:xfrm>
          <a:prstGeom prst="rect">
            <a:avLst/>
          </a:prstGeom>
          <a:noFill/>
        </p:spPr>
        <p:txBody>
          <a:bodyPr wrap="square" anchor="t" lIns="54864" rIns="54864" tIns="27432" bIns="27432">
            <a:spAutoFit/>
          </a:bodyPr>
          <a:lstStyle/>
          <a:p>
            <a:pPr algn="l">
              <a:spcBef>
                <a:spcPts val="0"/>
              </a:spcBef>
              <a:spcAft>
                <a:spcPts val="0"/>
              </a:spcAft>
            </a:pPr>
            <a:r>
              <a:rPr sz="1200" b="0" i="1">
                <a:solidFill>
                  <a:srgbClr val="9AA0D0"/>
                </a:solidFill>
                <a:latin typeface="Calibri"/>
              </a:rPr>
              <a:t>40 routes per K, mode 3 (bench_app3) — settlement bytes grow linearly; signing stays flat</a:t>
            </a:r>
          </a:p>
        </p:txBody>
      </p:sp>
      <p:sp>
        <p:nvSpPr>
          <p:cNvPr id="19" name="Rounded Rectangle 18"/>
          <p:cNvSpPr/>
          <p:nvPr/>
        </p:nvSpPr>
        <p:spPr>
          <a:xfrm>
            <a:off x="1005840" y="4588497"/>
            <a:ext cx="731520" cy="303542"/>
          </a:xfrm>
          <a:prstGeom prst="roundRect">
            <a:avLst>
              <a:gd name="adj" fmla="val 12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77601"/>
            <a:ext cx="100584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49E3CE"/>
                </a:solidFill>
                <a:latin typeface="Consolas"/>
              </a:rPr>
              <a:t>4k</a:t>
            </a:r>
          </a:p>
        </p:txBody>
      </p:sp>
      <p:sp>
        <p:nvSpPr>
          <p:cNvPr id="21" name="TextBox 20"/>
          <p:cNvSpPr txBox="1"/>
          <p:nvPr/>
        </p:nvSpPr>
        <p:spPr>
          <a:xfrm>
            <a:off x="868680" y="4946903"/>
            <a:ext cx="100584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K=1</a:t>
            </a:r>
          </a:p>
        </p:txBody>
      </p:sp>
      <p:sp>
        <p:nvSpPr>
          <p:cNvPr id="22" name="Rounded Rectangle 21"/>
          <p:cNvSpPr/>
          <p:nvPr/>
        </p:nvSpPr>
        <p:spPr>
          <a:xfrm>
            <a:off x="2084832" y="4284955"/>
            <a:ext cx="731520" cy="607084"/>
          </a:xfrm>
          <a:prstGeom prst="roundRect">
            <a:avLst>
              <a:gd name="adj" fmla="val 12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47672" y="3974059"/>
            <a:ext cx="100584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49E3CE"/>
                </a:solidFill>
                <a:latin typeface="Consolas"/>
              </a:rPr>
              <a:t>9k</a:t>
            </a:r>
          </a:p>
        </p:txBody>
      </p:sp>
      <p:sp>
        <p:nvSpPr>
          <p:cNvPr id="24" name="TextBox 23"/>
          <p:cNvSpPr txBox="1"/>
          <p:nvPr/>
        </p:nvSpPr>
        <p:spPr>
          <a:xfrm>
            <a:off x="1947672" y="4946903"/>
            <a:ext cx="100584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K=2</a:t>
            </a:r>
          </a:p>
        </p:txBody>
      </p:sp>
      <p:sp>
        <p:nvSpPr>
          <p:cNvPr id="25" name="Rounded Rectangle 24"/>
          <p:cNvSpPr/>
          <p:nvPr/>
        </p:nvSpPr>
        <p:spPr>
          <a:xfrm>
            <a:off x="3163824" y="3677870"/>
            <a:ext cx="731520" cy="1214169"/>
          </a:xfrm>
          <a:prstGeom prst="roundRect">
            <a:avLst>
              <a:gd name="adj" fmla="val 12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26663" y="3366974"/>
            <a:ext cx="100584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49E3CE"/>
                </a:solidFill>
                <a:latin typeface="Consolas"/>
              </a:rPr>
              <a:t>18k</a:t>
            </a:r>
          </a:p>
        </p:txBody>
      </p:sp>
      <p:sp>
        <p:nvSpPr>
          <p:cNvPr id="27" name="TextBox 26"/>
          <p:cNvSpPr txBox="1"/>
          <p:nvPr/>
        </p:nvSpPr>
        <p:spPr>
          <a:xfrm>
            <a:off x="3026663" y="4946903"/>
            <a:ext cx="100584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K=4</a:t>
            </a:r>
          </a:p>
        </p:txBody>
      </p:sp>
      <p:sp>
        <p:nvSpPr>
          <p:cNvPr id="28" name="Rounded Rectangle 27"/>
          <p:cNvSpPr/>
          <p:nvPr/>
        </p:nvSpPr>
        <p:spPr>
          <a:xfrm>
            <a:off x="4242816" y="3070786"/>
            <a:ext cx="731520" cy="1821253"/>
          </a:xfrm>
          <a:prstGeom prst="roundRect">
            <a:avLst>
              <a:gd name="adj" fmla="val 12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05656" y="2759890"/>
            <a:ext cx="100584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49E3CE"/>
                </a:solidFill>
                <a:latin typeface="Consolas"/>
              </a:rPr>
              <a:t>28k</a:t>
            </a:r>
          </a:p>
        </p:txBody>
      </p:sp>
      <p:sp>
        <p:nvSpPr>
          <p:cNvPr id="30" name="TextBox 29"/>
          <p:cNvSpPr txBox="1"/>
          <p:nvPr/>
        </p:nvSpPr>
        <p:spPr>
          <a:xfrm>
            <a:off x="4105656" y="4946903"/>
            <a:ext cx="100584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K=6</a:t>
            </a:r>
          </a:p>
        </p:txBody>
      </p:sp>
      <p:sp>
        <p:nvSpPr>
          <p:cNvPr id="31" name="Rounded Rectangle 30"/>
          <p:cNvSpPr/>
          <p:nvPr/>
        </p:nvSpPr>
        <p:spPr>
          <a:xfrm>
            <a:off x="5321808" y="2463701"/>
            <a:ext cx="731520" cy="2428338"/>
          </a:xfrm>
          <a:prstGeom prst="roundRect">
            <a:avLst>
              <a:gd name="adj" fmla="val 12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84648" y="2152805"/>
            <a:ext cx="1005840" cy="274320"/>
          </a:xfrm>
          <a:prstGeom prst="rect">
            <a:avLst/>
          </a:prstGeom>
          <a:noFill/>
        </p:spPr>
        <p:txBody>
          <a:bodyPr wrap="square" anchor="t" lIns="54864" rIns="54864" tIns="27432" bIns="27432">
            <a:spAutoFit/>
          </a:bodyPr>
          <a:lstStyle/>
          <a:p>
            <a:pPr algn="ctr">
              <a:spcBef>
                <a:spcPts val="0"/>
              </a:spcBef>
              <a:spcAft>
                <a:spcPts val="0"/>
              </a:spcAft>
            </a:pPr>
            <a:r>
              <a:rPr sz="1250" b="1" i="0">
                <a:solidFill>
                  <a:srgbClr val="49E3CE"/>
                </a:solidFill>
                <a:latin typeface="Consolas"/>
              </a:rPr>
              <a:t>37k</a:t>
            </a:r>
          </a:p>
        </p:txBody>
      </p:sp>
      <p:sp>
        <p:nvSpPr>
          <p:cNvPr id="33" name="TextBox 32"/>
          <p:cNvSpPr txBox="1"/>
          <p:nvPr/>
        </p:nvSpPr>
        <p:spPr>
          <a:xfrm>
            <a:off x="5184648" y="4946903"/>
            <a:ext cx="1005840" cy="502920"/>
          </a:xfrm>
          <a:prstGeom prst="rect">
            <a:avLst/>
          </a:prstGeom>
          <a:noFill/>
        </p:spPr>
        <p:txBody>
          <a:bodyPr wrap="square" anchor="t" lIns="54864" rIns="54864" tIns="27432" bIns="27432">
            <a:spAutoFit/>
          </a:bodyPr>
          <a:lstStyle/>
          <a:p>
            <a:pPr algn="ctr">
              <a:lnSpc>
                <a:spcPct val="100000"/>
              </a:lnSpc>
              <a:spcBef>
                <a:spcPts val="0"/>
              </a:spcBef>
              <a:spcAft>
                <a:spcPts val="0"/>
              </a:spcAft>
            </a:pPr>
            <a:r>
              <a:rPr sz="1050" b="0" i="0">
                <a:solidFill>
                  <a:srgbClr val="9AA0D0"/>
                </a:solidFill>
                <a:latin typeface="Calibri"/>
              </a:rPr>
              <a:t>K=8</a:t>
            </a:r>
          </a:p>
        </p:txBody>
      </p:sp>
      <p:sp>
        <p:nvSpPr>
          <p:cNvPr id="34" name="Rectangle 33"/>
          <p:cNvSpPr/>
          <p:nvPr/>
        </p:nvSpPr>
        <p:spPr>
          <a:xfrm>
            <a:off x="868680" y="4892040"/>
            <a:ext cx="5852160" cy="16459"/>
          </a:xfrm>
          <a:prstGeom prst="rect">
            <a:avLst/>
          </a:prstGeom>
          <a:solidFill>
            <a:srgbClr val="2E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1828800"/>
            <a:ext cx="5852160" cy="274320"/>
          </a:xfrm>
          <a:prstGeom prst="rect">
            <a:avLst/>
          </a:prstGeom>
          <a:noFill/>
        </p:spPr>
        <p:txBody>
          <a:bodyPr wrap="square" anchor="t" lIns="54864" rIns="54864" tIns="27432" bIns="27432">
            <a:spAutoFit/>
          </a:bodyPr>
          <a:lstStyle/>
          <a:p>
            <a:pPr algn="l">
              <a:spcBef>
                <a:spcPts val="0"/>
              </a:spcBef>
              <a:spcAft>
                <a:spcPts val="0"/>
              </a:spcAft>
            </a:pPr>
            <a:r>
              <a:rPr sz="1200" b="1" i="0">
                <a:solidFill>
                  <a:srgbClr val="49E3CE"/>
                </a:solidFill>
                <a:latin typeface="Calibri"/>
              </a:rPr>
              <a:t>Settlement footprint (B)  =  K × 4672</a:t>
            </a:r>
          </a:p>
        </p:txBody>
      </p:sp>
      <p:sp>
        <p:nvSpPr>
          <p:cNvPr id="36" name="Rounded Rectangle 35"/>
          <p:cNvSpPr/>
          <p:nvPr/>
        </p:nvSpPr>
        <p:spPr>
          <a:xfrm>
            <a:off x="6995160" y="1965960"/>
            <a:ext cx="4544568" cy="118872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995160" y="1965960"/>
            <a:ext cx="82296" cy="1188720"/>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23760" y="2093976"/>
            <a:ext cx="4206240" cy="365760"/>
          </a:xfrm>
          <a:prstGeom prst="rect">
            <a:avLst/>
          </a:prstGeom>
          <a:noFill/>
        </p:spPr>
        <p:txBody>
          <a:bodyPr wrap="square" anchor="t" lIns="54864" rIns="54864" tIns="27432" bIns="27432">
            <a:spAutoFit/>
          </a:bodyPr>
          <a:lstStyle/>
          <a:p>
            <a:pPr algn="l">
              <a:spcBef>
                <a:spcPts val="0"/>
              </a:spcBef>
              <a:spcAft>
                <a:spcPts val="0"/>
              </a:spcAft>
            </a:pPr>
            <a:r>
              <a:rPr sz="1400" b="1" i="0">
                <a:solidFill>
                  <a:srgbClr val="49E3CE"/>
                </a:solidFill>
                <a:latin typeface="Calibri"/>
              </a:rPr>
              <a:t>Linear in K</a:t>
            </a:r>
          </a:p>
        </p:txBody>
      </p:sp>
      <p:sp>
        <p:nvSpPr>
          <p:cNvPr id="39" name="TextBox 38"/>
          <p:cNvSpPr txBox="1"/>
          <p:nvPr/>
        </p:nvSpPr>
        <p:spPr>
          <a:xfrm>
            <a:off x="7223760" y="2468880"/>
            <a:ext cx="4206240" cy="640080"/>
          </a:xfrm>
          <a:prstGeom prst="rect">
            <a:avLst/>
          </a:prstGeom>
          <a:noFill/>
        </p:spPr>
        <p:txBody>
          <a:bodyPr wrap="square" anchor="t" lIns="54864" rIns="54864" tIns="27432" bIns="27432">
            <a:spAutoFit/>
          </a:bodyPr>
          <a:lstStyle/>
          <a:p>
            <a:pPr algn="l">
              <a:lnSpc>
                <a:spcPct val="106000"/>
              </a:lnSpc>
              <a:spcBef>
                <a:spcPts val="0"/>
              </a:spcBef>
              <a:spcAft>
                <a:spcPts val="0"/>
              </a:spcAft>
            </a:pPr>
            <a:r>
              <a:rPr sz="1200" b="0" i="0">
                <a:solidFill>
                  <a:srgbClr val="ECEEFF"/>
                </a:solidFill>
                <a:latin typeface="Calibri"/>
              </a:rPr>
              <a:t>K adapted sigs + K statements — no super-linear blow-up.</a:t>
            </a:r>
          </a:p>
        </p:txBody>
      </p:sp>
      <p:sp>
        <p:nvSpPr>
          <p:cNvPr id="40" name="Rounded Rectangle 39"/>
          <p:cNvSpPr/>
          <p:nvPr/>
        </p:nvSpPr>
        <p:spPr>
          <a:xfrm>
            <a:off x="6995160" y="3291839"/>
            <a:ext cx="4544568" cy="118872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95160" y="3291839"/>
            <a:ext cx="82296" cy="118872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60" y="3419856"/>
            <a:ext cx="4206240" cy="365760"/>
          </a:xfrm>
          <a:prstGeom prst="rect">
            <a:avLst/>
          </a:prstGeom>
          <a:noFill/>
        </p:spPr>
        <p:txBody>
          <a:bodyPr wrap="square" anchor="t" lIns="54864" rIns="54864" tIns="27432" bIns="27432">
            <a:spAutoFit/>
          </a:bodyPr>
          <a:lstStyle/>
          <a:p>
            <a:pPr algn="l">
              <a:spcBef>
                <a:spcPts val="0"/>
              </a:spcBef>
              <a:spcAft>
                <a:spcPts val="0"/>
              </a:spcAft>
            </a:pPr>
            <a:r>
              <a:rPr sz="1400" b="1" i="0">
                <a:solidFill>
                  <a:srgbClr val="FFB454"/>
                </a:solidFill>
                <a:latin typeface="Calibri"/>
              </a:rPr>
              <a:t>Witness norm grows</a:t>
            </a:r>
          </a:p>
        </p:txBody>
      </p:sp>
      <p:sp>
        <p:nvSpPr>
          <p:cNvPr id="43" name="TextBox 42"/>
          <p:cNvSpPr txBox="1"/>
          <p:nvPr/>
        </p:nvSpPr>
        <p:spPr>
          <a:xfrm>
            <a:off x="7223760" y="3794759"/>
            <a:ext cx="4206240" cy="640080"/>
          </a:xfrm>
          <a:prstGeom prst="rect">
            <a:avLst/>
          </a:prstGeom>
          <a:noFill/>
        </p:spPr>
        <p:txBody>
          <a:bodyPr wrap="square" anchor="t" lIns="54864" rIns="54864" tIns="27432" bIns="27432">
            <a:spAutoFit/>
          </a:bodyPr>
          <a:lstStyle/>
          <a:p>
            <a:pPr algn="l">
              <a:lnSpc>
                <a:spcPct val="106000"/>
              </a:lnSpc>
              <a:spcBef>
                <a:spcPts val="0"/>
              </a:spcBef>
              <a:spcAft>
                <a:spcPts val="0"/>
              </a:spcAft>
            </a:pPr>
            <a:r>
              <a:rPr sz="1200" b="0" i="0">
                <a:solidFill>
                  <a:srgbClr val="ECEEFF"/>
                </a:solidFill>
                <a:latin typeface="Calibri"/>
              </a:rPr>
              <a:t>‖s_j‖∞ ≤ j ≤ K (sum of j ternary vectors) — the reason every hop pre-signs at γ−κ−K.</a:t>
            </a:r>
          </a:p>
        </p:txBody>
      </p:sp>
      <p:sp>
        <p:nvSpPr>
          <p:cNvPr id="44" name="Rounded Rectangle 43"/>
          <p:cNvSpPr/>
          <p:nvPr/>
        </p:nvSpPr>
        <p:spPr>
          <a:xfrm>
            <a:off x="6995160" y="4617720"/>
            <a:ext cx="4544568" cy="118872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95160" y="4617720"/>
            <a:ext cx="82296" cy="1188720"/>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23760" y="4745736"/>
            <a:ext cx="4206240" cy="365760"/>
          </a:xfrm>
          <a:prstGeom prst="rect">
            <a:avLst/>
          </a:prstGeom>
          <a:noFill/>
        </p:spPr>
        <p:txBody>
          <a:bodyPr wrap="square" anchor="t" lIns="54864" rIns="54864" tIns="27432" bIns="27432">
            <a:spAutoFit/>
          </a:bodyPr>
          <a:lstStyle/>
          <a:p>
            <a:pPr algn="l">
              <a:spcBef>
                <a:spcPts val="0"/>
              </a:spcBef>
              <a:spcAft>
                <a:spcPts val="0"/>
              </a:spcAft>
            </a:pPr>
            <a:r>
              <a:rPr sz="1400" b="1" i="0">
                <a:solidFill>
                  <a:srgbClr val="49E3CE"/>
                </a:solidFill>
                <a:latin typeface="Calibri"/>
              </a:rPr>
              <a:t>γ−κ−K is free</a:t>
            </a:r>
          </a:p>
        </p:txBody>
      </p:sp>
      <p:sp>
        <p:nvSpPr>
          <p:cNvPr id="47" name="TextBox 46"/>
          <p:cNvSpPr txBox="1"/>
          <p:nvPr/>
        </p:nvSpPr>
        <p:spPr>
          <a:xfrm>
            <a:off x="7223760" y="5120640"/>
            <a:ext cx="4206240" cy="640080"/>
          </a:xfrm>
          <a:prstGeom prst="rect">
            <a:avLst/>
          </a:prstGeom>
          <a:noFill/>
        </p:spPr>
        <p:txBody>
          <a:bodyPr wrap="square" anchor="t" lIns="54864" rIns="54864" tIns="27432" bIns="27432">
            <a:spAutoFit/>
          </a:bodyPr>
          <a:lstStyle/>
          <a:p>
            <a:pPr algn="l">
              <a:lnSpc>
                <a:spcPct val="106000"/>
              </a:lnSpc>
              <a:spcBef>
                <a:spcPts val="0"/>
              </a:spcBef>
              <a:spcAft>
                <a:spcPts val="0"/>
              </a:spcAft>
            </a:pPr>
            <a:r>
              <a:rPr sz="1200" b="0" i="0">
                <a:solidFill>
                  <a:srgbClr val="ECEEFF"/>
                </a:solidFill>
                <a:latin typeface="Calibri"/>
              </a:rPr>
              <a:t>K=1→8 shrinks the accept band by only 7/(γ−κ) ≈ 0.0057% — attempts/presig stays ≈2.7–3.0.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FF6B6B"/>
                </a:solidFill>
                <a:latin typeface="Calibri"/>
              </a:rPr>
              <a:t>ON-CHAIN · REAL SOLIDITY SWAP</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EVM gas: claim cost, classical vs LAS</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12</a:t>
            </a:r>
          </a:p>
        </p:txBody>
      </p:sp>
      <p:sp>
        <p:nvSpPr>
          <p:cNvPr id="18" name="TextBox 17"/>
          <p:cNvSpPr txBox="1"/>
          <p:nvPr/>
        </p:nvSpPr>
        <p:spPr>
          <a:xfrm>
            <a:off x="566928" y="1572768"/>
            <a:ext cx="10972800" cy="320040"/>
          </a:xfrm>
          <a:prstGeom prst="rect">
            <a:avLst/>
          </a:prstGeom>
          <a:noFill/>
        </p:spPr>
        <p:txBody>
          <a:bodyPr wrap="square" anchor="t" lIns="54864" rIns="54864" tIns="27432" bIns="27432">
            <a:spAutoFit/>
          </a:bodyPr>
          <a:lstStyle/>
          <a:p>
            <a:pPr algn="l">
              <a:spcBef>
                <a:spcPts val="0"/>
              </a:spcBef>
              <a:spcAft>
                <a:spcPts val="0"/>
              </a:spcAft>
            </a:pPr>
            <a:r>
              <a:rPr sz="1200" b="0" i="1">
                <a:solidFill>
                  <a:srgbClr val="9AA0D0"/>
                </a:solidFill>
                <a:latin typeface="Calibri"/>
              </a:rPr>
              <a:t>Foundry local EVM, shared HTLC escrow — gas is deterministic (evm/, forge --gas-report)</a:t>
            </a:r>
          </a:p>
        </p:txBody>
      </p:sp>
      <p:sp>
        <p:nvSpPr>
          <p:cNvPr id="19" name="TextBox 18"/>
          <p:cNvSpPr txBox="1"/>
          <p:nvPr/>
        </p:nvSpPr>
        <p:spPr>
          <a:xfrm>
            <a:off x="566928" y="1965960"/>
            <a:ext cx="6400800" cy="320040"/>
          </a:xfrm>
          <a:prstGeom prst="rect">
            <a:avLst/>
          </a:prstGeom>
          <a:noFill/>
        </p:spPr>
        <p:txBody>
          <a:bodyPr wrap="square" anchor="t" lIns="54864" rIns="54864" tIns="27432" bIns="27432">
            <a:spAutoFit/>
          </a:bodyPr>
          <a:lstStyle/>
          <a:p>
            <a:pPr algn="l">
              <a:spcBef>
                <a:spcPts val="0"/>
              </a:spcBef>
              <a:spcAft>
                <a:spcPts val="0"/>
              </a:spcAft>
            </a:pPr>
            <a:r>
              <a:rPr sz="1200" b="1" i="0" spc="60">
                <a:solidFill>
                  <a:srgbClr val="9AA0D0"/>
                </a:solidFill>
                <a:latin typeface="Calibri"/>
              </a:rPr>
              <a:t>CLAIM (settlement + signature check) — gas</a:t>
            </a:r>
          </a:p>
        </p:txBody>
      </p:sp>
      <p:sp>
        <p:nvSpPr>
          <p:cNvPr id="20" name="TextBox 19"/>
          <p:cNvSpPr txBox="1"/>
          <p:nvPr/>
        </p:nvSpPr>
        <p:spPr>
          <a:xfrm>
            <a:off x="566928" y="2203704"/>
            <a:ext cx="5943600" cy="274320"/>
          </a:xfrm>
          <a:prstGeom prst="rect">
            <a:avLst/>
          </a:prstGeom>
          <a:noFill/>
        </p:spPr>
        <p:txBody>
          <a:bodyPr wrap="square" anchor="t" lIns="54864" rIns="54864" tIns="27432" bIns="27432">
            <a:spAutoFit/>
          </a:bodyPr>
          <a:lstStyle/>
          <a:p>
            <a:pPr algn="l">
              <a:spcBef>
                <a:spcPts val="0"/>
              </a:spcBef>
              <a:spcAft>
                <a:spcPts val="0"/>
              </a:spcAft>
            </a:pPr>
            <a:r>
              <a:rPr sz="1150" b="1" i="0">
                <a:solidFill>
                  <a:srgbClr val="ECEEFF"/>
                </a:solidFill>
                <a:latin typeface="Calibri"/>
              </a:rPr>
              <a:t>Classical claim  (full ecrecover verify)</a:t>
            </a:r>
          </a:p>
        </p:txBody>
      </p:sp>
      <p:sp>
        <p:nvSpPr>
          <p:cNvPr id="21" name="Rounded Rectangle 20"/>
          <p:cNvSpPr/>
          <p:nvPr/>
        </p:nvSpPr>
        <p:spPr>
          <a:xfrm>
            <a:off x="603504" y="2423160"/>
            <a:ext cx="4023360" cy="457200"/>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03504" y="2423160"/>
            <a:ext cx="1416765" cy="457200"/>
          </a:xfrm>
          <a:prstGeom prst="roundRect">
            <a:avLst>
              <a:gd name="adj" fmla="val 50000"/>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11709" y="2404872"/>
            <a:ext cx="1554480" cy="493776"/>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49E3CE"/>
                </a:solidFill>
                <a:latin typeface="Consolas"/>
              </a:rPr>
              <a:t>75,709</a:t>
            </a:r>
          </a:p>
        </p:txBody>
      </p:sp>
      <p:sp>
        <p:nvSpPr>
          <p:cNvPr id="24" name="TextBox 23"/>
          <p:cNvSpPr txBox="1"/>
          <p:nvPr/>
        </p:nvSpPr>
        <p:spPr>
          <a:xfrm>
            <a:off x="566928" y="2953511"/>
            <a:ext cx="5943600" cy="274320"/>
          </a:xfrm>
          <a:prstGeom prst="rect">
            <a:avLst/>
          </a:prstGeom>
          <a:noFill/>
        </p:spPr>
        <p:txBody>
          <a:bodyPr wrap="square" anchor="t" lIns="54864" rIns="54864" tIns="27432" bIns="27432">
            <a:spAutoFit/>
          </a:bodyPr>
          <a:lstStyle/>
          <a:p>
            <a:pPr algn="l">
              <a:spcBef>
                <a:spcPts val="0"/>
              </a:spcBef>
              <a:spcAft>
                <a:spcPts val="0"/>
              </a:spcAft>
            </a:pPr>
            <a:r>
              <a:rPr sz="1150" b="1" i="0">
                <a:solidFill>
                  <a:srgbClr val="ECEEFF"/>
                </a:solidFill>
                <a:latin typeface="Calibri"/>
              </a:rPr>
              <a:t>LAS claim FLOOR  (no real verification)</a:t>
            </a:r>
          </a:p>
        </p:txBody>
      </p:sp>
      <p:sp>
        <p:nvSpPr>
          <p:cNvPr id="25" name="Rounded Rectangle 24"/>
          <p:cNvSpPr/>
          <p:nvPr/>
        </p:nvSpPr>
        <p:spPr>
          <a:xfrm>
            <a:off x="603504" y="3172968"/>
            <a:ext cx="4023360" cy="457200"/>
          </a:xfrm>
          <a:prstGeom prst="roundRect">
            <a:avLst>
              <a:gd name="adj" fmla="val 50000"/>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3504" y="3172968"/>
            <a:ext cx="3899852" cy="457200"/>
          </a:xfrm>
          <a:prstGeom prst="roundRect">
            <a:avLst>
              <a:gd name="adj" fmla="val 50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94796" y="3154679"/>
            <a:ext cx="1554480" cy="493776"/>
          </a:xfrm>
          <a:prstGeom prst="rect">
            <a:avLst/>
          </a:prstGeom>
          <a:noFill/>
        </p:spPr>
        <p:txBody>
          <a:bodyPr wrap="square" anchor="ctr" lIns="54864" rIns="54864" tIns="27432" bIns="27432">
            <a:spAutoFit/>
          </a:bodyPr>
          <a:lstStyle/>
          <a:p>
            <a:pPr algn="l">
              <a:spcBef>
                <a:spcPts val="0"/>
              </a:spcBef>
              <a:spcAft>
                <a:spcPts val="0"/>
              </a:spcAft>
            </a:pPr>
            <a:r>
              <a:rPr sz="1150" b="1" i="0">
                <a:solidFill>
                  <a:srgbClr val="FF6B6B"/>
                </a:solidFill>
                <a:latin typeface="Consolas"/>
              </a:rPr>
              <a:t>208,400</a:t>
            </a:r>
          </a:p>
        </p:txBody>
      </p:sp>
      <p:sp>
        <p:nvSpPr>
          <p:cNvPr id="28" name="Rounded Rectangle 27"/>
          <p:cNvSpPr/>
          <p:nvPr/>
        </p:nvSpPr>
        <p:spPr>
          <a:xfrm>
            <a:off x="566928" y="4069080"/>
            <a:ext cx="5486400" cy="1874519"/>
          </a:xfrm>
          <a:prstGeom prst="roundRect">
            <a:avLst>
              <a:gd name="adj" fmla="val 4500"/>
            </a:avLst>
          </a:prstGeom>
          <a:solidFill>
            <a:srgbClr val="262D66"/>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4178808"/>
            <a:ext cx="5120640" cy="365760"/>
          </a:xfrm>
          <a:prstGeom prst="rect">
            <a:avLst/>
          </a:prstGeom>
          <a:noFill/>
        </p:spPr>
        <p:txBody>
          <a:bodyPr wrap="square" anchor="t" lIns="54864" rIns="54864" tIns="27432" bIns="27432">
            <a:spAutoFit/>
          </a:bodyPr>
          <a:lstStyle/>
          <a:p>
            <a:pPr algn="l">
              <a:spcBef>
                <a:spcPts val="0"/>
              </a:spcBef>
              <a:spcAft>
                <a:spcPts val="0"/>
              </a:spcAft>
            </a:pPr>
            <a:r>
              <a:rPr sz="1200" b="1" i="0" spc="60">
                <a:solidFill>
                  <a:srgbClr val="FF6B6B"/>
                </a:solidFill>
                <a:latin typeface="Calibri"/>
              </a:rPr>
              <a:t>97% OF IT IS JUST THE BYTES</a:t>
            </a:r>
          </a:p>
        </p:txBody>
      </p:sp>
      <p:sp>
        <p:nvSpPr>
          <p:cNvPr id="30" name="TextBox 29"/>
          <p:cNvSpPr txBox="1"/>
          <p:nvPr/>
        </p:nvSpPr>
        <p:spPr>
          <a:xfrm>
            <a:off x="768096" y="4572000"/>
            <a:ext cx="5120640" cy="1325880"/>
          </a:xfrm>
          <a:prstGeom prst="rect">
            <a:avLst/>
          </a:prstGeom>
          <a:noFill/>
        </p:spPr>
        <p:txBody>
          <a:bodyPr wrap="square" anchor="t" lIns="54864" rIns="54864" tIns="27432" bIns="27432">
            <a:spAutoFit/>
          </a:bodyPr>
          <a:lstStyle/>
          <a:p>
            <a:pPr algn="l">
              <a:lnSpc>
                <a:spcPct val="100000"/>
              </a:lnSpc>
              <a:spcBef>
                <a:spcPts val="0"/>
              </a:spcBef>
              <a:spcAft>
                <a:spcPts val="900"/>
              </a:spcAft>
            </a:pPr>
            <a:r>
              <a:rPr sz="1250" b="1" i="0">
                <a:solidFill>
                  <a:srgbClr val="FF6B6B"/>
                </a:solidFill>
                <a:latin typeface="Calibri"/>
              </a:rPr>
              <a:t>▸  </a:t>
            </a:r>
            <a:r>
              <a:rPr sz="1250" b="0" i="0">
                <a:solidFill>
                  <a:srgbClr val="ECEEFF"/>
                </a:solidFill>
                <a:latin typeface="Calibri"/>
              </a:rPr>
              <a:t>The 4672-B sig = 4649 non-zero + 23 zero bytes → </a:t>
            </a:r>
            <a:r>
              <a:rPr sz="1250" b="1" i="0">
                <a:solidFill>
                  <a:srgbClr val="FF6B6B"/>
                </a:solidFill>
                <a:latin typeface="Calibri"/>
              </a:rPr>
              <a:t>74,476 gas of calldata alone</a:t>
            </a:r>
            <a:r>
              <a:rPr sz="1250" b="0" i="0">
                <a:solidFill>
                  <a:srgbClr val="ECEEFF"/>
                </a:solidFill>
                <a:latin typeface="Calibri"/>
              </a:rPr>
              <a:t> (16/non-zero, 4/zero).</a:t>
            </a:r>
          </a:p>
          <a:p>
            <a:pPr algn="l">
              <a:lnSpc>
                <a:spcPct val="100000"/>
              </a:lnSpc>
              <a:spcBef>
                <a:spcPts val="0"/>
              </a:spcBef>
              <a:spcAft>
                <a:spcPts val="900"/>
              </a:spcAft>
            </a:pPr>
            <a:r>
              <a:rPr sz="1250" b="1" i="0">
                <a:solidFill>
                  <a:srgbClr val="FF6B6B"/>
                </a:solidFill>
                <a:latin typeface="Calibri"/>
              </a:rPr>
              <a:t>▸  </a:t>
            </a:r>
            <a:r>
              <a:rPr sz="1250" b="0" i="0">
                <a:solidFill>
                  <a:srgbClr val="ECEEFF"/>
                </a:solidFill>
                <a:latin typeface="Calibri"/>
              </a:rPr>
              <a:t>That </a:t>
            </a:r>
            <a:r>
              <a:rPr sz="1250" b="1" i="0">
                <a:solidFill>
                  <a:srgbClr val="FF6B6B"/>
                </a:solidFill>
                <a:latin typeface="Calibri"/>
              </a:rPr>
              <a:t>exceeds the entire classical claim</a:t>
            </a:r>
            <a:r>
              <a:rPr sz="1250" b="0" i="0">
                <a:solidFill>
                  <a:srgbClr val="ECEEFF"/>
                </a:solidFill>
                <a:latin typeface="Calibri"/>
              </a:rPr>
              <a:t> (75,709) — which includes real verification.</a:t>
            </a:r>
          </a:p>
        </p:txBody>
      </p:sp>
      <p:sp>
        <p:nvSpPr>
          <p:cNvPr id="31" name="TextBox 30"/>
          <p:cNvSpPr txBox="1"/>
          <p:nvPr/>
        </p:nvSpPr>
        <p:spPr>
          <a:xfrm>
            <a:off x="6400800" y="1965960"/>
            <a:ext cx="5120640" cy="320040"/>
          </a:xfrm>
          <a:prstGeom prst="rect">
            <a:avLst/>
          </a:prstGeom>
          <a:noFill/>
        </p:spPr>
        <p:txBody>
          <a:bodyPr wrap="square" anchor="t" lIns="54864" rIns="54864" tIns="27432" bIns="27432">
            <a:spAutoFit/>
          </a:bodyPr>
          <a:lstStyle/>
          <a:p>
            <a:pPr algn="l">
              <a:spcBef>
                <a:spcPts val="0"/>
              </a:spcBef>
              <a:spcAft>
                <a:spcPts val="0"/>
              </a:spcAft>
            </a:pPr>
            <a:r>
              <a:rPr sz="1200" b="1" i="0" spc="80">
                <a:solidFill>
                  <a:srgbClr val="9AA0D0"/>
                </a:solidFill>
                <a:latin typeface="Calibri"/>
              </a:rPr>
              <a:t>FULL GAS REPORT</a:t>
            </a:r>
          </a:p>
        </p:txBody>
      </p:sp>
      <p:sp>
        <p:nvSpPr>
          <p:cNvPr id="32" name="Rectangle 31"/>
          <p:cNvSpPr/>
          <p:nvPr/>
        </p:nvSpPr>
        <p:spPr>
          <a:xfrm>
            <a:off x="6400800" y="2377440"/>
            <a:ext cx="5138928" cy="548640"/>
          </a:xfrm>
          <a:prstGeom prst="rect">
            <a:avLst/>
          </a:prstGeom>
          <a:solidFill>
            <a:srgbClr val="262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377440"/>
            <a:ext cx="1828800" cy="548640"/>
          </a:xfrm>
          <a:prstGeom prst="rect">
            <a:avLst/>
          </a:prstGeom>
          <a:noFill/>
        </p:spPr>
        <p:txBody>
          <a:bodyPr wrap="square" anchor="ctr" lIns="54864" rIns="54864" tIns="27432" bIns="27432">
            <a:spAutoFit/>
          </a:bodyPr>
          <a:lstStyle/>
          <a:p>
            <a:pPr algn="l">
              <a:spcBef>
                <a:spcPts val="0"/>
              </a:spcBef>
              <a:spcAft>
                <a:spcPts val="0"/>
              </a:spcAft>
            </a:pPr>
            <a:r>
              <a:rPr sz="1200" b="1" i="0">
                <a:solidFill>
                  <a:srgbClr val="9AA0D0"/>
                </a:solidFill>
                <a:latin typeface="Calibri"/>
              </a:rPr>
              <a:t/>
            </a:r>
          </a:p>
        </p:txBody>
      </p:sp>
      <p:sp>
        <p:nvSpPr>
          <p:cNvPr id="34" name="TextBox 33"/>
          <p:cNvSpPr txBox="1"/>
          <p:nvPr/>
        </p:nvSpPr>
        <p:spPr>
          <a:xfrm>
            <a:off x="8229600" y="2377440"/>
            <a:ext cx="1645920" cy="548640"/>
          </a:xfrm>
          <a:prstGeom prst="rect">
            <a:avLst/>
          </a:prstGeom>
          <a:noFill/>
        </p:spPr>
        <p:txBody>
          <a:bodyPr wrap="square" anchor="ctr" lIns="54864" rIns="54864" tIns="27432" bIns="27432">
            <a:spAutoFit/>
          </a:bodyPr>
          <a:lstStyle/>
          <a:p>
            <a:pPr algn="ctr">
              <a:spcBef>
                <a:spcPts val="0"/>
              </a:spcBef>
              <a:spcAft>
                <a:spcPts val="0"/>
              </a:spcAft>
            </a:pPr>
            <a:r>
              <a:rPr sz="1200" b="1" i="0">
                <a:solidFill>
                  <a:srgbClr val="49E3CE"/>
                </a:solidFill>
                <a:latin typeface="Calibri"/>
              </a:rPr>
              <a:t>Classical</a:t>
            </a:r>
          </a:p>
        </p:txBody>
      </p:sp>
      <p:sp>
        <p:nvSpPr>
          <p:cNvPr id="35" name="TextBox 34"/>
          <p:cNvSpPr txBox="1"/>
          <p:nvPr/>
        </p:nvSpPr>
        <p:spPr>
          <a:xfrm>
            <a:off x="9875520" y="2377440"/>
            <a:ext cx="1554480" cy="548640"/>
          </a:xfrm>
          <a:prstGeom prst="rect">
            <a:avLst/>
          </a:prstGeom>
          <a:noFill/>
        </p:spPr>
        <p:txBody>
          <a:bodyPr wrap="square" anchor="ctr" lIns="54864" rIns="54864" tIns="27432" bIns="27432">
            <a:spAutoFit/>
          </a:bodyPr>
          <a:lstStyle/>
          <a:p>
            <a:pPr algn="ctr">
              <a:spcBef>
                <a:spcPts val="0"/>
              </a:spcBef>
              <a:spcAft>
                <a:spcPts val="0"/>
              </a:spcAft>
            </a:pPr>
            <a:r>
              <a:rPr sz="1200" b="1" i="0">
                <a:solidFill>
                  <a:srgbClr val="FF6B6B"/>
                </a:solidFill>
                <a:latin typeface="Calibri"/>
              </a:rPr>
              <a:t>LAS</a:t>
            </a:r>
          </a:p>
        </p:txBody>
      </p:sp>
      <p:sp>
        <p:nvSpPr>
          <p:cNvPr id="36" name="Rectangle 35"/>
          <p:cNvSpPr/>
          <p:nvPr/>
        </p:nvSpPr>
        <p:spPr>
          <a:xfrm>
            <a:off x="6400800" y="2926080"/>
            <a:ext cx="5138928" cy="54864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2926080"/>
            <a:ext cx="1828800" cy="548640"/>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ECEEFF"/>
                </a:solidFill>
                <a:latin typeface="Calibri"/>
              </a:rPr>
              <a:t>fund</a:t>
            </a:r>
          </a:p>
        </p:txBody>
      </p:sp>
      <p:sp>
        <p:nvSpPr>
          <p:cNvPr id="38" name="TextBox 37"/>
          <p:cNvSpPr txBox="1"/>
          <p:nvPr/>
        </p:nvSpPr>
        <p:spPr>
          <a:xfrm>
            <a:off x="8229600" y="2926080"/>
            <a:ext cx="1645920" cy="548640"/>
          </a:xfrm>
          <a:prstGeom prst="rect">
            <a:avLst/>
          </a:prstGeom>
          <a:noFill/>
        </p:spPr>
        <p:txBody>
          <a:bodyPr wrap="square" anchor="ctr" lIns="54864" rIns="54864" tIns="27432" bIns="27432">
            <a:spAutoFit/>
          </a:bodyPr>
          <a:lstStyle/>
          <a:p>
            <a:pPr algn="ctr">
              <a:spcBef>
                <a:spcPts val="0"/>
              </a:spcBef>
              <a:spcAft>
                <a:spcPts val="0"/>
              </a:spcAft>
            </a:pPr>
            <a:r>
              <a:rPr sz="1250" b="0" i="0">
                <a:solidFill>
                  <a:srgbClr val="ECEEFF"/>
                </a:solidFill>
                <a:latin typeface="Consolas"/>
              </a:rPr>
              <a:t>180,285</a:t>
            </a:r>
          </a:p>
        </p:txBody>
      </p:sp>
      <p:sp>
        <p:nvSpPr>
          <p:cNvPr id="39" name="TextBox 38"/>
          <p:cNvSpPr txBox="1"/>
          <p:nvPr/>
        </p:nvSpPr>
        <p:spPr>
          <a:xfrm>
            <a:off x="9875520" y="2926080"/>
            <a:ext cx="1554480" cy="548640"/>
          </a:xfrm>
          <a:prstGeom prst="rect">
            <a:avLst/>
          </a:prstGeom>
          <a:noFill/>
        </p:spPr>
        <p:txBody>
          <a:bodyPr wrap="square" anchor="ctr" lIns="54864" rIns="54864" tIns="27432" bIns="27432">
            <a:spAutoFit/>
          </a:bodyPr>
          <a:lstStyle/>
          <a:p>
            <a:pPr algn="ctr">
              <a:spcBef>
                <a:spcPts val="0"/>
              </a:spcBef>
              <a:spcAft>
                <a:spcPts val="0"/>
              </a:spcAft>
            </a:pPr>
            <a:r>
              <a:rPr sz="1250" b="0" i="0">
                <a:solidFill>
                  <a:srgbClr val="ECEEFF"/>
                </a:solidFill>
                <a:latin typeface="Consolas"/>
              </a:rPr>
              <a:t>139,568</a:t>
            </a:r>
          </a:p>
        </p:txBody>
      </p:sp>
      <p:sp>
        <p:nvSpPr>
          <p:cNvPr id="40" name="Rectangle 39"/>
          <p:cNvSpPr/>
          <p:nvPr/>
        </p:nvSpPr>
        <p:spPr>
          <a:xfrm>
            <a:off x="6400800" y="3474720"/>
            <a:ext cx="5138928" cy="54864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3474720"/>
            <a:ext cx="1828800" cy="548640"/>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ECEEFF"/>
                </a:solidFill>
                <a:latin typeface="Calibri"/>
              </a:rPr>
              <a:t>claim</a:t>
            </a:r>
          </a:p>
        </p:txBody>
      </p:sp>
      <p:sp>
        <p:nvSpPr>
          <p:cNvPr id="42" name="TextBox 41"/>
          <p:cNvSpPr txBox="1"/>
          <p:nvPr/>
        </p:nvSpPr>
        <p:spPr>
          <a:xfrm>
            <a:off x="8229600" y="3474720"/>
            <a:ext cx="1645920" cy="548640"/>
          </a:xfrm>
          <a:prstGeom prst="rect">
            <a:avLst/>
          </a:prstGeom>
          <a:noFill/>
        </p:spPr>
        <p:txBody>
          <a:bodyPr wrap="square" anchor="ctr" lIns="54864" rIns="54864" tIns="27432" bIns="27432">
            <a:spAutoFit/>
          </a:bodyPr>
          <a:lstStyle/>
          <a:p>
            <a:pPr algn="ctr">
              <a:spcBef>
                <a:spcPts val="0"/>
              </a:spcBef>
              <a:spcAft>
                <a:spcPts val="0"/>
              </a:spcAft>
            </a:pPr>
            <a:r>
              <a:rPr sz="1250" b="0" i="0">
                <a:solidFill>
                  <a:srgbClr val="ECEEFF"/>
                </a:solidFill>
                <a:latin typeface="Consolas"/>
              </a:rPr>
              <a:t>75,709</a:t>
            </a:r>
          </a:p>
        </p:txBody>
      </p:sp>
      <p:sp>
        <p:nvSpPr>
          <p:cNvPr id="43" name="TextBox 42"/>
          <p:cNvSpPr txBox="1"/>
          <p:nvPr/>
        </p:nvSpPr>
        <p:spPr>
          <a:xfrm>
            <a:off x="9875520" y="3474720"/>
            <a:ext cx="1554480" cy="548640"/>
          </a:xfrm>
          <a:prstGeom prst="rect">
            <a:avLst/>
          </a:prstGeom>
          <a:noFill/>
        </p:spPr>
        <p:txBody>
          <a:bodyPr wrap="square" anchor="ctr" lIns="54864" rIns="54864" tIns="27432" bIns="27432">
            <a:spAutoFit/>
          </a:bodyPr>
          <a:lstStyle/>
          <a:p>
            <a:pPr algn="ctr">
              <a:spcBef>
                <a:spcPts val="0"/>
              </a:spcBef>
              <a:spcAft>
                <a:spcPts val="0"/>
              </a:spcAft>
            </a:pPr>
            <a:r>
              <a:rPr sz="1250" b="1" i="0">
                <a:solidFill>
                  <a:srgbClr val="FF6B6B"/>
                </a:solidFill>
                <a:latin typeface="Consolas"/>
              </a:rPr>
              <a:t>208,400</a:t>
            </a:r>
          </a:p>
        </p:txBody>
      </p:sp>
      <p:sp>
        <p:nvSpPr>
          <p:cNvPr id="44" name="Rectangle 43"/>
          <p:cNvSpPr/>
          <p:nvPr/>
        </p:nvSpPr>
        <p:spPr>
          <a:xfrm>
            <a:off x="6400800" y="4023360"/>
            <a:ext cx="5138928" cy="54864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0" y="4023360"/>
            <a:ext cx="1828800" cy="548640"/>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ECEEFF"/>
                </a:solidFill>
                <a:latin typeface="Calibri"/>
              </a:rPr>
              <a:t>refund</a:t>
            </a:r>
          </a:p>
        </p:txBody>
      </p:sp>
      <p:sp>
        <p:nvSpPr>
          <p:cNvPr id="46" name="TextBox 45"/>
          <p:cNvSpPr txBox="1"/>
          <p:nvPr/>
        </p:nvSpPr>
        <p:spPr>
          <a:xfrm>
            <a:off x="8229600" y="4023360"/>
            <a:ext cx="1645920" cy="548640"/>
          </a:xfrm>
          <a:prstGeom prst="rect">
            <a:avLst/>
          </a:prstGeom>
          <a:noFill/>
        </p:spPr>
        <p:txBody>
          <a:bodyPr wrap="square" anchor="ctr" lIns="54864" rIns="54864" tIns="27432" bIns="27432">
            <a:spAutoFit/>
          </a:bodyPr>
          <a:lstStyle/>
          <a:p>
            <a:pPr algn="ctr">
              <a:spcBef>
                <a:spcPts val="0"/>
              </a:spcBef>
              <a:spcAft>
                <a:spcPts val="0"/>
              </a:spcAft>
            </a:pPr>
            <a:r>
              <a:rPr sz="1250" b="0" i="0">
                <a:solidFill>
                  <a:srgbClr val="ECEEFF"/>
                </a:solidFill>
                <a:latin typeface="Consolas"/>
              </a:rPr>
              <a:t>39,330</a:t>
            </a:r>
          </a:p>
        </p:txBody>
      </p:sp>
      <p:sp>
        <p:nvSpPr>
          <p:cNvPr id="47" name="TextBox 46"/>
          <p:cNvSpPr txBox="1"/>
          <p:nvPr/>
        </p:nvSpPr>
        <p:spPr>
          <a:xfrm>
            <a:off x="9875520" y="4023360"/>
            <a:ext cx="1554480" cy="548640"/>
          </a:xfrm>
          <a:prstGeom prst="rect">
            <a:avLst/>
          </a:prstGeom>
          <a:noFill/>
        </p:spPr>
        <p:txBody>
          <a:bodyPr wrap="square" anchor="ctr" lIns="54864" rIns="54864" tIns="27432" bIns="27432">
            <a:spAutoFit/>
          </a:bodyPr>
          <a:lstStyle/>
          <a:p>
            <a:pPr algn="ctr">
              <a:spcBef>
                <a:spcPts val="0"/>
              </a:spcBef>
              <a:spcAft>
                <a:spcPts val="0"/>
              </a:spcAft>
            </a:pPr>
            <a:r>
              <a:rPr sz="1250" b="0" i="0">
                <a:solidFill>
                  <a:srgbClr val="ECEEFF"/>
                </a:solidFill>
                <a:latin typeface="Consolas"/>
              </a:rPr>
              <a:t>39,330</a:t>
            </a:r>
          </a:p>
        </p:txBody>
      </p:sp>
      <p:sp>
        <p:nvSpPr>
          <p:cNvPr id="48" name="Rectangle 47"/>
          <p:cNvSpPr/>
          <p:nvPr/>
        </p:nvSpPr>
        <p:spPr>
          <a:xfrm>
            <a:off x="6400800" y="4572000"/>
            <a:ext cx="5138928" cy="54864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0" y="4572000"/>
            <a:ext cx="1828800" cy="548640"/>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ECEEFF"/>
                </a:solidFill>
                <a:latin typeface="Calibri"/>
              </a:rPr>
              <a:t>deploy</a:t>
            </a:r>
          </a:p>
        </p:txBody>
      </p:sp>
      <p:sp>
        <p:nvSpPr>
          <p:cNvPr id="50" name="TextBox 49"/>
          <p:cNvSpPr txBox="1"/>
          <p:nvPr/>
        </p:nvSpPr>
        <p:spPr>
          <a:xfrm>
            <a:off x="8229600" y="4572000"/>
            <a:ext cx="1645920" cy="548640"/>
          </a:xfrm>
          <a:prstGeom prst="rect">
            <a:avLst/>
          </a:prstGeom>
          <a:noFill/>
        </p:spPr>
        <p:txBody>
          <a:bodyPr wrap="square" anchor="ctr" lIns="54864" rIns="54864" tIns="27432" bIns="27432">
            <a:spAutoFit/>
          </a:bodyPr>
          <a:lstStyle/>
          <a:p>
            <a:pPr algn="ctr">
              <a:spcBef>
                <a:spcPts val="0"/>
              </a:spcBef>
              <a:spcAft>
                <a:spcPts val="0"/>
              </a:spcAft>
            </a:pPr>
            <a:r>
              <a:rPr sz="1250" b="0" i="0">
                <a:solidFill>
                  <a:srgbClr val="ECEEFF"/>
                </a:solidFill>
                <a:latin typeface="Consolas"/>
              </a:rPr>
              <a:t>715,257</a:t>
            </a:r>
          </a:p>
        </p:txBody>
      </p:sp>
      <p:sp>
        <p:nvSpPr>
          <p:cNvPr id="51" name="TextBox 50"/>
          <p:cNvSpPr txBox="1"/>
          <p:nvPr/>
        </p:nvSpPr>
        <p:spPr>
          <a:xfrm>
            <a:off x="9875520" y="4572000"/>
            <a:ext cx="1554480" cy="548640"/>
          </a:xfrm>
          <a:prstGeom prst="rect">
            <a:avLst/>
          </a:prstGeom>
          <a:noFill/>
        </p:spPr>
        <p:txBody>
          <a:bodyPr wrap="square" anchor="ctr" lIns="54864" rIns="54864" tIns="27432" bIns="27432">
            <a:spAutoFit/>
          </a:bodyPr>
          <a:lstStyle/>
          <a:p>
            <a:pPr algn="ctr">
              <a:spcBef>
                <a:spcPts val="0"/>
              </a:spcBef>
              <a:spcAft>
                <a:spcPts val="0"/>
              </a:spcAft>
            </a:pPr>
            <a:r>
              <a:rPr sz="1250" b="0" i="0">
                <a:solidFill>
                  <a:srgbClr val="ECEEFF"/>
                </a:solidFill>
                <a:latin typeface="Consolas"/>
              </a:rPr>
              <a:t>—</a:t>
            </a:r>
          </a:p>
        </p:txBody>
      </p:sp>
      <p:sp>
        <p:nvSpPr>
          <p:cNvPr id="52" name="TextBox 51"/>
          <p:cNvSpPr txBox="1"/>
          <p:nvPr/>
        </p:nvSpPr>
        <p:spPr>
          <a:xfrm>
            <a:off x="6400800" y="5212080"/>
            <a:ext cx="5120640" cy="640080"/>
          </a:xfrm>
          <a:prstGeom prst="rect">
            <a:avLst/>
          </a:prstGeom>
          <a:noFill/>
        </p:spPr>
        <p:txBody>
          <a:bodyPr wrap="square" anchor="t" lIns="54864" rIns="54864" tIns="27432" bIns="27432">
            <a:spAutoFit/>
          </a:bodyPr>
          <a:lstStyle/>
          <a:p>
            <a:pPr algn="l">
              <a:lnSpc>
                <a:spcPct val="110000"/>
              </a:lnSpc>
              <a:spcBef>
                <a:spcPts val="0"/>
              </a:spcBef>
              <a:spcAft>
                <a:spcPts val="0"/>
              </a:spcAft>
            </a:pPr>
            <a:r>
              <a:rPr sz="1250" b="1" i="1">
                <a:solidFill>
                  <a:srgbClr val="FFB454"/>
                </a:solidFill>
                <a:latin typeface="Calibri"/>
              </a:rPr>
              <a:t>LAS settlement floor = 2.75× the full classical claim — and the floor does no verification at 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FF6B6B"/>
                </a:solidFill>
                <a:latin typeface="Calibri"/>
              </a:rPr>
              <a:t>ON-CHAIN · THE COST EXPERIMENT</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What native LAS verification would actually cost</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13</a:t>
            </a:r>
          </a:p>
        </p:txBody>
      </p:sp>
      <p:sp>
        <p:nvSpPr>
          <p:cNvPr id="18" name="TextBox 17"/>
          <p:cNvSpPr txBox="1"/>
          <p:nvPr/>
        </p:nvSpPr>
        <p:spPr>
          <a:xfrm>
            <a:off x="566928" y="1572768"/>
            <a:ext cx="10972800" cy="320040"/>
          </a:xfrm>
          <a:prstGeom prst="rect">
            <a:avLst/>
          </a:prstGeom>
          <a:noFill/>
        </p:spPr>
        <p:txBody>
          <a:bodyPr wrap="square" anchor="t" lIns="54864" rIns="54864" tIns="27432" bIns="27432">
            <a:spAutoFit/>
          </a:bodyPr>
          <a:lstStyle/>
          <a:p>
            <a:pPr algn="l">
              <a:spcBef>
                <a:spcPts val="0"/>
              </a:spcBef>
              <a:spcAft>
                <a:spcPts val="0"/>
              </a:spcAft>
            </a:pPr>
            <a:r>
              <a:rPr sz="1200" b="0" i="1">
                <a:solidFill>
                  <a:srgbClr val="9AA0D0"/>
                </a:solidFill>
                <a:latin typeface="Calibri"/>
              </a:rPr>
              <a:t>LASVerifyCost.t.sol — a gas-faithful probe of one las_verify (op-budget identical to ref/las.c)</a:t>
            </a:r>
          </a:p>
        </p:txBody>
      </p:sp>
      <p:sp>
        <p:nvSpPr>
          <p:cNvPr id="19" name="Rectangle 18"/>
          <p:cNvSpPr/>
          <p:nvPr/>
        </p:nvSpPr>
        <p:spPr>
          <a:xfrm>
            <a:off x="566928" y="1965960"/>
            <a:ext cx="6446520" cy="43434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1965960"/>
            <a:ext cx="3291840" cy="434340"/>
          </a:xfrm>
          <a:prstGeom prst="rect">
            <a:avLst/>
          </a:prstGeom>
          <a:noFill/>
        </p:spPr>
        <p:txBody>
          <a:bodyPr wrap="square" anchor="ctr" lIns="54864" rIns="54864" tIns="27432" bIns="27432">
            <a:spAutoFit/>
          </a:bodyPr>
          <a:lstStyle/>
          <a:p>
            <a:pPr algn="l">
              <a:spcBef>
                <a:spcPts val="0"/>
              </a:spcBef>
              <a:spcAft>
                <a:spcPts val="0"/>
              </a:spcAft>
            </a:pPr>
            <a:r>
              <a:rPr sz="1250" b="0" i="0">
                <a:solidFill>
                  <a:srgbClr val="ECEEFF"/>
                </a:solidFill>
                <a:latin typeface="Calibri"/>
              </a:rPr>
              <a:t>forward NTT × 12</a:t>
            </a:r>
          </a:p>
        </p:txBody>
      </p:sp>
      <p:sp>
        <p:nvSpPr>
          <p:cNvPr id="21" name="TextBox 20"/>
          <p:cNvSpPr txBox="1"/>
          <p:nvPr/>
        </p:nvSpPr>
        <p:spPr>
          <a:xfrm>
            <a:off x="4087368" y="1965960"/>
            <a:ext cx="1783080" cy="434340"/>
          </a:xfrm>
          <a:prstGeom prst="rect">
            <a:avLst/>
          </a:prstGeom>
          <a:noFill/>
        </p:spPr>
        <p:txBody>
          <a:bodyPr wrap="square" anchor="ctr" lIns="54864" rIns="54864" tIns="27432" bIns="27432">
            <a:spAutoFit/>
          </a:bodyPr>
          <a:lstStyle/>
          <a:p>
            <a:pPr algn="r">
              <a:spcBef>
                <a:spcPts val="0"/>
              </a:spcBef>
              <a:spcAft>
                <a:spcPts val="0"/>
              </a:spcAft>
            </a:pPr>
            <a:r>
              <a:rPr sz="1300" b="0" i="0">
                <a:solidFill>
                  <a:srgbClr val="ECEEFF"/>
                </a:solidFill>
                <a:latin typeface="Consolas"/>
              </a:rPr>
              <a:t>4,537,776</a:t>
            </a:r>
          </a:p>
        </p:txBody>
      </p:sp>
      <p:sp>
        <p:nvSpPr>
          <p:cNvPr id="22" name="TextBox 21"/>
          <p:cNvSpPr txBox="1"/>
          <p:nvPr/>
        </p:nvSpPr>
        <p:spPr>
          <a:xfrm>
            <a:off x="6007608" y="1965960"/>
            <a:ext cx="914400" cy="434340"/>
          </a:xfrm>
          <a:prstGeom prst="rect">
            <a:avLst/>
          </a:prstGeom>
          <a:noFill/>
        </p:spPr>
        <p:txBody>
          <a:bodyPr wrap="square" anchor="ctr" lIns="54864" rIns="54864" tIns="27432" bIns="27432">
            <a:spAutoFit/>
          </a:bodyPr>
          <a:lstStyle/>
          <a:p>
            <a:pPr algn="ctr">
              <a:spcBef>
                <a:spcPts val="0"/>
              </a:spcBef>
              <a:spcAft>
                <a:spcPts val="0"/>
              </a:spcAft>
            </a:pPr>
            <a:r>
              <a:rPr sz="950" b="0" i="0">
                <a:solidFill>
                  <a:srgbClr val="9AA0D0"/>
                </a:solidFill>
                <a:latin typeface="Calibri"/>
              </a:rPr>
              <a:t>measured</a:t>
            </a:r>
          </a:p>
        </p:txBody>
      </p:sp>
      <p:sp>
        <p:nvSpPr>
          <p:cNvPr id="23" name="Rectangle 22"/>
          <p:cNvSpPr/>
          <p:nvPr/>
        </p:nvSpPr>
        <p:spPr>
          <a:xfrm>
            <a:off x="566928" y="2455164"/>
            <a:ext cx="6446520" cy="43434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2455164"/>
            <a:ext cx="3291840" cy="434340"/>
          </a:xfrm>
          <a:prstGeom prst="rect">
            <a:avLst/>
          </a:prstGeom>
          <a:noFill/>
        </p:spPr>
        <p:txBody>
          <a:bodyPr wrap="square" anchor="ctr" lIns="54864" rIns="54864" tIns="27432" bIns="27432">
            <a:spAutoFit/>
          </a:bodyPr>
          <a:lstStyle/>
          <a:p>
            <a:pPr algn="l">
              <a:spcBef>
                <a:spcPts val="0"/>
              </a:spcBef>
              <a:spcAft>
                <a:spcPts val="0"/>
              </a:spcAft>
            </a:pPr>
            <a:r>
              <a:rPr sz="1250" b="0" i="0">
                <a:solidFill>
                  <a:srgbClr val="ECEEFF"/>
                </a:solidFill>
                <a:latin typeface="Calibri"/>
              </a:rPr>
              <a:t>inverse NTT × 8</a:t>
            </a:r>
          </a:p>
        </p:txBody>
      </p:sp>
      <p:sp>
        <p:nvSpPr>
          <p:cNvPr id="25" name="TextBox 24"/>
          <p:cNvSpPr txBox="1"/>
          <p:nvPr/>
        </p:nvSpPr>
        <p:spPr>
          <a:xfrm>
            <a:off x="4087368" y="2455164"/>
            <a:ext cx="1783080" cy="434340"/>
          </a:xfrm>
          <a:prstGeom prst="rect">
            <a:avLst/>
          </a:prstGeom>
          <a:noFill/>
        </p:spPr>
        <p:txBody>
          <a:bodyPr wrap="square" anchor="ctr" lIns="54864" rIns="54864" tIns="27432" bIns="27432">
            <a:spAutoFit/>
          </a:bodyPr>
          <a:lstStyle/>
          <a:p>
            <a:pPr algn="r">
              <a:spcBef>
                <a:spcPts val="0"/>
              </a:spcBef>
              <a:spcAft>
                <a:spcPts val="0"/>
              </a:spcAft>
            </a:pPr>
            <a:r>
              <a:rPr sz="1300" b="0" i="0">
                <a:solidFill>
                  <a:srgbClr val="ECEEFF"/>
                </a:solidFill>
                <a:latin typeface="Consolas"/>
              </a:rPr>
              <a:t>3,374,048</a:t>
            </a:r>
          </a:p>
        </p:txBody>
      </p:sp>
      <p:sp>
        <p:nvSpPr>
          <p:cNvPr id="26" name="TextBox 25"/>
          <p:cNvSpPr txBox="1"/>
          <p:nvPr/>
        </p:nvSpPr>
        <p:spPr>
          <a:xfrm>
            <a:off x="6007608" y="2455164"/>
            <a:ext cx="914400" cy="434340"/>
          </a:xfrm>
          <a:prstGeom prst="rect">
            <a:avLst/>
          </a:prstGeom>
          <a:noFill/>
        </p:spPr>
        <p:txBody>
          <a:bodyPr wrap="square" anchor="ctr" lIns="54864" rIns="54864" tIns="27432" bIns="27432">
            <a:spAutoFit/>
          </a:bodyPr>
          <a:lstStyle/>
          <a:p>
            <a:pPr algn="ctr">
              <a:spcBef>
                <a:spcPts val="0"/>
              </a:spcBef>
              <a:spcAft>
                <a:spcPts val="0"/>
              </a:spcAft>
            </a:pPr>
            <a:r>
              <a:rPr sz="950" b="0" i="0">
                <a:solidFill>
                  <a:srgbClr val="9AA0D0"/>
                </a:solidFill>
                <a:latin typeface="Calibri"/>
              </a:rPr>
              <a:t>measured</a:t>
            </a:r>
          </a:p>
        </p:txBody>
      </p:sp>
      <p:sp>
        <p:nvSpPr>
          <p:cNvPr id="27" name="Rectangle 26"/>
          <p:cNvSpPr/>
          <p:nvPr/>
        </p:nvSpPr>
        <p:spPr>
          <a:xfrm>
            <a:off x="566928" y="2944368"/>
            <a:ext cx="6446520" cy="434340"/>
          </a:xfrm>
          <a:prstGeom prst="rect">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2944368"/>
            <a:ext cx="3291840" cy="434340"/>
          </a:xfrm>
          <a:prstGeom prst="rect">
            <a:avLst/>
          </a:prstGeom>
          <a:noFill/>
        </p:spPr>
        <p:txBody>
          <a:bodyPr wrap="square" anchor="ctr" lIns="54864" rIns="54864" tIns="27432" bIns="27432">
            <a:spAutoFit/>
          </a:bodyPr>
          <a:lstStyle/>
          <a:p>
            <a:pPr algn="l">
              <a:spcBef>
                <a:spcPts val="0"/>
              </a:spcBef>
              <a:spcAft>
                <a:spcPts val="0"/>
              </a:spcAft>
            </a:pPr>
            <a:r>
              <a:rPr sz="1250" b="0" i="0">
                <a:solidFill>
                  <a:srgbClr val="ECEEFF"/>
                </a:solidFill>
                <a:latin typeface="Calibri"/>
              </a:rPr>
              <a:t>pointwise × 20</a:t>
            </a:r>
          </a:p>
        </p:txBody>
      </p:sp>
      <p:sp>
        <p:nvSpPr>
          <p:cNvPr id="29" name="TextBox 28"/>
          <p:cNvSpPr txBox="1"/>
          <p:nvPr/>
        </p:nvSpPr>
        <p:spPr>
          <a:xfrm>
            <a:off x="4087368" y="2944368"/>
            <a:ext cx="1783080" cy="434340"/>
          </a:xfrm>
          <a:prstGeom prst="rect">
            <a:avLst/>
          </a:prstGeom>
          <a:noFill/>
        </p:spPr>
        <p:txBody>
          <a:bodyPr wrap="square" anchor="ctr" lIns="54864" rIns="54864" tIns="27432" bIns="27432">
            <a:spAutoFit/>
          </a:bodyPr>
          <a:lstStyle/>
          <a:p>
            <a:pPr algn="r">
              <a:spcBef>
                <a:spcPts val="0"/>
              </a:spcBef>
              <a:spcAft>
                <a:spcPts val="0"/>
              </a:spcAft>
            </a:pPr>
            <a:r>
              <a:rPr sz="1300" b="0" i="0">
                <a:solidFill>
                  <a:srgbClr val="ECEEFF"/>
                </a:solidFill>
                <a:latin typeface="Consolas"/>
              </a:rPr>
              <a:t>940,500</a:t>
            </a:r>
          </a:p>
        </p:txBody>
      </p:sp>
      <p:sp>
        <p:nvSpPr>
          <p:cNvPr id="30" name="TextBox 29"/>
          <p:cNvSpPr txBox="1"/>
          <p:nvPr/>
        </p:nvSpPr>
        <p:spPr>
          <a:xfrm>
            <a:off x="6007608" y="2944368"/>
            <a:ext cx="914400" cy="434340"/>
          </a:xfrm>
          <a:prstGeom prst="rect">
            <a:avLst/>
          </a:prstGeom>
          <a:noFill/>
        </p:spPr>
        <p:txBody>
          <a:bodyPr wrap="square" anchor="ctr" lIns="54864" rIns="54864" tIns="27432" bIns="27432">
            <a:spAutoFit/>
          </a:bodyPr>
          <a:lstStyle/>
          <a:p>
            <a:pPr algn="ctr">
              <a:spcBef>
                <a:spcPts val="0"/>
              </a:spcBef>
              <a:spcAft>
                <a:spcPts val="0"/>
              </a:spcAft>
            </a:pPr>
            <a:r>
              <a:rPr sz="950" b="0" i="0">
                <a:solidFill>
                  <a:srgbClr val="9AA0D0"/>
                </a:solidFill>
                <a:latin typeface="Calibri"/>
              </a:rPr>
              <a:t>measured</a:t>
            </a:r>
          </a:p>
        </p:txBody>
      </p:sp>
      <p:sp>
        <p:nvSpPr>
          <p:cNvPr id="31" name="Rectangle 30"/>
          <p:cNvSpPr/>
          <p:nvPr/>
        </p:nvSpPr>
        <p:spPr>
          <a:xfrm>
            <a:off x="566928" y="3433572"/>
            <a:ext cx="6446520" cy="43434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3433572"/>
            <a:ext cx="3291840" cy="434340"/>
          </a:xfrm>
          <a:prstGeom prst="rect">
            <a:avLst/>
          </a:prstGeom>
          <a:noFill/>
        </p:spPr>
        <p:txBody>
          <a:bodyPr wrap="square" anchor="ctr" lIns="54864" rIns="54864" tIns="27432" bIns="27432">
            <a:spAutoFit/>
          </a:bodyPr>
          <a:lstStyle/>
          <a:p>
            <a:pPr algn="l">
              <a:spcBef>
                <a:spcPts val="0"/>
              </a:spcBef>
              <a:spcAft>
                <a:spcPts val="0"/>
              </a:spcAft>
            </a:pPr>
            <a:r>
              <a:rPr sz="1250" b="0" i="0">
                <a:solidFill>
                  <a:srgbClr val="ECEEFF"/>
                </a:solidFill>
                <a:latin typeface="Calibri"/>
              </a:rPr>
              <a:t>coeff passes × ~40</a:t>
            </a:r>
          </a:p>
        </p:txBody>
      </p:sp>
      <p:sp>
        <p:nvSpPr>
          <p:cNvPr id="33" name="TextBox 32"/>
          <p:cNvSpPr txBox="1"/>
          <p:nvPr/>
        </p:nvSpPr>
        <p:spPr>
          <a:xfrm>
            <a:off x="4087368" y="3433572"/>
            <a:ext cx="1783080" cy="434340"/>
          </a:xfrm>
          <a:prstGeom prst="rect">
            <a:avLst/>
          </a:prstGeom>
          <a:noFill/>
        </p:spPr>
        <p:txBody>
          <a:bodyPr wrap="square" anchor="ctr" lIns="54864" rIns="54864" tIns="27432" bIns="27432">
            <a:spAutoFit/>
          </a:bodyPr>
          <a:lstStyle/>
          <a:p>
            <a:pPr algn="r">
              <a:spcBef>
                <a:spcPts val="0"/>
              </a:spcBef>
              <a:spcAft>
                <a:spcPts val="0"/>
              </a:spcAft>
            </a:pPr>
            <a:r>
              <a:rPr sz="1300" b="0" i="0">
                <a:solidFill>
                  <a:srgbClr val="ECEEFF"/>
                </a:solidFill>
                <a:latin typeface="Consolas"/>
              </a:rPr>
              <a:t>≈1,227,720</a:t>
            </a:r>
          </a:p>
        </p:txBody>
      </p:sp>
      <p:sp>
        <p:nvSpPr>
          <p:cNvPr id="34" name="TextBox 33"/>
          <p:cNvSpPr txBox="1"/>
          <p:nvPr/>
        </p:nvSpPr>
        <p:spPr>
          <a:xfrm>
            <a:off x="6007608" y="3433572"/>
            <a:ext cx="914400" cy="434340"/>
          </a:xfrm>
          <a:prstGeom prst="rect">
            <a:avLst/>
          </a:prstGeom>
          <a:noFill/>
        </p:spPr>
        <p:txBody>
          <a:bodyPr wrap="square" anchor="ctr" lIns="54864" rIns="54864" tIns="27432" bIns="27432">
            <a:spAutoFit/>
          </a:bodyPr>
          <a:lstStyle/>
          <a:p>
            <a:pPr algn="ctr">
              <a:spcBef>
                <a:spcPts val="0"/>
              </a:spcBef>
              <a:spcAft>
                <a:spcPts val="0"/>
              </a:spcAft>
            </a:pPr>
            <a:r>
              <a:rPr sz="950" b="0" i="0">
                <a:solidFill>
                  <a:srgbClr val="9AA0D0"/>
                </a:solidFill>
                <a:latin typeface="Calibri"/>
              </a:rPr>
              <a:t>measured</a:t>
            </a:r>
          </a:p>
        </p:txBody>
      </p:sp>
      <p:sp>
        <p:nvSpPr>
          <p:cNvPr id="35" name="Rectangle 34"/>
          <p:cNvSpPr/>
          <p:nvPr/>
        </p:nvSpPr>
        <p:spPr>
          <a:xfrm>
            <a:off x="566928" y="3922776"/>
            <a:ext cx="6446520" cy="434340"/>
          </a:xfrm>
          <a:prstGeom prst="rect">
            <a:avLst/>
          </a:prstGeom>
          <a:solidFill>
            <a:srgbClr val="262D66"/>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3922776"/>
            <a:ext cx="3291840" cy="434340"/>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49E3CE"/>
                </a:solidFill>
                <a:latin typeface="Calibri"/>
              </a:rPr>
              <a:t>arithmetic (verifyArith)</a:t>
            </a:r>
          </a:p>
        </p:txBody>
      </p:sp>
      <p:sp>
        <p:nvSpPr>
          <p:cNvPr id="37" name="TextBox 36"/>
          <p:cNvSpPr txBox="1"/>
          <p:nvPr/>
        </p:nvSpPr>
        <p:spPr>
          <a:xfrm>
            <a:off x="4087368" y="3922776"/>
            <a:ext cx="1783080" cy="434340"/>
          </a:xfrm>
          <a:prstGeom prst="rect">
            <a:avLst/>
          </a:prstGeom>
          <a:noFill/>
        </p:spPr>
        <p:txBody>
          <a:bodyPr wrap="square" anchor="ctr" lIns="54864" rIns="54864" tIns="27432" bIns="27432">
            <a:spAutoFit/>
          </a:bodyPr>
          <a:lstStyle/>
          <a:p>
            <a:pPr algn="r">
              <a:spcBef>
                <a:spcPts val="0"/>
              </a:spcBef>
              <a:spcAft>
                <a:spcPts val="0"/>
              </a:spcAft>
            </a:pPr>
            <a:r>
              <a:rPr sz="1300" b="1" i="0">
                <a:solidFill>
                  <a:srgbClr val="ECEEFF"/>
                </a:solidFill>
                <a:latin typeface="Consolas"/>
              </a:rPr>
              <a:t>10,080,044</a:t>
            </a:r>
          </a:p>
        </p:txBody>
      </p:sp>
      <p:sp>
        <p:nvSpPr>
          <p:cNvPr id="38" name="TextBox 37"/>
          <p:cNvSpPr txBox="1"/>
          <p:nvPr/>
        </p:nvSpPr>
        <p:spPr>
          <a:xfrm>
            <a:off x="6007608" y="3922776"/>
            <a:ext cx="914400" cy="434340"/>
          </a:xfrm>
          <a:prstGeom prst="rect">
            <a:avLst/>
          </a:prstGeom>
          <a:noFill/>
        </p:spPr>
        <p:txBody>
          <a:bodyPr wrap="square" anchor="ctr" lIns="54864" rIns="54864" tIns="27432" bIns="27432">
            <a:spAutoFit/>
          </a:bodyPr>
          <a:lstStyle/>
          <a:p>
            <a:pPr algn="ctr">
              <a:spcBef>
                <a:spcPts val="0"/>
              </a:spcBef>
              <a:spcAft>
                <a:spcPts val="0"/>
              </a:spcAft>
            </a:pPr>
            <a:r>
              <a:rPr sz="950" b="1" i="0">
                <a:solidFill>
                  <a:srgbClr val="FFB454"/>
                </a:solidFill>
                <a:latin typeface="Calibri"/>
              </a:rPr>
              <a:t>MEASURED</a:t>
            </a:r>
          </a:p>
        </p:txBody>
      </p:sp>
      <p:sp>
        <p:nvSpPr>
          <p:cNvPr id="39" name="Rectangle 38"/>
          <p:cNvSpPr/>
          <p:nvPr/>
        </p:nvSpPr>
        <p:spPr>
          <a:xfrm>
            <a:off x="566928" y="4411980"/>
            <a:ext cx="6446520" cy="434340"/>
          </a:xfrm>
          <a:prstGeom prst="rect">
            <a:avLst/>
          </a:prstGeom>
          <a:solidFill>
            <a:srgbClr val="16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4411980"/>
            <a:ext cx="3291840" cy="434340"/>
          </a:xfrm>
          <a:prstGeom prst="rect">
            <a:avLst/>
          </a:prstGeom>
          <a:noFill/>
        </p:spPr>
        <p:txBody>
          <a:bodyPr wrap="square" anchor="ctr" lIns="54864" rIns="54864" tIns="27432" bIns="27432">
            <a:spAutoFit/>
          </a:bodyPr>
          <a:lstStyle/>
          <a:p>
            <a:pPr algn="l">
              <a:spcBef>
                <a:spcPts val="0"/>
              </a:spcBef>
              <a:spcAft>
                <a:spcPts val="0"/>
              </a:spcAft>
            </a:pPr>
            <a:r>
              <a:rPr sz="1250" b="0" i="0">
                <a:solidFill>
                  <a:srgbClr val="ECEEFF"/>
                </a:solidFill>
                <a:latin typeface="Calibri"/>
              </a:rPr>
              <a:t>SHAKE256 challenge × 64 perm.</a:t>
            </a:r>
          </a:p>
        </p:txBody>
      </p:sp>
      <p:sp>
        <p:nvSpPr>
          <p:cNvPr id="41" name="TextBox 40"/>
          <p:cNvSpPr txBox="1"/>
          <p:nvPr/>
        </p:nvSpPr>
        <p:spPr>
          <a:xfrm>
            <a:off x="4087368" y="4411980"/>
            <a:ext cx="1783080" cy="434340"/>
          </a:xfrm>
          <a:prstGeom prst="rect">
            <a:avLst/>
          </a:prstGeom>
          <a:noFill/>
        </p:spPr>
        <p:txBody>
          <a:bodyPr wrap="square" anchor="ctr" lIns="54864" rIns="54864" tIns="27432" bIns="27432">
            <a:spAutoFit/>
          </a:bodyPr>
          <a:lstStyle/>
          <a:p>
            <a:pPr algn="r">
              <a:spcBef>
                <a:spcPts val="0"/>
              </a:spcBef>
              <a:spcAft>
                <a:spcPts val="0"/>
              </a:spcAft>
            </a:pPr>
            <a:r>
              <a:rPr sz="1300" b="0" i="0">
                <a:solidFill>
                  <a:srgbClr val="ECEEFF"/>
                </a:solidFill>
                <a:latin typeface="Consolas"/>
              </a:rPr>
              <a:t>1,920,000</a:t>
            </a:r>
          </a:p>
        </p:txBody>
      </p:sp>
      <p:sp>
        <p:nvSpPr>
          <p:cNvPr id="42" name="TextBox 41"/>
          <p:cNvSpPr txBox="1"/>
          <p:nvPr/>
        </p:nvSpPr>
        <p:spPr>
          <a:xfrm>
            <a:off x="6007608" y="4411980"/>
            <a:ext cx="914400" cy="434340"/>
          </a:xfrm>
          <a:prstGeom prst="rect">
            <a:avLst/>
          </a:prstGeom>
          <a:noFill/>
        </p:spPr>
        <p:txBody>
          <a:bodyPr wrap="square" anchor="ctr" lIns="54864" rIns="54864" tIns="27432" bIns="27432">
            <a:spAutoFit/>
          </a:bodyPr>
          <a:lstStyle/>
          <a:p>
            <a:pPr algn="ctr">
              <a:spcBef>
                <a:spcPts val="0"/>
              </a:spcBef>
              <a:spcAft>
                <a:spcPts val="0"/>
              </a:spcAft>
            </a:pPr>
            <a:r>
              <a:rPr sz="950" b="0" i="0">
                <a:solidFill>
                  <a:srgbClr val="9AA0D0"/>
                </a:solidFill>
                <a:latin typeface="Calibri"/>
              </a:rPr>
              <a:t>calculated</a:t>
            </a:r>
          </a:p>
        </p:txBody>
      </p:sp>
      <p:sp>
        <p:nvSpPr>
          <p:cNvPr id="43" name="Rectangle 42"/>
          <p:cNvSpPr/>
          <p:nvPr/>
        </p:nvSpPr>
        <p:spPr>
          <a:xfrm>
            <a:off x="566928" y="4901183"/>
            <a:ext cx="6446520" cy="434340"/>
          </a:xfrm>
          <a:prstGeom prst="rect">
            <a:avLst/>
          </a:prstGeom>
          <a:solidFill>
            <a:srgbClr val="262D66"/>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9808" y="4901183"/>
            <a:ext cx="3291840" cy="434340"/>
          </a:xfrm>
          <a:prstGeom prst="rect">
            <a:avLst/>
          </a:prstGeom>
          <a:noFill/>
        </p:spPr>
        <p:txBody>
          <a:bodyPr wrap="square" anchor="ctr" lIns="54864" rIns="54864" tIns="27432" bIns="27432">
            <a:spAutoFit/>
          </a:bodyPr>
          <a:lstStyle/>
          <a:p>
            <a:pPr algn="l">
              <a:spcBef>
                <a:spcPts val="0"/>
              </a:spcBef>
              <a:spcAft>
                <a:spcPts val="0"/>
              </a:spcAft>
            </a:pPr>
            <a:r>
              <a:rPr sz="1250" b="1" i="0">
                <a:solidFill>
                  <a:srgbClr val="FF6B6B"/>
                </a:solidFill>
                <a:latin typeface="Calibri"/>
              </a:rPr>
              <a:t>one native las_verify</a:t>
            </a:r>
          </a:p>
        </p:txBody>
      </p:sp>
      <p:sp>
        <p:nvSpPr>
          <p:cNvPr id="45" name="TextBox 44"/>
          <p:cNvSpPr txBox="1"/>
          <p:nvPr/>
        </p:nvSpPr>
        <p:spPr>
          <a:xfrm>
            <a:off x="4087368" y="4901183"/>
            <a:ext cx="1783080" cy="434340"/>
          </a:xfrm>
          <a:prstGeom prst="rect">
            <a:avLst/>
          </a:prstGeom>
          <a:noFill/>
        </p:spPr>
        <p:txBody>
          <a:bodyPr wrap="square" anchor="ctr" lIns="54864" rIns="54864" tIns="27432" bIns="27432">
            <a:spAutoFit/>
          </a:bodyPr>
          <a:lstStyle/>
          <a:p>
            <a:pPr algn="r">
              <a:spcBef>
                <a:spcPts val="0"/>
              </a:spcBef>
              <a:spcAft>
                <a:spcPts val="0"/>
              </a:spcAft>
            </a:pPr>
            <a:r>
              <a:rPr sz="1300" b="1" i="0">
                <a:solidFill>
                  <a:srgbClr val="FF6B6B"/>
                </a:solidFill>
                <a:latin typeface="Consolas"/>
              </a:rPr>
              <a:t>≈12,000,044</a:t>
            </a:r>
          </a:p>
        </p:txBody>
      </p:sp>
      <p:sp>
        <p:nvSpPr>
          <p:cNvPr id="46" name="TextBox 45"/>
          <p:cNvSpPr txBox="1"/>
          <p:nvPr/>
        </p:nvSpPr>
        <p:spPr>
          <a:xfrm>
            <a:off x="6007608" y="4901183"/>
            <a:ext cx="914400" cy="434340"/>
          </a:xfrm>
          <a:prstGeom prst="rect">
            <a:avLst/>
          </a:prstGeom>
          <a:noFill/>
        </p:spPr>
        <p:txBody>
          <a:bodyPr wrap="square" anchor="ctr" lIns="54864" rIns="54864" tIns="27432" bIns="27432">
            <a:spAutoFit/>
          </a:bodyPr>
          <a:lstStyle/>
          <a:p>
            <a:pPr algn="ctr">
              <a:spcBef>
                <a:spcPts val="0"/>
              </a:spcBef>
              <a:spcAft>
                <a:spcPts val="0"/>
              </a:spcAft>
            </a:pPr>
            <a:r>
              <a:rPr sz="950" b="1" i="0">
                <a:solidFill>
                  <a:srgbClr val="FFB454"/>
                </a:solidFill>
                <a:latin typeface="Calibri"/>
              </a:rPr>
              <a:t>TOTAL</a:t>
            </a:r>
          </a:p>
        </p:txBody>
      </p:sp>
      <p:sp>
        <p:nvSpPr>
          <p:cNvPr id="47" name="Rounded Rectangle 46"/>
          <p:cNvSpPr/>
          <p:nvPr/>
        </p:nvSpPr>
        <p:spPr>
          <a:xfrm>
            <a:off x="7315200" y="1965960"/>
            <a:ext cx="4224528" cy="1371600"/>
          </a:xfrm>
          <a:prstGeom prst="roundRect">
            <a:avLst>
              <a:gd name="adj" fmla="val 4500"/>
            </a:avLst>
          </a:prstGeom>
          <a:solidFill>
            <a:srgbClr val="262D66"/>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16368" y="2093976"/>
            <a:ext cx="3822191" cy="685800"/>
          </a:xfrm>
          <a:prstGeom prst="rect">
            <a:avLst/>
          </a:prstGeom>
          <a:noFill/>
        </p:spPr>
        <p:txBody>
          <a:bodyPr wrap="square" anchor="t" lIns="54864" rIns="54864" tIns="27432" bIns="27432">
            <a:spAutoFit/>
          </a:bodyPr>
          <a:lstStyle/>
          <a:p>
            <a:pPr algn="l">
              <a:spcBef>
                <a:spcPts val="0"/>
              </a:spcBef>
              <a:spcAft>
                <a:spcPts val="0"/>
              </a:spcAft>
            </a:pPr>
            <a:r>
              <a:rPr sz="3400" b="1" i="0">
                <a:solidFill>
                  <a:srgbClr val="FF6B6B"/>
                </a:solidFill>
                <a:latin typeface="Georgia"/>
              </a:rPr>
              <a:t>≈ 12 M gas</a:t>
            </a:r>
          </a:p>
        </p:txBody>
      </p:sp>
      <p:sp>
        <p:nvSpPr>
          <p:cNvPr id="49" name="TextBox 48"/>
          <p:cNvSpPr txBox="1"/>
          <p:nvPr/>
        </p:nvSpPr>
        <p:spPr>
          <a:xfrm>
            <a:off x="7516368" y="2706624"/>
            <a:ext cx="3822191" cy="594360"/>
          </a:xfrm>
          <a:prstGeom prst="rect">
            <a:avLst/>
          </a:prstGeom>
          <a:noFill/>
        </p:spPr>
        <p:txBody>
          <a:bodyPr wrap="square" anchor="t" lIns="54864" rIns="54864" tIns="27432" bIns="27432">
            <a:spAutoFit/>
          </a:bodyPr>
          <a:lstStyle/>
          <a:p>
            <a:pPr algn="l">
              <a:lnSpc>
                <a:spcPct val="104000"/>
              </a:lnSpc>
              <a:spcBef>
                <a:spcPts val="0"/>
              </a:spcBef>
              <a:spcAft>
                <a:spcPts val="0"/>
              </a:spcAft>
            </a:pPr>
            <a:r>
              <a:rPr sz="1200" b="0" i="0">
                <a:solidFill>
                  <a:srgbClr val="ECEEFF"/>
                </a:solidFill>
                <a:latin typeface="Calibri"/>
              </a:rPr>
              <a:t>one native verification
(measured + calculated)</a:t>
            </a:r>
          </a:p>
        </p:txBody>
      </p:sp>
      <p:sp>
        <p:nvSpPr>
          <p:cNvPr id="50" name="Rounded Rectangle 49"/>
          <p:cNvSpPr/>
          <p:nvPr/>
        </p:nvSpPr>
        <p:spPr>
          <a:xfrm>
            <a:off x="7315200" y="3474720"/>
            <a:ext cx="4224528" cy="1234440"/>
          </a:xfrm>
          <a:prstGeom prst="roundRect">
            <a:avLst>
              <a:gd name="adj" fmla="val 4500"/>
            </a:avLst>
          </a:prstGeom>
          <a:solidFill>
            <a:srgbClr val="1E2457"/>
          </a:solidFill>
          <a:ln w="12700">
            <a:solidFill>
              <a:srgbClr val="2E3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16368" y="3584448"/>
            <a:ext cx="3840480" cy="1005840"/>
          </a:xfrm>
          <a:prstGeom prst="rect">
            <a:avLst/>
          </a:prstGeom>
          <a:noFill/>
        </p:spPr>
        <p:txBody>
          <a:bodyPr wrap="square" anchor="t" lIns="54864" rIns="54864" tIns="27432" bIns="27432">
            <a:spAutoFit/>
          </a:bodyPr>
          <a:lstStyle/>
          <a:p>
            <a:pPr algn="l">
              <a:lnSpc>
                <a:spcPct val="100000"/>
              </a:lnSpc>
              <a:spcBef>
                <a:spcPts val="0"/>
              </a:spcBef>
              <a:spcAft>
                <a:spcPts val="800"/>
              </a:spcAft>
            </a:pPr>
            <a:r>
              <a:rPr sz="1300" b="1" i="0">
                <a:solidFill>
                  <a:srgbClr val="FF6B6B"/>
                </a:solidFill>
                <a:latin typeface="Calibri"/>
              </a:rPr>
              <a:t>▸  </a:t>
            </a:r>
            <a:r>
              <a:rPr sz="1300" b="1" i="0">
                <a:solidFill>
                  <a:srgbClr val="FF6B6B"/>
                </a:solidFill>
                <a:latin typeface="Consolas"/>
              </a:rPr>
              <a:t>≈ 158×</a:t>
            </a:r>
            <a:r>
              <a:rPr sz="1300" b="0" i="0">
                <a:solidFill>
                  <a:srgbClr val="ECEEFF"/>
                </a:solidFill>
                <a:latin typeface="Calibri"/>
              </a:rPr>
              <a:t> the classical ecrecover claim</a:t>
            </a:r>
          </a:p>
          <a:p>
            <a:pPr algn="l">
              <a:lnSpc>
                <a:spcPct val="100000"/>
              </a:lnSpc>
              <a:spcBef>
                <a:spcPts val="0"/>
              </a:spcBef>
              <a:spcAft>
                <a:spcPts val="800"/>
              </a:spcAft>
            </a:pPr>
            <a:r>
              <a:rPr sz="1300" b="1" i="0">
                <a:solidFill>
                  <a:srgbClr val="FF6B6B"/>
                </a:solidFill>
                <a:latin typeface="Calibri"/>
              </a:rPr>
              <a:t>▸  </a:t>
            </a:r>
            <a:r>
              <a:rPr sz="1300" b="1" i="0">
                <a:solidFill>
                  <a:srgbClr val="FF6B6B"/>
                </a:solidFill>
                <a:latin typeface="Consolas"/>
              </a:rPr>
              <a:t>≈ 40%</a:t>
            </a:r>
            <a:r>
              <a:rPr sz="1300" b="0" i="0">
                <a:solidFill>
                  <a:srgbClr val="ECEEFF"/>
                </a:solidFill>
                <a:latin typeface="Calibri"/>
              </a:rPr>
              <a:t> of a single 30 M block</a:t>
            </a:r>
          </a:p>
        </p:txBody>
      </p:sp>
      <p:sp>
        <p:nvSpPr>
          <p:cNvPr id="52" name="Rounded Rectangle 51"/>
          <p:cNvSpPr/>
          <p:nvPr/>
        </p:nvSpPr>
        <p:spPr>
          <a:xfrm>
            <a:off x="7315200" y="4800600"/>
            <a:ext cx="4224528" cy="1143000"/>
          </a:xfrm>
          <a:prstGeom prst="roundRect">
            <a:avLst>
              <a:gd name="adj" fmla="val 4500"/>
            </a:avLst>
          </a:prstGeom>
          <a:solidFill>
            <a:srgbClr val="161B45"/>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16368" y="4901184"/>
            <a:ext cx="3840480" cy="960120"/>
          </a:xfrm>
          <a:prstGeom prst="rect">
            <a:avLst/>
          </a:prstGeom>
          <a:noFill/>
        </p:spPr>
        <p:txBody>
          <a:bodyPr wrap="square" anchor="t" lIns="54864" rIns="54864" tIns="27432" bIns="27432">
            <a:spAutoFit/>
          </a:bodyPr>
          <a:lstStyle/>
          <a:p>
            <a:pPr algn="l">
              <a:lnSpc>
                <a:spcPct val="100000"/>
              </a:lnSpc>
              <a:spcBef>
                <a:spcPts val="0"/>
              </a:spcBef>
              <a:spcAft>
                <a:spcPts val="200"/>
              </a:spcAft>
            </a:pPr>
            <a:r>
              <a:rPr sz="1200" b="1" i="0">
                <a:solidFill>
                  <a:srgbClr val="FFB454"/>
                </a:solidFill>
                <a:latin typeface="Calibri"/>
              </a:rPr>
              <a:t>Retraction:</a:t>
            </a:r>
            <a:r>
              <a:rPr sz="1200" b="0" i="0">
                <a:solidFill>
                  <a:srgbClr val="ECEEFF"/>
                </a:solidFill>
                <a:latin typeface="Calibri"/>
              </a:rPr>
              <a:t> the earlier "exceeds the block limit" claim was wrong — with native mulmod it </a:t>
            </a:r>
            <a:r>
              <a:rPr sz="1200" b="1" i="0">
                <a:solidFill>
                  <a:srgbClr val="ECEEFF"/>
                </a:solidFill>
                <a:latin typeface="Calibri"/>
              </a:rPr>
              <a:t>fits in a block</a:t>
            </a:r>
            <a:r>
              <a:rPr sz="1200" b="0" i="0">
                <a:solidFill>
                  <a:srgbClr val="ECEEFF"/>
                </a:solidFill>
                <a:latin typeface="Calibri"/>
              </a:rPr>
              <a:t>. The real barrier is cost + missing precompiles.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Oval 1"/>
          <p:cNvSpPr/>
          <p:nvPr/>
        </p:nvSpPr>
        <p:spPr>
          <a:xfrm>
            <a:off x="1101852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1852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1852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9284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9284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9284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6716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6716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6716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41480" y="27432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841480" y="548640"/>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841480" y="822959"/>
            <a:ext cx="36576" cy="36576"/>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84048"/>
            <a:ext cx="10058400" cy="292608"/>
          </a:xfrm>
          <a:prstGeom prst="rect">
            <a:avLst/>
          </a:prstGeom>
          <a:noFill/>
        </p:spPr>
        <p:txBody>
          <a:bodyPr wrap="square" anchor="t" lIns="54864" rIns="54864" tIns="27432" bIns="27432">
            <a:spAutoFit/>
          </a:bodyPr>
          <a:lstStyle/>
          <a:p>
            <a:pPr algn="l">
              <a:spcBef>
                <a:spcPts val="0"/>
              </a:spcBef>
              <a:spcAft>
                <a:spcPts val="0"/>
              </a:spcAft>
            </a:pPr>
            <a:r>
              <a:rPr sz="1250" b="1" i="0" spc="240">
                <a:solidFill>
                  <a:srgbClr val="9B8CFF"/>
                </a:solidFill>
                <a:latin typeface="Calibri"/>
              </a:rPr>
              <a:t>CORRECTNESS &amp; ROBUSTNESS</a:t>
            </a:r>
          </a:p>
        </p:txBody>
      </p:sp>
      <p:sp>
        <p:nvSpPr>
          <p:cNvPr id="15" name="TextBox 14"/>
          <p:cNvSpPr txBox="1"/>
          <p:nvPr/>
        </p:nvSpPr>
        <p:spPr>
          <a:xfrm>
            <a:off x="548640" y="676656"/>
            <a:ext cx="11064240" cy="868680"/>
          </a:xfrm>
          <a:prstGeom prst="rect">
            <a:avLst/>
          </a:prstGeom>
          <a:noFill/>
        </p:spPr>
        <p:txBody>
          <a:bodyPr wrap="square" anchor="t" lIns="54864" rIns="54864" tIns="27432" bIns="27432">
            <a:spAutoFit/>
          </a:bodyPr>
          <a:lstStyle/>
          <a:p>
            <a:pPr algn="l">
              <a:spcBef>
                <a:spcPts val="0"/>
              </a:spcBef>
              <a:spcAft>
                <a:spcPts val="0"/>
              </a:spcAft>
            </a:pPr>
            <a:r>
              <a:rPr sz="3000" b="1" i="0">
                <a:solidFill>
                  <a:srgbClr val="ECEEFF"/>
                </a:solidFill>
                <a:latin typeface="Georgia"/>
              </a:rPr>
              <a:t>The metrics that have no margin of error</a:t>
            </a:r>
          </a:p>
        </p:txBody>
      </p:sp>
      <p:sp>
        <p:nvSpPr>
          <p:cNvPr id="16" name="TextBox 15"/>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17" name="TextBox 16"/>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14</a:t>
            </a:r>
          </a:p>
        </p:txBody>
      </p:sp>
      <p:sp>
        <p:nvSpPr>
          <p:cNvPr id="18" name="Rounded Rectangle 17"/>
          <p:cNvSpPr/>
          <p:nvPr/>
        </p:nvSpPr>
        <p:spPr>
          <a:xfrm>
            <a:off x="566928" y="1874519"/>
            <a:ext cx="5852160" cy="1207008"/>
          </a:xfrm>
          <a:prstGeom prst="roundRect">
            <a:avLst>
              <a:gd name="adj" fmla="val 4500"/>
            </a:avLst>
          </a:prstGeom>
          <a:solidFill>
            <a:srgbClr val="1E2457"/>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1874519"/>
            <a:ext cx="91440" cy="1207008"/>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020824"/>
            <a:ext cx="5486400" cy="548640"/>
          </a:xfrm>
          <a:prstGeom prst="rect">
            <a:avLst/>
          </a:prstGeom>
          <a:noFill/>
        </p:spPr>
        <p:txBody>
          <a:bodyPr wrap="square" anchor="t" lIns="54864" rIns="54864" tIns="27432" bIns="27432">
            <a:spAutoFit/>
          </a:bodyPr>
          <a:lstStyle/>
          <a:p>
            <a:pPr algn="l">
              <a:spcBef>
                <a:spcPts val="0"/>
              </a:spcBef>
              <a:spcAft>
                <a:spcPts val="0"/>
              </a:spcAft>
            </a:pPr>
            <a:r>
              <a:rPr sz="2800" b="1" i="0">
                <a:solidFill>
                  <a:srgbClr val="49E3CE"/>
                </a:solidFill>
                <a:latin typeface="Georgia"/>
              </a:rPr>
              <a:t>100%</a:t>
            </a:r>
          </a:p>
        </p:txBody>
      </p:sp>
      <p:sp>
        <p:nvSpPr>
          <p:cNvPr id="21" name="TextBox 20"/>
          <p:cNvSpPr txBox="1"/>
          <p:nvPr/>
        </p:nvSpPr>
        <p:spPr>
          <a:xfrm>
            <a:off x="822960" y="2587752"/>
            <a:ext cx="5532120" cy="457200"/>
          </a:xfrm>
          <a:prstGeom prst="rect">
            <a:avLst/>
          </a:prstGeom>
          <a:noFill/>
        </p:spPr>
        <p:txBody>
          <a:bodyPr wrap="square" anchor="t" lIns="54864" rIns="54864" tIns="27432" bIns="27432">
            <a:spAutoFit/>
          </a:bodyPr>
          <a:lstStyle/>
          <a:p>
            <a:pPr algn="l">
              <a:lnSpc>
                <a:spcPct val="105000"/>
              </a:lnSpc>
              <a:spcBef>
                <a:spcPts val="0"/>
              </a:spcBef>
              <a:spcAft>
                <a:spcPts val="0"/>
              </a:spcAft>
            </a:pPr>
            <a:r>
              <a:rPr sz="1250" b="0" i="0">
                <a:solidFill>
                  <a:srgbClr val="ECEEFF"/>
                </a:solidFill>
                <a:latin typeface="Calibri"/>
              </a:rPr>
              <a:t>correctness over 1000 iterations × modes 2/3/5 — PreVerify/Verify/Adapt/Ext all hold every run</a:t>
            </a:r>
          </a:p>
        </p:txBody>
      </p:sp>
      <p:sp>
        <p:nvSpPr>
          <p:cNvPr id="22" name="Rounded Rectangle 21"/>
          <p:cNvSpPr/>
          <p:nvPr/>
        </p:nvSpPr>
        <p:spPr>
          <a:xfrm>
            <a:off x="566928" y="3246120"/>
            <a:ext cx="5852160" cy="1207008"/>
          </a:xfrm>
          <a:prstGeom prst="roundRect">
            <a:avLst>
              <a:gd name="adj" fmla="val 4500"/>
            </a:avLst>
          </a:prstGeom>
          <a:solidFill>
            <a:srgbClr val="1E2457"/>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246120"/>
            <a:ext cx="91440" cy="1207008"/>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392424"/>
            <a:ext cx="5486400" cy="548640"/>
          </a:xfrm>
          <a:prstGeom prst="rect">
            <a:avLst/>
          </a:prstGeom>
          <a:noFill/>
        </p:spPr>
        <p:txBody>
          <a:bodyPr wrap="square" anchor="t" lIns="54864" rIns="54864" tIns="27432" bIns="27432">
            <a:spAutoFit/>
          </a:bodyPr>
          <a:lstStyle/>
          <a:p>
            <a:pPr algn="l">
              <a:spcBef>
                <a:spcPts val="0"/>
              </a:spcBef>
              <a:spcAft>
                <a:spcPts val="0"/>
              </a:spcAft>
            </a:pPr>
            <a:r>
              <a:rPr sz="2800" b="1" i="0">
                <a:solidFill>
                  <a:srgbClr val="49E3CE"/>
                </a:solidFill>
                <a:latin typeface="Georgia"/>
              </a:rPr>
              <a:t>4672 / 4672</a:t>
            </a:r>
          </a:p>
        </p:txBody>
      </p:sp>
      <p:sp>
        <p:nvSpPr>
          <p:cNvPr id="25" name="TextBox 24"/>
          <p:cNvSpPr txBox="1"/>
          <p:nvPr/>
        </p:nvSpPr>
        <p:spPr>
          <a:xfrm>
            <a:off x="822960" y="3959352"/>
            <a:ext cx="5532120" cy="457200"/>
          </a:xfrm>
          <a:prstGeom prst="rect">
            <a:avLst/>
          </a:prstGeom>
          <a:noFill/>
        </p:spPr>
        <p:txBody>
          <a:bodyPr wrap="square" anchor="t" lIns="54864" rIns="54864" tIns="27432" bIns="27432">
            <a:spAutoFit/>
          </a:bodyPr>
          <a:lstStyle/>
          <a:p>
            <a:pPr algn="l">
              <a:lnSpc>
                <a:spcPct val="105000"/>
              </a:lnSpc>
              <a:spcBef>
                <a:spcPts val="0"/>
              </a:spcBef>
              <a:spcAft>
                <a:spcPts val="0"/>
              </a:spcAft>
            </a:pPr>
            <a:r>
              <a:rPr sz="1250" b="0" i="0">
                <a:solidFill>
                  <a:srgbClr val="ECEEFF"/>
                </a:solidFill>
                <a:latin typeface="Calibri"/>
              </a:rPr>
              <a:t>single-byte signature flips rejected — exhaustive tamper test via the packed verifier</a:t>
            </a:r>
          </a:p>
        </p:txBody>
      </p:sp>
      <p:sp>
        <p:nvSpPr>
          <p:cNvPr id="26" name="Rounded Rectangle 25"/>
          <p:cNvSpPr/>
          <p:nvPr/>
        </p:nvSpPr>
        <p:spPr>
          <a:xfrm>
            <a:off x="566928" y="4617720"/>
            <a:ext cx="5852160" cy="1207008"/>
          </a:xfrm>
          <a:prstGeom prst="roundRect">
            <a:avLst>
              <a:gd name="adj" fmla="val 4500"/>
            </a:avLst>
          </a:prstGeom>
          <a:solidFill>
            <a:srgbClr val="1E2457"/>
          </a:solidFill>
          <a:ln w="1270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617720"/>
            <a:ext cx="91440" cy="1207008"/>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764024"/>
            <a:ext cx="5486400" cy="548640"/>
          </a:xfrm>
          <a:prstGeom prst="rect">
            <a:avLst/>
          </a:prstGeom>
          <a:noFill/>
        </p:spPr>
        <p:txBody>
          <a:bodyPr wrap="square" anchor="t" lIns="54864" rIns="54864" tIns="27432" bIns="27432">
            <a:spAutoFit/>
          </a:bodyPr>
          <a:lstStyle/>
          <a:p>
            <a:pPr algn="l">
              <a:spcBef>
                <a:spcPts val="0"/>
              </a:spcBef>
              <a:spcAft>
                <a:spcPts val="0"/>
              </a:spcAft>
            </a:pPr>
            <a:r>
              <a:rPr sz="2800" b="1" i="0">
                <a:solidFill>
                  <a:srgbClr val="49E3CE"/>
                </a:solidFill>
                <a:latin typeface="Georgia"/>
              </a:rPr>
              <a:t>1 pinned digest</a:t>
            </a:r>
          </a:p>
        </p:txBody>
      </p:sp>
      <p:sp>
        <p:nvSpPr>
          <p:cNvPr id="29" name="TextBox 28"/>
          <p:cNvSpPr txBox="1"/>
          <p:nvPr/>
        </p:nvSpPr>
        <p:spPr>
          <a:xfrm>
            <a:off x="822960" y="5330952"/>
            <a:ext cx="5532120" cy="457200"/>
          </a:xfrm>
          <a:prstGeom prst="rect">
            <a:avLst/>
          </a:prstGeom>
          <a:noFill/>
        </p:spPr>
        <p:txBody>
          <a:bodyPr wrap="square" anchor="t" lIns="54864" rIns="54864" tIns="27432" bIns="27432">
            <a:spAutoFit/>
          </a:bodyPr>
          <a:lstStyle/>
          <a:p>
            <a:pPr algn="l">
              <a:lnSpc>
                <a:spcPct val="105000"/>
              </a:lnSpc>
              <a:spcBef>
                <a:spcPts val="0"/>
              </a:spcBef>
              <a:spcAft>
                <a:spcPts val="0"/>
              </a:spcAft>
            </a:pPr>
            <a:r>
              <a:rPr sz="1250" b="0" i="0">
                <a:solidFill>
                  <a:srgbClr val="ECEEFF"/>
                </a:solidFill>
                <a:latin typeface="Calibri"/>
              </a:rPr>
              <a:t>SHAKE256 KAT byte-identical across runs &amp; machines:  f7fc40f0b7752caf…</a:t>
            </a:r>
          </a:p>
        </p:txBody>
      </p:sp>
      <p:sp>
        <p:nvSpPr>
          <p:cNvPr id="30" name="Rounded Rectangle 29"/>
          <p:cNvSpPr/>
          <p:nvPr/>
        </p:nvSpPr>
        <p:spPr>
          <a:xfrm>
            <a:off x="6629400" y="1874519"/>
            <a:ext cx="4910328" cy="3950208"/>
          </a:xfrm>
          <a:prstGeom prst="roundRect">
            <a:avLst>
              <a:gd name="adj" fmla="val 4500"/>
            </a:avLst>
          </a:prstGeom>
          <a:solidFill>
            <a:srgbClr val="161B45"/>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30568" y="2011680"/>
            <a:ext cx="4572000" cy="365760"/>
          </a:xfrm>
          <a:prstGeom prst="rect">
            <a:avLst/>
          </a:prstGeom>
          <a:noFill/>
        </p:spPr>
        <p:txBody>
          <a:bodyPr wrap="square" anchor="t" lIns="54864" rIns="54864" tIns="27432" bIns="27432">
            <a:spAutoFit/>
          </a:bodyPr>
          <a:lstStyle/>
          <a:p>
            <a:pPr algn="l">
              <a:spcBef>
                <a:spcPts val="0"/>
              </a:spcBef>
              <a:spcAft>
                <a:spcPts val="0"/>
              </a:spcAft>
            </a:pPr>
            <a:r>
              <a:rPr sz="1250" b="1" i="0" spc="60">
                <a:solidFill>
                  <a:srgbClr val="FFB454"/>
                </a:solidFill>
                <a:latin typeface="Calibri"/>
              </a:rPr>
              <a:t>THE TRIPWIRE (statement binding)</a:t>
            </a:r>
          </a:p>
        </p:txBody>
      </p:sp>
      <p:sp>
        <p:nvSpPr>
          <p:cNvPr id="32" name="TextBox 31"/>
          <p:cNvSpPr txBox="1"/>
          <p:nvPr/>
        </p:nvSpPr>
        <p:spPr>
          <a:xfrm>
            <a:off x="6830568" y="2468880"/>
            <a:ext cx="4617720" cy="3200400"/>
          </a:xfrm>
          <a:prstGeom prst="rect">
            <a:avLst/>
          </a:prstGeom>
          <a:noFill/>
        </p:spPr>
        <p:txBody>
          <a:bodyPr wrap="square" anchor="t" lIns="54864" rIns="54864" tIns="27432" bIns="27432">
            <a:spAutoFit/>
          </a:bodyPr>
          <a:lstStyle/>
          <a:p>
            <a:pPr algn="l">
              <a:lnSpc>
                <a:spcPct val="100000"/>
              </a:lnSpc>
              <a:spcBef>
                <a:spcPts val="0"/>
              </a:spcBef>
              <a:spcAft>
                <a:spcPts val="1300"/>
              </a:spcAft>
            </a:pPr>
            <a:r>
              <a:rPr sz="1300" b="1" i="0">
                <a:solidFill>
                  <a:srgbClr val="FFB454"/>
                </a:solidFill>
                <a:latin typeface="Calibri"/>
              </a:rPr>
              <a:t>▸  </a:t>
            </a:r>
            <a:r>
              <a:rPr sz="1300" b="0" i="0">
                <a:solidFill>
                  <a:srgbClr val="ECEEFF"/>
                </a:solidFill>
                <a:latin typeface="Calibri"/>
              </a:rPr>
              <a:t>Feed a pre-signature σ̂ to ordinary Verify → it </a:t>
            </a:r>
            <a:r>
              <a:rPr sz="1300" b="1" i="0">
                <a:solidFill>
                  <a:srgbClr val="FF6B6B"/>
                </a:solidFill>
                <a:latin typeface="Calibri"/>
              </a:rPr>
              <a:t>must fail.</a:t>
            </a:r>
          </a:p>
          <a:p>
            <a:pPr algn="l">
              <a:lnSpc>
                <a:spcPct val="100000"/>
              </a:lnSpc>
              <a:spcBef>
                <a:spcPts val="0"/>
              </a:spcBef>
              <a:spcAft>
                <a:spcPts val="1300"/>
              </a:spcAft>
            </a:pPr>
            <a:r>
              <a:rPr sz="1300" b="1" i="0">
                <a:solidFill>
                  <a:srgbClr val="FFB454"/>
                </a:solidFill>
                <a:latin typeface="Calibri"/>
              </a:rPr>
              <a:t>▸  </a:t>
            </a:r>
            <a:r>
              <a:rPr sz="1300" b="0" i="0">
                <a:solidFill>
                  <a:srgbClr val="ECEEFF"/>
                </a:solidFill>
                <a:latin typeface="Calibri"/>
              </a:rPr>
              <a:t>Why: Verify recomputes </a:t>
            </a:r>
            <a:r>
              <a:rPr sz="1300" b="0" i="0">
                <a:solidFill>
                  <a:srgbClr val="49E3CE"/>
                </a:solidFill>
                <a:latin typeface="Consolas"/>
              </a:rPr>
              <a:t>H(pk, w, M)</a:t>
            </a:r>
            <a:r>
              <a:rPr sz="1300" b="0" i="0">
                <a:solidFill>
                  <a:srgbClr val="ECEEFF"/>
                </a:solidFill>
                <a:latin typeface="Calibri"/>
              </a:rPr>
              <a:t>, but the pre-sig's challenge is </a:t>
            </a:r>
            <a:r>
              <a:rPr sz="1300" b="0" i="0">
                <a:solidFill>
                  <a:srgbClr val="FFB454"/>
                </a:solidFill>
                <a:latin typeface="Consolas"/>
              </a:rPr>
              <a:t>H(pk, w+Y, M)</a:t>
            </a:r>
            <a:r>
              <a:rPr sz="1300" b="0" i="0">
                <a:solidFill>
                  <a:srgbClr val="ECEEFF"/>
                </a:solidFill>
                <a:latin typeface="Calibri"/>
              </a:rPr>
              <a:t> — different with overwhelming probability.</a:t>
            </a:r>
          </a:p>
          <a:p>
            <a:pPr algn="l">
              <a:lnSpc>
                <a:spcPct val="100000"/>
              </a:lnSpc>
              <a:spcBef>
                <a:spcPts val="0"/>
              </a:spcBef>
              <a:spcAft>
                <a:spcPts val="1300"/>
              </a:spcAft>
            </a:pPr>
            <a:r>
              <a:rPr sz="1300" b="1" i="0">
                <a:solidFill>
                  <a:srgbClr val="FFB454"/>
                </a:solidFill>
                <a:latin typeface="Calibri"/>
              </a:rPr>
              <a:t>▸  </a:t>
            </a:r>
            <a:r>
              <a:rPr sz="1300" b="0" i="0">
                <a:solidFill>
                  <a:srgbClr val="ECEEFF"/>
                </a:solidFill>
                <a:latin typeface="Calibri"/>
              </a:rPr>
              <a:t>This proves the </a:t>
            </a:r>
            <a:r>
              <a:rPr sz="1300" b="1" i="0">
                <a:solidFill>
                  <a:srgbClr val="49E3CE"/>
                </a:solidFill>
                <a:latin typeface="Calibri"/>
              </a:rPr>
              <a:t>+Y is genuinely in the hash</a:t>
            </a:r>
            <a:r>
              <a:rPr sz="1300" b="0" i="0">
                <a:solidFill>
                  <a:srgbClr val="ECEEFF"/>
                </a:solidFill>
                <a:latin typeface="Calibri"/>
              </a:rPr>
              <a:t> and the pre-sig is unspendable — asserted every iteration.</a:t>
            </a:r>
          </a:p>
          <a:p>
            <a:pPr algn="l">
              <a:lnSpc>
                <a:spcPct val="100000"/>
              </a:lnSpc>
              <a:spcBef>
                <a:spcPts val="0"/>
              </a:spcBef>
              <a:spcAft>
                <a:spcPts val="1300"/>
              </a:spcAft>
            </a:pPr>
            <a:r>
              <a:rPr sz="1300" b="1" i="0">
                <a:solidFill>
                  <a:srgbClr val="FFB454"/>
                </a:solidFill>
                <a:latin typeface="Calibri"/>
              </a:rPr>
              <a:t>▸  </a:t>
            </a:r>
            <a:r>
              <a:rPr sz="1300" b="0" i="0">
                <a:solidFill>
                  <a:srgbClr val="ECEEFF"/>
                </a:solidFill>
                <a:latin typeface="Calibri"/>
              </a:rPr>
              <a:t>Same property at the multi-hop level: adapting hop 1 with s_K ⇒ Verify fails </a:t>
            </a:r>
            <a:r>
              <a:rPr sz="1300" b="1" i="0">
                <a:solidFill>
                  <a:srgbClr val="FFB454"/>
                </a:solidFill>
                <a:latin typeface="Calibri"/>
              </a:rPr>
              <a:t>(wormhole resistance).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030"/>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561320" y="41148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61320" y="72237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61320" y="103327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61320" y="13441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72216" y="41148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72216" y="72237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872216" y="103327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872216" y="13441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83112" y="41148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183112" y="72237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83112" y="103327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83112" y="13441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494008" y="411480"/>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494008" y="722376"/>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494008" y="1033272"/>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494008" y="1344168"/>
            <a:ext cx="45720" cy="45720"/>
          </a:xfrm>
          <a:prstGeom prst="ellipse">
            <a:avLst/>
          </a:prstGeom>
          <a:solidFill>
            <a:srgbClr val="2931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66928"/>
            <a:ext cx="10058400" cy="320040"/>
          </a:xfrm>
          <a:prstGeom prst="rect">
            <a:avLst/>
          </a:prstGeom>
          <a:noFill/>
        </p:spPr>
        <p:txBody>
          <a:bodyPr wrap="square" anchor="t" lIns="54864" rIns="54864" tIns="27432" bIns="27432">
            <a:spAutoFit/>
          </a:bodyPr>
          <a:lstStyle/>
          <a:p>
            <a:pPr algn="l">
              <a:spcBef>
                <a:spcPts val="0"/>
              </a:spcBef>
              <a:spcAft>
                <a:spcPts val="0"/>
              </a:spcAft>
            </a:pPr>
            <a:r>
              <a:rPr sz="1300" b="1" i="0" spc="260">
                <a:solidFill>
                  <a:srgbClr val="49E3CE"/>
                </a:solidFill>
                <a:latin typeface="Calibri"/>
              </a:rPr>
              <a:t>SYNTHESIS</a:t>
            </a:r>
          </a:p>
        </p:txBody>
      </p:sp>
      <p:sp>
        <p:nvSpPr>
          <p:cNvPr id="20" name="TextBox 19"/>
          <p:cNvSpPr txBox="1"/>
          <p:nvPr/>
        </p:nvSpPr>
        <p:spPr>
          <a:xfrm>
            <a:off x="621792" y="950976"/>
            <a:ext cx="10789920" cy="822960"/>
          </a:xfrm>
          <a:prstGeom prst="rect">
            <a:avLst/>
          </a:prstGeom>
          <a:noFill/>
        </p:spPr>
        <p:txBody>
          <a:bodyPr wrap="square" anchor="t" lIns="54864" rIns="54864" tIns="27432" bIns="27432">
            <a:spAutoFit/>
          </a:bodyPr>
          <a:lstStyle/>
          <a:p>
            <a:pPr algn="l">
              <a:spcBef>
                <a:spcPts val="0"/>
              </a:spcBef>
              <a:spcAft>
                <a:spcPts val="0"/>
              </a:spcAft>
            </a:pPr>
            <a:r>
              <a:rPr sz="3300" b="1" i="0">
                <a:solidFill>
                  <a:srgbClr val="ECEEFF"/>
                </a:solidFill>
                <a:latin typeface="Georgia"/>
              </a:rPr>
              <a:t>Three findings the data delivers</a:t>
            </a:r>
          </a:p>
        </p:txBody>
      </p:sp>
      <p:sp>
        <p:nvSpPr>
          <p:cNvPr id="21" name="Rounded Rectangle 20"/>
          <p:cNvSpPr/>
          <p:nvPr/>
        </p:nvSpPr>
        <p:spPr>
          <a:xfrm>
            <a:off x="640080" y="2011680"/>
            <a:ext cx="10881360" cy="960120"/>
          </a:xfrm>
          <a:prstGeom prst="roundRect">
            <a:avLst>
              <a:gd name="adj" fmla="val 4500"/>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2011680"/>
            <a:ext cx="91440" cy="9601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68680" y="2217420"/>
            <a:ext cx="548640" cy="548640"/>
          </a:xfrm>
          <a:prstGeom prst="ellipse">
            <a:avLst/>
          </a:prstGeom>
          <a:solidFill>
            <a:srgbClr val="161B45"/>
          </a:solidFill>
          <a:ln w="1905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lIns="0" rIns="0" tIns="27432" bIns="27432"/>
          <a:lstStyle/>
          <a:p>
            <a:pPr algn="ctr"/>
            <a:r>
              <a:rPr sz="2000" b="1" i="0">
                <a:solidFill>
                  <a:srgbClr val="FF6B6B"/>
                </a:solidFill>
                <a:latin typeface="Georgia"/>
              </a:rPr>
              <a:t>1</a:t>
            </a:r>
          </a:p>
        </p:txBody>
      </p:sp>
      <p:sp>
        <p:nvSpPr>
          <p:cNvPr id="24" name="TextBox 23"/>
          <p:cNvSpPr txBox="1"/>
          <p:nvPr/>
        </p:nvSpPr>
        <p:spPr>
          <a:xfrm>
            <a:off x="1600200" y="2130552"/>
            <a:ext cx="9692640" cy="411480"/>
          </a:xfrm>
          <a:prstGeom prst="rect">
            <a:avLst/>
          </a:prstGeom>
          <a:noFill/>
        </p:spPr>
        <p:txBody>
          <a:bodyPr wrap="square" anchor="t" lIns="54864" rIns="54864" tIns="27432" bIns="27432">
            <a:spAutoFit/>
          </a:bodyPr>
          <a:lstStyle/>
          <a:p>
            <a:pPr algn="l">
              <a:spcBef>
                <a:spcPts val="0"/>
              </a:spcBef>
              <a:spcAft>
                <a:spcPts val="0"/>
              </a:spcAft>
            </a:pPr>
            <a:r>
              <a:rPr sz="1650" b="1" i="0">
                <a:solidFill>
                  <a:srgbClr val="ECEEFF"/>
                </a:solidFill>
                <a:latin typeface="Calibri"/>
              </a:rPr>
              <a:t>Price of PQ = communication, not computation</a:t>
            </a:r>
          </a:p>
        </p:txBody>
      </p:sp>
      <p:sp>
        <p:nvSpPr>
          <p:cNvPr id="25" name="TextBox 24"/>
          <p:cNvSpPr txBox="1"/>
          <p:nvPr/>
        </p:nvSpPr>
        <p:spPr>
          <a:xfrm>
            <a:off x="1600200" y="2542032"/>
            <a:ext cx="9692640" cy="411480"/>
          </a:xfrm>
          <a:prstGeom prst="rect">
            <a:avLst/>
          </a:prstGeom>
          <a:noFill/>
        </p:spPr>
        <p:txBody>
          <a:bodyPr wrap="square" anchor="t" lIns="54864" rIns="54864" tIns="27432" bIns="27432">
            <a:spAutoFit/>
          </a:bodyPr>
          <a:lstStyle/>
          <a:p>
            <a:pPr algn="l">
              <a:lnSpc>
                <a:spcPct val="105000"/>
              </a:lnSpc>
              <a:spcBef>
                <a:spcPts val="0"/>
              </a:spcBef>
              <a:spcAft>
                <a:spcPts val="0"/>
              </a:spcAft>
            </a:pPr>
            <a:r>
              <a:rPr sz="1250" b="0" i="0">
                <a:solidFill>
                  <a:srgbClr val="9AA0D0"/>
                </a:solidFill>
                <a:latin typeface="Calibri"/>
              </a:rPr>
              <a:t>sizes ×16–89 and on-chain calldata (74k gas) dominate; times stay ×3–20 and sub-ms.</a:t>
            </a:r>
          </a:p>
        </p:txBody>
      </p:sp>
      <p:sp>
        <p:nvSpPr>
          <p:cNvPr id="26" name="Rounded Rectangle 25"/>
          <p:cNvSpPr/>
          <p:nvPr/>
        </p:nvSpPr>
        <p:spPr>
          <a:xfrm>
            <a:off x="640080" y="3090672"/>
            <a:ext cx="10881360" cy="960120"/>
          </a:xfrm>
          <a:prstGeom prst="roundRect">
            <a:avLst>
              <a:gd name="adj" fmla="val 4500"/>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3090672"/>
            <a:ext cx="91440" cy="960120"/>
          </a:xfrm>
          <a:prstGeom prst="rect">
            <a:avLst/>
          </a:prstGeom>
          <a:solidFill>
            <a:srgbClr val="49E3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68680" y="3296412"/>
            <a:ext cx="548640" cy="548640"/>
          </a:xfrm>
          <a:prstGeom prst="ellipse">
            <a:avLst/>
          </a:prstGeom>
          <a:solidFill>
            <a:srgbClr val="161B45"/>
          </a:solidFill>
          <a:ln w="19050">
            <a:solidFill>
              <a:srgbClr val="49E3CE"/>
            </a:solidFill>
          </a:ln>
          <a:effectLst/>
        </p:spPr>
        <p:style>
          <a:lnRef idx="1">
            <a:schemeClr val="accent1"/>
          </a:lnRef>
          <a:fillRef idx="3">
            <a:schemeClr val="accent1"/>
          </a:fillRef>
          <a:effectRef idx="2">
            <a:schemeClr val="accent1"/>
          </a:effectRef>
          <a:fontRef idx="minor">
            <a:schemeClr val="lt1"/>
          </a:fontRef>
        </p:style>
        <p:txBody>
          <a:bodyPr rtlCol="0" anchor="ctr" lIns="0" rIns="0" tIns="27432" bIns="27432"/>
          <a:lstStyle/>
          <a:p>
            <a:pPr algn="ctr"/>
            <a:r>
              <a:rPr sz="2000" b="1" i="0">
                <a:solidFill>
                  <a:srgbClr val="49E3CE"/>
                </a:solidFill>
                <a:latin typeface="Georgia"/>
              </a:rPr>
              <a:t>2</a:t>
            </a:r>
          </a:p>
        </p:txBody>
      </p:sp>
      <p:sp>
        <p:nvSpPr>
          <p:cNvPr id="29" name="TextBox 28"/>
          <p:cNvSpPr txBox="1"/>
          <p:nvPr/>
        </p:nvSpPr>
        <p:spPr>
          <a:xfrm>
            <a:off x="1600200" y="3209544"/>
            <a:ext cx="9692640" cy="411480"/>
          </a:xfrm>
          <a:prstGeom prst="rect">
            <a:avLst/>
          </a:prstGeom>
          <a:noFill/>
        </p:spPr>
        <p:txBody>
          <a:bodyPr wrap="square" anchor="t" lIns="54864" rIns="54864" tIns="27432" bIns="27432">
            <a:spAutoFit/>
          </a:bodyPr>
          <a:lstStyle/>
          <a:p>
            <a:pPr algn="l">
              <a:spcBef>
                <a:spcPts val="0"/>
              </a:spcBef>
              <a:spcAft>
                <a:spcPts val="0"/>
              </a:spcAft>
            </a:pPr>
            <a:r>
              <a:rPr sz="1650" b="1" i="0">
                <a:solidFill>
                  <a:srgbClr val="ECEEFF"/>
                </a:solidFill>
                <a:latin typeface="Calibri"/>
              </a:rPr>
              <a:t>LAS's adaptor overhead is ≈0 — and inverted vs classical</a:t>
            </a:r>
          </a:p>
        </p:txBody>
      </p:sp>
      <p:sp>
        <p:nvSpPr>
          <p:cNvPr id="30" name="TextBox 29"/>
          <p:cNvSpPr txBox="1"/>
          <p:nvPr/>
        </p:nvSpPr>
        <p:spPr>
          <a:xfrm>
            <a:off x="1600200" y="3621024"/>
            <a:ext cx="9692640" cy="411480"/>
          </a:xfrm>
          <a:prstGeom prst="rect">
            <a:avLst/>
          </a:prstGeom>
          <a:noFill/>
        </p:spPr>
        <p:txBody>
          <a:bodyPr wrap="square" anchor="t" lIns="54864" rIns="54864" tIns="27432" bIns="27432">
            <a:spAutoFit/>
          </a:bodyPr>
          <a:lstStyle/>
          <a:p>
            <a:pPr algn="l">
              <a:lnSpc>
                <a:spcPct val="105000"/>
              </a:lnSpc>
              <a:spcBef>
                <a:spcPts val="0"/>
              </a:spcBef>
              <a:spcAft>
                <a:spcPts val="0"/>
              </a:spcAft>
            </a:pPr>
            <a:r>
              <a:rPr sz="1250" b="0" i="0">
                <a:solidFill>
                  <a:srgbClr val="9AA0D0"/>
                </a:solidFill>
                <a:latin typeface="Calibri"/>
              </a:rPr>
              <a:t>PreSign ≈ Sign, PreVerify ≈ Verify (×1.03) vs the classical ~4× DLEQ; LAS PreVerify even absolutely faster.</a:t>
            </a:r>
          </a:p>
        </p:txBody>
      </p:sp>
      <p:sp>
        <p:nvSpPr>
          <p:cNvPr id="31" name="Rounded Rectangle 30"/>
          <p:cNvSpPr/>
          <p:nvPr/>
        </p:nvSpPr>
        <p:spPr>
          <a:xfrm>
            <a:off x="640080" y="4169664"/>
            <a:ext cx="10881360" cy="960120"/>
          </a:xfrm>
          <a:prstGeom prst="roundRect">
            <a:avLst>
              <a:gd name="adj" fmla="val 4500"/>
            </a:avLst>
          </a:prstGeom>
          <a:solidFill>
            <a:srgbClr val="1E2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169664"/>
            <a:ext cx="91440" cy="960120"/>
          </a:xfrm>
          <a:prstGeom prst="rect">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8680" y="4375404"/>
            <a:ext cx="548640" cy="548640"/>
          </a:xfrm>
          <a:prstGeom prst="ellipse">
            <a:avLst/>
          </a:prstGeom>
          <a:solidFill>
            <a:srgbClr val="161B45"/>
          </a:solidFill>
          <a:ln w="1905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lIns="0" rIns="0" tIns="27432" bIns="27432"/>
          <a:lstStyle/>
          <a:p>
            <a:pPr algn="ctr"/>
            <a:r>
              <a:rPr sz="2000" b="1" i="0">
                <a:solidFill>
                  <a:srgbClr val="FFB454"/>
                </a:solidFill>
                <a:latin typeface="Georgia"/>
              </a:rPr>
              <a:t>3</a:t>
            </a:r>
          </a:p>
        </p:txBody>
      </p:sp>
      <p:sp>
        <p:nvSpPr>
          <p:cNvPr id="34" name="TextBox 33"/>
          <p:cNvSpPr txBox="1"/>
          <p:nvPr/>
        </p:nvSpPr>
        <p:spPr>
          <a:xfrm>
            <a:off x="1600200" y="4288536"/>
            <a:ext cx="9692640" cy="411480"/>
          </a:xfrm>
          <a:prstGeom prst="rect">
            <a:avLst/>
          </a:prstGeom>
          <a:noFill/>
        </p:spPr>
        <p:txBody>
          <a:bodyPr wrap="square" anchor="t" lIns="54864" rIns="54864" tIns="27432" bIns="27432">
            <a:spAutoFit/>
          </a:bodyPr>
          <a:lstStyle/>
          <a:p>
            <a:pPr algn="l">
              <a:spcBef>
                <a:spcPts val="0"/>
              </a:spcBef>
              <a:spcAft>
                <a:spcPts val="0"/>
              </a:spcAft>
            </a:pPr>
            <a:r>
              <a:rPr sz="1650" b="1" i="0">
                <a:solidFill>
                  <a:srgbClr val="ECEEFF"/>
                </a:solidFill>
                <a:latin typeface="Calibri"/>
              </a:rPr>
              <a:t>The swap runs end-to-end; native on-chain verify is the open piece</a:t>
            </a:r>
          </a:p>
        </p:txBody>
      </p:sp>
      <p:sp>
        <p:nvSpPr>
          <p:cNvPr id="35" name="TextBox 34"/>
          <p:cNvSpPr txBox="1"/>
          <p:nvPr/>
        </p:nvSpPr>
        <p:spPr>
          <a:xfrm>
            <a:off x="1600200" y="4700016"/>
            <a:ext cx="9692640" cy="411480"/>
          </a:xfrm>
          <a:prstGeom prst="rect">
            <a:avLst/>
          </a:prstGeom>
          <a:noFill/>
        </p:spPr>
        <p:txBody>
          <a:bodyPr wrap="square" anchor="t" lIns="54864" rIns="54864" tIns="27432" bIns="27432">
            <a:spAutoFit/>
          </a:bodyPr>
          <a:lstStyle/>
          <a:p>
            <a:pPr algn="l">
              <a:lnSpc>
                <a:spcPct val="105000"/>
              </a:lnSpc>
              <a:spcBef>
                <a:spcPts val="0"/>
              </a:spcBef>
              <a:spcAft>
                <a:spcPts val="0"/>
              </a:spcAft>
            </a:pPr>
            <a:r>
              <a:rPr sz="1250" b="0" i="0">
                <a:solidFill>
                  <a:srgbClr val="9AA0D0"/>
                </a:solidFill>
                <a:latin typeface="Calibri"/>
              </a:rPr>
              <a:t>≈12 M gas (158× classical, 40% of a block) — prohibitive but NOT over the block limit; wants a precompile or zk.</a:t>
            </a:r>
          </a:p>
        </p:txBody>
      </p:sp>
      <p:sp>
        <p:nvSpPr>
          <p:cNvPr id="36" name="TextBox 35"/>
          <p:cNvSpPr txBox="1"/>
          <p:nvPr/>
        </p:nvSpPr>
        <p:spPr>
          <a:xfrm>
            <a:off x="640080" y="5440680"/>
            <a:ext cx="10881360" cy="777240"/>
          </a:xfrm>
          <a:prstGeom prst="rect">
            <a:avLst/>
          </a:prstGeom>
          <a:noFill/>
        </p:spPr>
        <p:txBody>
          <a:bodyPr wrap="square" anchor="ctr" lIns="54864" rIns="54864" tIns="27432" bIns="27432">
            <a:spAutoFit/>
          </a:bodyPr>
          <a:lstStyle/>
          <a:p>
            <a:pPr algn="l">
              <a:spcBef>
                <a:spcPts val="0"/>
              </a:spcBef>
              <a:spcAft>
                <a:spcPts val="0"/>
              </a:spcAft>
            </a:pPr>
            <a:r>
              <a:rPr sz="1400" b="1" i="1">
                <a:solidFill>
                  <a:srgbClr val="49E3CE"/>
                </a:solidFill>
                <a:latin typeface="Calibri"/>
              </a:rPr>
              <a:t>Aligned with the goals: two benchmark types × two baselines, the 2×2 quadrant quantified, every claim measured — and every caveat named.</a:t>
            </a:r>
          </a:p>
        </p:txBody>
      </p:sp>
      <p:sp>
        <p:nvSpPr>
          <p:cNvPr id="37" name="TextBox 36"/>
          <p:cNvSpPr txBox="1"/>
          <p:nvPr/>
        </p:nvSpPr>
        <p:spPr>
          <a:xfrm>
            <a:off x="566928" y="6455664"/>
            <a:ext cx="8686800" cy="274320"/>
          </a:xfrm>
          <a:prstGeom prst="rect">
            <a:avLst/>
          </a:prstGeom>
          <a:noFill/>
        </p:spPr>
        <p:txBody>
          <a:bodyPr wrap="square" anchor="t" lIns="54864" rIns="54864" tIns="27432" bIns="27432">
            <a:spAutoFit/>
          </a:bodyPr>
          <a:lstStyle/>
          <a:p>
            <a:pPr algn="l">
              <a:spcBef>
                <a:spcPts val="0"/>
              </a:spcBef>
              <a:spcAft>
                <a:spcPts val="0"/>
              </a:spcAft>
            </a:pPr>
            <a:r>
              <a:rPr sz="900" b="0" i="0">
                <a:solidFill>
                  <a:srgbClr val="7078B0"/>
                </a:solidFill>
                <a:latin typeface="Calibri"/>
              </a:rPr>
              <a:t>LAS on CRYSTALS-Dilithium  ·  Evaluation — Deep Analysis  ·  docs/LAS.md §8</a:t>
            </a:r>
          </a:p>
        </p:txBody>
      </p:sp>
      <p:sp>
        <p:nvSpPr>
          <p:cNvPr id="38" name="TextBox 37"/>
          <p:cNvSpPr txBox="1"/>
          <p:nvPr/>
        </p:nvSpPr>
        <p:spPr>
          <a:xfrm>
            <a:off x="10972800" y="6455664"/>
            <a:ext cx="822960" cy="274320"/>
          </a:xfrm>
          <a:prstGeom prst="rect">
            <a:avLst/>
          </a:prstGeom>
          <a:noFill/>
        </p:spPr>
        <p:txBody>
          <a:bodyPr wrap="square" anchor="t" lIns="54864" rIns="54864" tIns="27432" bIns="27432">
            <a:spAutoFit/>
          </a:bodyPr>
          <a:lstStyle/>
          <a:p>
            <a:pPr algn="r">
              <a:spcBef>
                <a:spcPts val="0"/>
              </a:spcBef>
              <a:spcAft>
                <a:spcPts val="0"/>
              </a:spcAft>
            </a:pPr>
            <a:r>
              <a:rPr sz="950" b="1" i="0">
                <a:solidFill>
                  <a:srgbClr val="9AA0D0"/>
                </a:solidFill>
                <a:latin typeface="Consola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